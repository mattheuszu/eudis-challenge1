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850b3f-5476-6ee2-6366-72227e86546b}">
          <p14:sldIdLst>
            <p14:sldId id="256"/>
          </p14:sldIdLst>
        </p14:section>
        <p14:section name="Problem" id="{1711c651-2ef2-ddb1-548c-2d1207cd9fda}">
          <p14:sldIdLst>
            <p14:sldId id="257"/>
            <p14:sldId id="258"/>
          </p14:sldIdLst>
        </p14:section>
        <p14:section name="Solution" id="{266d50d5-2b3f-7de3-abb8-241a0478bd7d}">
          <p14:sldIdLst>
            <p14:sldId id="259"/>
            <p14:sldId id="260"/>
            <p14:sldId id="261"/>
            <p14:sldId id="262"/>
          </p14:sldIdLst>
        </p14:section>
        <p14:section name="Proof" id="{2796d0bd-8139-1345-1c77-bd0e79a9ef5b}">
          <p14:sldIdLst>
            <p14:sldId id="263"/>
            <p14:sldId id="264"/>
            <p14:sldId id="265"/>
            <p14:sldId id="266"/>
          </p14:sldIdLst>
        </p14:section>
        <p14:section name="Progress and team" id="{ce9e8c53-7963-44e8-727a-e3407eb1a8f6}">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DEN: Hi, we are Den and Guled. When one drone gets jammed, our whole swarm learns from it — and still completes the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0:10–0:35  DEN: We started by talking to the Swedish Air Force: GPS jamming happens really often, and must be detected fast. Then we tested the real PX4 autopilot. After GPS is gone it needs 5 seconds — and then it lands blind, wherever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0:35–0:55  GULED: On Friday the military told us: detect and return home — we already have that. What we need is a drone that warns the others, so the swarm still reaches the target. So we built this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0:55–1:15  DEN: Step one: detect. Our monitor notices jamming in 1 second instead of 5. It even catches slow spoofing — fake GPS that looks perfect — by comparing GPS with the drone's own motion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1:15–1:40  GULED: Without GPS, motion sensors alone drift 2 kilometres. In snow the camera sees nothing. But the shape of the hills survives snow: matching it with a laser altimeter keeps us within 14 metres. And jammed drones even help locate the jammer.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1:40–2:00  GULED: The military asked for a swarm that finds its own solution. Our mission brain does that — with one rule: the AI decides what, tested code decides how. Every action passes a safety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2:00–2:25  DEN: This is the core. Today, all three drones fly into the jammer and are lost. In our swarm the first drone is a scout: it gets jammed, backs out, and shares what it measured. The others fly around. 24 out of 24 reach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2:25–2:45  DEN: And it is not just a model. Three real PX4 autopilots fly this mission live in a simulator. The scout gets jammed, the others go around — 3 of 3 end on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2:45–3:10  DEN: Guled asked: what if the enemy fakes the warnings? So we attacked our own system. Our rule: a warning is cheap to believe, but an all-clear must be proven against real evidence. The liar was caught 6 out of 6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GULED: Then we left made-up terrain behind and used the real height map of Bråviken, near Norrköping. 25 out of 25 missions stayed on track. Where it gets hard — flat ground and water — we show that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3:30–3:50  GULED: And if the target is inside the jammed zone? Drones at the edge still have GPS and measure their radio distance to the drone inside. The swarm becomes its own GPS — accurate to about 1 metre.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3:50–4:10  GULED: We did all this in 48 hours, shaped by four expert conversations. It is software only, so it runs on drones that already exist. Next: real drones in Terra lab, here at LiU.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4:10–4:25  DEN: One drone gets jammed — the whole swarm learns. And if the enemy fakes the warnings, physics exposes the liar. Thank you. (Pause before the last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669280" cy="21031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640080" y="3657600"/>
            <a:ext cx="5486400" cy="1097280"/>
          </a:xfrm>
          <a:prstGeom prst="rect">
            <a:avLst/>
          </a:prstGeom>
          <a:noFill/>
          <a:ln/>
        </p:spPr>
        <p:txBody>
          <a:bodyPr wrap="square" rtlCol="0"/>
          <a:lstStyle>
            <a:lvl1pPr algn="l" indent="0" marL="0">
              <a:buNone/>
              <a:defRPr lang="en-US" sz="1800" dirty="0">
                <a:solidFill>
                  <a:srgbClr val="E8EDF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rtlCol="0"/>
          <a:lstStyle>
            <a:lvl1pPr algn="l" indent="0" marL="0">
              <a:buNone/>
              <a:defRPr lang="en-US" sz="2800" b="1" dirty="0">
                <a:solidFill>
                  <a:srgbClr val="FFFFFF"/>
                </a:solidFill>
              </a:defRPr>
            </a:lvl1pPr>
          </a:lstStyle>
          <a:p>
            <a:pPr algn="l" indent="0" marL="0">
              <a:buNone/>
            </a:pPr>
            <a:endParaRPr lang="en-US" sz="2800" dirty="0"/>
          </a:p>
        </p:txBody>
      </p:sp>
      <p:sp>
        <p:nvSpPr>
          <p:cNvPr id="3" name="Text 0"/>
          <p:cNvSpPr/>
          <p:nvPr/>
        </p:nvSpPr>
        <p:spPr>
          <a:xfrm>
            <a:off x="548640" y="6446520"/>
            <a:ext cx="6583680" cy="274320"/>
          </a:xfrm>
          <a:prstGeom prst="rect">
            <a:avLst/>
          </a:prstGeom>
          <a:noFill/>
          <a:ln/>
        </p:spPr>
        <p:txBody>
          <a:bodyPr wrap="square" lIns="0" tIns="0" rIns="0" bIns="0" rtlCol="0" anchor="ctr"/>
          <a:lstStyle/>
          <a:p>
            <a:pPr indent="0" marL="0">
              <a:buNone/>
            </a:pPr>
            <a:r>
              <a:rPr lang="en-US" sz="1000" dirty="0">
                <a:solidFill>
                  <a:srgbClr val="93A1B3"/>
                </a:solidFill>
              </a:rPr>
              <a:t>EUDIS Defence Hackathon 2026 · Challenge 1 · GNSS-denied navigation · Den &amp; Guled</a:t>
            </a:r>
            <a:endParaRPr lang="en-US" sz="10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22960"/>
            <a:ext cx="5943600" cy="365760"/>
          </a:xfrm>
          <a:prstGeom prst="rect">
            <a:avLst/>
          </a:prstGeom>
          <a:noFill/>
          <a:ln/>
        </p:spPr>
        <p:txBody>
          <a:bodyPr wrap="square" lIns="0" tIns="0" rIns="0" bIns="0" rtlCol="0" anchor="ctr"/>
          <a:lstStyle/>
          <a:p>
            <a:pPr indent="0" marL="0">
              <a:buNone/>
            </a:pPr>
            <a:r>
              <a:rPr lang="en-US" sz="1300" b="1" spc="200" kern="0" dirty="0">
                <a:solidFill>
                  <a:srgbClr val="F26B1D"/>
                </a:solidFill>
              </a:rPr>
              <a:t>EUDIS DEFENCE HACKATHON 2026 · CHALLENGE 1</a:t>
            </a:r>
            <a:endParaRPr lang="en-US" sz="1300" dirty="0"/>
          </a:p>
        </p:txBody>
      </p:sp>
      <p:sp>
        <p:nvSpPr>
          <p:cNvPr id="3" name="Text 0"/>
          <p:cNvSpPr/>
          <p:nvPr>
            <p:ph idx="100" type="title" hasCustomPrompt="1"/>
          </p:nvPr>
        </p:nvSpPr>
        <p:spPr>
          <a:xfrm>
            <a:off x="640080" y="1417320"/>
            <a:ext cx="5669280" cy="2103120"/>
          </a:xfrm>
          <a:prstGeom prst="rect">
            <a:avLst/>
          </a:prstGeom>
          <a:noFill/>
          <a:ln/>
        </p:spPr>
        <p:txBody>
          <a:bodyPr wrap="square" lIns="0" tIns="0" rIns="0" bIns="0" rtlCol="0" anchor="t"/>
          <a:lstStyle/>
          <a:p>
            <a:pPr algn="l" indent="0" marL="0">
              <a:buNone/>
            </a:pPr>
            <a:r>
              <a:rPr lang="en-US" sz="4000" b="1" dirty="0">
                <a:solidFill>
                  <a:srgbClr val="FFFFFF"/>
                </a:solidFill>
              </a:rPr>
              <a:t>One drone gets jammed — the whole swarm learns</a:t>
            </a:r>
            <a:endParaRPr lang="en-US" sz="4000" dirty="0"/>
          </a:p>
        </p:txBody>
      </p:sp>
      <p:sp>
        <p:nvSpPr>
          <p:cNvPr id="4" name="Text 0"/>
          <p:cNvSpPr/>
          <p:nvPr>
            <p:ph idx="101" type="body" hasCustomPrompt="1"/>
          </p:nvPr>
        </p:nvSpPr>
        <p:spPr>
          <a:xfrm>
            <a:off x="640080" y="3657600"/>
            <a:ext cx="5486400" cy="1097280"/>
          </a:xfrm>
          <a:prstGeom prst="rect">
            <a:avLst/>
          </a:prstGeom>
          <a:noFill/>
          <a:ln/>
        </p:spPr>
        <p:txBody>
          <a:bodyPr wrap="square" lIns="0" tIns="0" rIns="0" bIns="0" rtlCol="0" anchor="t"/>
          <a:lstStyle/>
          <a:p>
            <a:pPr algn="l" indent="0" marL="0">
              <a:buNone/>
            </a:pPr>
            <a:r>
              <a:rPr lang="en-US" sz="1800" dirty="0">
                <a:solidFill>
                  <a:srgbClr val="E8EDF2"/>
                </a:solidFill>
              </a:rPr>
              <a:t>GPS-denied navigation that detects the attack, shares it, and still completes the mission</a:t>
            </a:r>
            <a:endParaRPr lang="en-US" sz="1800" dirty="0"/>
          </a:p>
        </p:txBody>
      </p:sp>
      <p:sp>
        <p:nvSpPr>
          <p:cNvPr id="5" name="Text 3"/>
          <p:cNvSpPr txBox="1"/>
          <p:nvPr/>
        </p:nvSpPr>
        <p:spPr>
          <a:xfrm>
            <a:off x="640080" y="5120640"/>
            <a:ext cx="5669280" cy="365760"/>
          </a:xfrm>
          <a:prstGeom prst="rect">
            <a:avLst/>
          </a:prstGeom>
          <a:noFill/>
          <a:ln/>
        </p:spPr>
        <p:txBody>
          <a:bodyPr wrap="square" lIns="0" tIns="0" rIns="0" bIns="0" rtlCol="0" anchor="ctr"/>
          <a:lstStyle/>
          <a:p>
            <a:pPr indent="0" marL="0">
              <a:buNone/>
            </a:pPr>
            <a:r>
              <a:rPr lang="en-US" sz="1500" b="1" dirty="0">
                <a:solidFill>
                  <a:srgbClr val="FFFFFF"/>
                </a:solidFill>
              </a:rPr>
              <a:t>Den</a:t>
            </a:r>
            <a:pPr indent="0" marL="0">
              <a:buNone/>
            </a:pPr>
            <a:r>
              <a:rPr lang="en-US" sz="1500" dirty="0">
                <a:solidFill>
                  <a:srgbClr val="93A1B3"/>
                </a:solidFill>
              </a:rPr>
              <a:t>  cyber security    </a:t>
            </a:r>
            <a:pPr indent="0" marL="0">
              <a:buNone/>
            </a:pPr>
            <a:r>
              <a:rPr lang="en-US" sz="1500" b="1" dirty="0">
                <a:solidFill>
                  <a:srgbClr val="FFFFFF"/>
                </a:solidFill>
              </a:rPr>
              <a:t>Guled</a:t>
            </a:r>
            <a:pPr indent="0" marL="0">
              <a:buNone/>
            </a:pPr>
            <a:r>
              <a:rPr lang="en-US" sz="1500" dirty="0">
                <a:solidFill>
                  <a:srgbClr val="93A1B3"/>
                </a:solidFill>
              </a:rPr>
              <a:t>  computer engineering</a:t>
            </a:r>
            <a:endParaRPr lang="en-US" sz="1500" dirty="0"/>
          </a:p>
        </p:txBody>
      </p:sp>
      <p:sp>
        <p:nvSpPr>
          <p:cNvPr id="6" name="Animated swarm mission on a satellite map frame"/>
          <p:cNvSpPr/>
          <p:nvPr/>
        </p:nvSpPr>
        <p:spPr>
          <a:xfrm>
            <a:off x="6565392" y="1353312"/>
            <a:ext cx="5157216" cy="3176016"/>
          </a:xfrm>
          <a:prstGeom prst="roundRect">
            <a:avLst>
              <a:gd name="adj" fmla="val 2303"/>
            </a:avLst>
          </a:prstGeom>
          <a:solidFill>
            <a:srgbClr val="FFFFFF"/>
          </a:solidFill>
          <a:ln w="12700">
            <a:solidFill>
              <a:srgbClr val="FFFFFF"/>
            </a:solidFill>
            <a:prstDash val="solid"/>
          </a:ln>
        </p:spPr>
      </p:sp>
      <p:pic>
        <p:nvPicPr>
          <p:cNvPr id="7" name="Animated swarm mission on a satellite map" descr="Animated swarm mission on a satellite map">    </p:cNvPr>
          <p:cNvPicPr>
            <a:picLocks noChangeAspect="1"/>
          </p:cNvPicPr>
          <p:nvPr/>
        </p:nvPicPr>
        <p:blipFill>
          <a:blip r:embed="rId1"/>
          <a:stretch>
            <a:fillRect/>
          </a:stretch>
        </p:blipFill>
        <p:spPr>
          <a:xfrm>
            <a:off x="6629400" y="1417320"/>
            <a:ext cx="5029200" cy="3048000"/>
          </a:xfrm>
          <a:prstGeom prst="rect">
            <a:avLst/>
          </a:prstGeom>
        </p:spPr>
      </p:pic>
      <p:sp>
        <p:nvSpPr>
          <p:cNvPr id="8" name="caption"/>
          <p:cNvSpPr txBox="1"/>
          <p:nvPr/>
        </p:nvSpPr>
        <p:spPr>
          <a:xfrm>
            <a:off x="6629400" y="4602480"/>
            <a:ext cx="5029200" cy="457200"/>
          </a:xfrm>
          <a:prstGeom prst="rect">
            <a:avLst/>
          </a:prstGeom>
          <a:noFill/>
          <a:ln/>
        </p:spPr>
        <p:txBody>
          <a:bodyPr wrap="square" lIns="0" tIns="0" rIns="0" bIns="0" rtlCol="0" anchor="t"/>
          <a:lstStyle/>
          <a:p>
            <a:pPr indent="0" marL="0">
              <a:buNone/>
            </a:pPr>
            <a:r>
              <a:rPr lang="en-US" sz="1100" i="1" dirty="0">
                <a:solidFill>
                  <a:srgbClr val="93A1B3"/>
                </a:solidFill>
              </a:rPr>
              <a:t>Our swarm mission on a real satellite map (animated). Illustrative location: Gotland, Baltic Sea.</a:t>
            </a:r>
            <a:endParaRPr lang="en-US" sz="1100" dirty="0"/>
          </a:p>
        </p:txBody>
      </p:sp>
      <p:sp>
        <p:nvSpPr>
          <p:cNvPr id="9" name="imagery credit"/>
          <p:cNvSpPr txBox="1"/>
          <p:nvPr/>
        </p:nvSpPr>
        <p:spPr>
          <a:xfrm>
            <a:off x="6629400" y="5013960"/>
            <a:ext cx="5029200" cy="365760"/>
          </a:xfrm>
          <a:prstGeom prst="rect">
            <a:avLst/>
          </a:prstGeom>
          <a:noFill/>
          <a:ln/>
        </p:spPr>
        <p:txBody>
          <a:bodyPr wrap="square" lIns="0" tIns="0" rIns="0" bIns="0" rtlCol="0" anchor="ctr"/>
          <a:lstStyle/>
          <a:p>
            <a:pPr indent="0" marL="0">
              <a:buNone/>
            </a:pPr>
            <a:r>
              <a:rPr lang="en-US" sz="800" dirty="0">
                <a:solidFill>
                  <a:srgbClr val="93A1B3"/>
                </a:solidFill>
              </a:rPr>
              <a:t>Satellite: Sentinel-2 cloudless 2016 © EOX IT Services GmbH (CC BY 4.0), contains modified Copernicus Sentinel data</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GPS is attacked “really often” — drones land blind</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RELEVANCE</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Text 4"/>
          <p:cNvSpPr txBox="1"/>
          <p:nvPr/>
        </p:nvSpPr>
        <p:spPr>
          <a:xfrm>
            <a:off x="548640" y="1371600"/>
            <a:ext cx="5760720" cy="365760"/>
          </a:xfrm>
          <a:prstGeom prst="rect">
            <a:avLst/>
          </a:prstGeom>
          <a:noFill/>
          <a:ln/>
        </p:spPr>
        <p:txBody>
          <a:bodyPr wrap="square" lIns="0" tIns="0" rIns="0" bIns="0" rtlCol="0" anchor="ctr"/>
          <a:lstStyle/>
          <a:p>
            <a:pPr indent="0" marL="0">
              <a:buNone/>
            </a:pPr>
            <a:r>
              <a:rPr lang="en-US" sz="1500" b="1" dirty="0">
                <a:solidFill>
                  <a:srgbClr val="F26B1D"/>
                </a:solidFill>
              </a:rPr>
              <a:t>What the Swedish Air Force (Helicopter Wing) told us</a:t>
            </a:r>
            <a:endParaRPr lang="en-US" sz="1500" dirty="0"/>
          </a:p>
        </p:txBody>
      </p:sp>
      <p:sp>
        <p:nvSpPr>
          <p:cNvPr id="7" name="icon circle “It happens really often”"/>
          <p:cNvSpPr/>
          <p:nvPr/>
        </p:nvSpPr>
        <p:spPr>
          <a:xfrm>
            <a:off x="548640" y="1920240"/>
            <a:ext cx="548640" cy="548640"/>
          </a:xfrm>
          <a:prstGeom prst="ellipse">
            <a:avLst/>
          </a:prstGeom>
          <a:solidFill>
            <a:srgbClr val="1E3246"/>
          </a:solidFill>
          <a:ln w="19050">
            <a:solidFill>
              <a:srgbClr val="F26B1D"/>
            </a:solidFill>
            <a:prstDash val="solid"/>
          </a:ln>
        </p:spPr>
      </p:sp>
      <p:pic>
        <p:nvPicPr>
          <p:cNvPr id="8" name="Image 0" descr="“It happens really often”">    </p:cNvPr>
          <p:cNvPicPr>
            <a:picLocks noChangeAspect="1"/>
          </p:cNvPicPr>
          <p:nvPr/>
        </p:nvPicPr>
        <p:blipFill>
          <a:blip r:embed="rId1"/>
          <a:stretch>
            <a:fillRect/>
          </a:stretch>
        </p:blipFill>
        <p:spPr>
          <a:xfrm>
            <a:off x="685800" y="2057400"/>
            <a:ext cx="274320" cy="274320"/>
          </a:xfrm>
          <a:prstGeom prst="rect">
            <a:avLst/>
          </a:prstGeom>
        </p:spPr>
      </p:pic>
      <p:sp>
        <p:nvSpPr>
          <p:cNvPr id="9" name="row “It happens really often”"/>
          <p:cNvSpPr txBox="1"/>
          <p:nvPr/>
        </p:nvSpPr>
        <p:spPr>
          <a:xfrm>
            <a:off x="1280160" y="1874520"/>
            <a:ext cx="5120640" cy="868680"/>
          </a:xfrm>
          <a:prstGeom prst="rect">
            <a:avLst/>
          </a:prstGeom>
          <a:noFill/>
          <a:ln/>
        </p:spPr>
        <p:txBody>
          <a:bodyPr wrap="square" lIns="0" tIns="0" rIns="0" bIns="0" rtlCol="0" anchor="t"/>
          <a:lstStyle/>
          <a:p>
            <a:pPr indent="0" marL="0">
              <a:buNone/>
            </a:pPr>
            <a:r>
              <a:rPr lang="en-US" sz="1500" b="1" dirty="0">
                <a:solidFill>
                  <a:srgbClr val="FFFFFF"/>
                </a:solidFill>
              </a:rPr>
              <a:t>“It happens really often”</a:t>
            </a:r>
            <a:endParaRPr lang="en-US" sz="1500" dirty="0"/>
          </a:p>
          <a:p>
            <a:pPr indent="0" marL="0">
              <a:buNone/>
            </a:pPr>
            <a:r>
              <a:rPr lang="en-US" sz="1300" dirty="0">
                <a:solidFill>
                  <a:srgbClr val="E8EDF2"/>
                </a:solidFill>
              </a:rPr>
              <a:t>Jamming and spoofing — widely reported over the Baltic</a:t>
            </a:r>
            <a:endParaRPr lang="en-US" sz="1500" dirty="0"/>
          </a:p>
        </p:txBody>
      </p:sp>
      <p:sp>
        <p:nvSpPr>
          <p:cNvPr id="10" name="icon circle “Detect it as soon as possible”"/>
          <p:cNvSpPr/>
          <p:nvPr/>
        </p:nvSpPr>
        <p:spPr>
          <a:xfrm>
            <a:off x="548640" y="2880360"/>
            <a:ext cx="548640" cy="548640"/>
          </a:xfrm>
          <a:prstGeom prst="ellipse">
            <a:avLst/>
          </a:prstGeom>
          <a:solidFill>
            <a:srgbClr val="1E3246"/>
          </a:solidFill>
          <a:ln w="19050">
            <a:solidFill>
              <a:srgbClr val="F26B1D"/>
            </a:solidFill>
            <a:prstDash val="solid"/>
          </a:ln>
        </p:spPr>
      </p:sp>
      <p:pic>
        <p:nvPicPr>
          <p:cNvPr id="11" name="Image 1" descr="“Detect it as soon as possible”">    </p:cNvPr>
          <p:cNvPicPr>
            <a:picLocks noChangeAspect="1"/>
          </p:cNvPicPr>
          <p:nvPr/>
        </p:nvPicPr>
        <p:blipFill>
          <a:blip r:embed="rId2"/>
          <a:stretch>
            <a:fillRect/>
          </a:stretch>
        </p:blipFill>
        <p:spPr>
          <a:xfrm>
            <a:off x="685800" y="3017520"/>
            <a:ext cx="274320" cy="274320"/>
          </a:xfrm>
          <a:prstGeom prst="rect">
            <a:avLst/>
          </a:prstGeom>
        </p:spPr>
      </p:pic>
      <p:sp>
        <p:nvSpPr>
          <p:cNvPr id="12" name="row “Detect it as soon as possible”"/>
          <p:cNvSpPr txBox="1"/>
          <p:nvPr/>
        </p:nvSpPr>
        <p:spPr>
          <a:xfrm>
            <a:off x="1280160" y="2834640"/>
            <a:ext cx="5120640" cy="868680"/>
          </a:xfrm>
          <a:prstGeom prst="rect">
            <a:avLst/>
          </a:prstGeom>
          <a:noFill/>
          <a:ln/>
        </p:spPr>
        <p:txBody>
          <a:bodyPr wrap="square" lIns="0" tIns="0" rIns="0" bIns="0" rtlCol="0" anchor="t"/>
          <a:lstStyle/>
          <a:p>
            <a:pPr indent="0" marL="0">
              <a:buNone/>
            </a:pPr>
            <a:r>
              <a:rPr lang="en-US" sz="1500" b="1" dirty="0">
                <a:solidFill>
                  <a:srgbClr val="FFFFFF"/>
                </a:solidFill>
              </a:rPr>
              <a:t>“Detect it as soon as possible”</a:t>
            </a:r>
            <a:endParaRPr lang="en-US" sz="1500" dirty="0"/>
          </a:p>
          <a:p>
            <a:pPr indent="0" marL="0">
              <a:buNone/>
            </a:pPr>
            <a:r>
              <a:rPr lang="en-US" sz="1300" dirty="0">
                <a:solidFill>
                  <a:srgbClr val="E8EDF2"/>
                </a:solidFill>
              </a:rPr>
              <a:t>Both jamming and spoofing, depending on the mission</a:t>
            </a:r>
            <a:endParaRPr lang="en-US" sz="1500" dirty="0"/>
          </a:p>
        </p:txBody>
      </p:sp>
      <p:sp>
        <p:nvSpPr>
          <p:cNvPr id="13" name="icon circle “Snow hides the landmarks”"/>
          <p:cNvSpPr/>
          <p:nvPr/>
        </p:nvSpPr>
        <p:spPr>
          <a:xfrm>
            <a:off x="548640" y="3840480"/>
            <a:ext cx="548640" cy="548640"/>
          </a:xfrm>
          <a:prstGeom prst="ellipse">
            <a:avLst/>
          </a:prstGeom>
          <a:solidFill>
            <a:srgbClr val="1E3246"/>
          </a:solidFill>
          <a:ln w="19050">
            <a:solidFill>
              <a:srgbClr val="F26B1D"/>
            </a:solidFill>
            <a:prstDash val="solid"/>
          </a:ln>
        </p:spPr>
      </p:sp>
      <p:pic>
        <p:nvPicPr>
          <p:cNvPr id="14" name="Image 2" descr="“Snow hides the landmarks”">    </p:cNvPr>
          <p:cNvPicPr>
            <a:picLocks noChangeAspect="1"/>
          </p:cNvPicPr>
          <p:nvPr/>
        </p:nvPicPr>
        <p:blipFill>
          <a:blip r:embed="rId3"/>
          <a:stretch>
            <a:fillRect/>
          </a:stretch>
        </p:blipFill>
        <p:spPr>
          <a:xfrm>
            <a:off x="685800" y="3977640"/>
            <a:ext cx="274320" cy="274320"/>
          </a:xfrm>
          <a:prstGeom prst="rect">
            <a:avLst/>
          </a:prstGeom>
        </p:spPr>
      </p:pic>
      <p:sp>
        <p:nvSpPr>
          <p:cNvPr id="15" name="row “Snow hides the landmarks”"/>
          <p:cNvSpPr txBox="1"/>
          <p:nvPr/>
        </p:nvSpPr>
        <p:spPr>
          <a:xfrm>
            <a:off x="1280160" y="3794760"/>
            <a:ext cx="5120640" cy="868680"/>
          </a:xfrm>
          <a:prstGeom prst="rect">
            <a:avLst/>
          </a:prstGeom>
          <a:noFill/>
          <a:ln/>
        </p:spPr>
        <p:txBody>
          <a:bodyPr wrap="square" lIns="0" tIns="0" rIns="0" bIns="0" rtlCol="0" anchor="t"/>
          <a:lstStyle/>
          <a:p>
            <a:pPr indent="0" marL="0">
              <a:buNone/>
            </a:pPr>
            <a:r>
              <a:rPr lang="en-US" sz="1500" b="1" dirty="0">
                <a:solidFill>
                  <a:srgbClr val="FFFFFF"/>
                </a:solidFill>
              </a:rPr>
              <a:t>“Snow hides the landmarks”</a:t>
            </a:r>
            <a:endParaRPr lang="en-US" sz="1500" dirty="0"/>
          </a:p>
          <a:p>
            <a:pPr indent="0" marL="0">
              <a:buNone/>
            </a:pPr>
            <a:r>
              <a:rPr lang="en-US" sz="1300" dirty="0">
                <a:solidFill>
                  <a:srgbClr val="E8EDF2"/>
                </a:solidFill>
              </a:rPr>
              <a:t>Pre-made maps stop matching in winter</a:t>
            </a:r>
            <a:endParaRPr lang="en-US" sz="1500" dirty="0"/>
          </a:p>
        </p:txBody>
      </p:sp>
      <p:sp>
        <p:nvSpPr>
          <p:cNvPr id="16" name="icon circle “A drone once built its own map to get home”"/>
          <p:cNvSpPr/>
          <p:nvPr/>
        </p:nvSpPr>
        <p:spPr>
          <a:xfrm>
            <a:off x="548640" y="4800600"/>
            <a:ext cx="548640" cy="548640"/>
          </a:xfrm>
          <a:prstGeom prst="ellipse">
            <a:avLst/>
          </a:prstGeom>
          <a:solidFill>
            <a:srgbClr val="1E3246"/>
          </a:solidFill>
          <a:ln w="19050">
            <a:solidFill>
              <a:srgbClr val="F26B1D"/>
            </a:solidFill>
            <a:prstDash val="solid"/>
          </a:ln>
        </p:spPr>
      </p:sp>
      <p:pic>
        <p:nvPicPr>
          <p:cNvPr id="17" name="Image 3" descr="“A drone once built its own map to get home”">    </p:cNvPr>
          <p:cNvPicPr>
            <a:picLocks noChangeAspect="1"/>
          </p:cNvPicPr>
          <p:nvPr/>
        </p:nvPicPr>
        <p:blipFill>
          <a:blip r:embed="rId4"/>
          <a:stretch>
            <a:fillRect/>
          </a:stretch>
        </p:blipFill>
        <p:spPr>
          <a:xfrm>
            <a:off x="685800" y="4937760"/>
            <a:ext cx="274320" cy="274320"/>
          </a:xfrm>
          <a:prstGeom prst="rect">
            <a:avLst/>
          </a:prstGeom>
        </p:spPr>
      </p:pic>
      <p:sp>
        <p:nvSpPr>
          <p:cNvPr id="18" name="row “A drone once built its own map to get home”"/>
          <p:cNvSpPr txBox="1"/>
          <p:nvPr/>
        </p:nvSpPr>
        <p:spPr>
          <a:xfrm>
            <a:off x="1280160" y="4754880"/>
            <a:ext cx="5120640" cy="868680"/>
          </a:xfrm>
          <a:prstGeom prst="rect">
            <a:avLst/>
          </a:prstGeom>
          <a:noFill/>
          <a:ln/>
        </p:spPr>
        <p:txBody>
          <a:bodyPr wrap="square" lIns="0" tIns="0" rIns="0" bIns="0" rtlCol="0" anchor="t"/>
          <a:lstStyle/>
          <a:p>
            <a:pPr indent="0" marL="0">
              <a:buNone/>
            </a:pPr>
            <a:r>
              <a:rPr lang="en-US" sz="1500" b="1" dirty="0">
                <a:solidFill>
                  <a:srgbClr val="FFFFFF"/>
                </a:solidFill>
              </a:rPr>
              <a:t>“A drone once built its own map to get home”</a:t>
            </a:r>
            <a:endParaRPr lang="en-US" sz="1500" dirty="0"/>
          </a:p>
          <a:p>
            <a:pPr indent="0" marL="0">
              <a:buNone/>
            </a:pPr>
            <a:r>
              <a:rPr lang="en-US" sz="1300" dirty="0">
                <a:solidFill>
                  <a:srgbClr val="E8EDF2"/>
                </a:solidFill>
              </a:rPr>
              <a:t>That real case is our starting point</a:t>
            </a:r>
            <a:endParaRPr lang="en-US" sz="1500" dirty="0"/>
          </a:p>
        </p:txBody>
      </p:sp>
      <p:sp>
        <p:nvSpPr>
          <p:cNvPr id="19" name="caption"/>
          <p:cNvSpPr txBox="1"/>
          <p:nvPr/>
        </p:nvSpPr>
        <p:spPr>
          <a:xfrm>
            <a:off x="548640" y="5806440"/>
            <a:ext cx="6035040" cy="320040"/>
          </a:xfrm>
          <a:prstGeom prst="rect">
            <a:avLst/>
          </a:prstGeom>
          <a:noFill/>
          <a:ln/>
        </p:spPr>
        <p:txBody>
          <a:bodyPr wrap="square" lIns="0" tIns="0" rIns="0" bIns="0" rtlCol="0" anchor="t"/>
          <a:lstStyle/>
          <a:p>
            <a:pPr indent="0" marL="0">
              <a:buNone/>
            </a:pPr>
            <a:r>
              <a:rPr lang="en-US" sz="1100" i="1" dirty="0">
                <a:solidFill>
                  <a:srgbClr val="93A1B3"/>
                </a:solidFill>
              </a:rPr>
              <a:t>Public evidence: GNSS interference over the Baltic is mapped every day from airliner data (gpsjam.org).</a:t>
            </a:r>
            <a:endParaRPr lang="en-US" sz="1100" dirty="0"/>
          </a:p>
        </p:txBody>
      </p:sp>
      <p:sp>
        <p:nvSpPr>
          <p:cNvPr id="20" name="PX4 flight log during GPS jamming frame"/>
          <p:cNvSpPr/>
          <p:nvPr/>
        </p:nvSpPr>
        <p:spPr>
          <a:xfrm>
            <a:off x="6885432" y="1307592"/>
            <a:ext cx="4288536" cy="3910307"/>
          </a:xfrm>
          <a:prstGeom prst="roundRect">
            <a:avLst>
              <a:gd name="adj" fmla="val 1871"/>
            </a:avLst>
          </a:prstGeom>
          <a:solidFill>
            <a:srgbClr val="FFFFFF"/>
          </a:solidFill>
          <a:ln w="12700">
            <a:solidFill>
              <a:srgbClr val="FFFFFF"/>
            </a:solidFill>
            <a:prstDash val="solid"/>
          </a:ln>
        </p:spPr>
      </p:sp>
      <p:pic>
        <p:nvPicPr>
          <p:cNvPr id="21" name="PX4 flight log during GPS jamming" descr="PX4 flight log during GPS jamming">    </p:cNvPr>
          <p:cNvPicPr>
            <a:picLocks noChangeAspect="1"/>
          </p:cNvPicPr>
          <p:nvPr/>
        </p:nvPicPr>
        <p:blipFill>
          <a:blip r:embed="rId5"/>
          <a:stretch>
            <a:fillRect/>
          </a:stretch>
        </p:blipFill>
        <p:spPr>
          <a:xfrm>
            <a:off x="6949440" y="1371600"/>
            <a:ext cx="4160520" cy="3782291"/>
          </a:xfrm>
          <a:prstGeom prst="rect">
            <a:avLst/>
          </a:prstGeom>
        </p:spPr>
      </p:pic>
      <p:sp>
        <p:nvSpPr>
          <p:cNvPr id="22" name="stat card 5 s"/>
          <p:cNvSpPr/>
          <p:nvPr/>
        </p:nvSpPr>
        <p:spPr>
          <a:xfrm>
            <a:off x="6949440" y="5349240"/>
            <a:ext cx="2011680" cy="914400"/>
          </a:xfrm>
          <a:prstGeom prst="roundRect">
            <a:avLst>
              <a:gd name="adj" fmla="val 10000"/>
            </a:avLst>
          </a:prstGeom>
          <a:solidFill>
            <a:srgbClr val="1E3246"/>
          </a:solidFill>
          <a:ln w="12700">
            <a:solidFill>
              <a:srgbClr val="1E3246"/>
            </a:solidFill>
            <a:prstDash val="solid"/>
          </a:ln>
        </p:spPr>
      </p:sp>
      <p:sp>
        <p:nvSpPr>
          <p:cNvPr id="23" name="stat value 5 s"/>
          <p:cNvSpPr txBox="1"/>
          <p:nvPr/>
        </p:nvSpPr>
        <p:spPr>
          <a:xfrm>
            <a:off x="7086600" y="5422392"/>
            <a:ext cx="1737360" cy="502920"/>
          </a:xfrm>
          <a:prstGeom prst="rect">
            <a:avLst/>
          </a:prstGeom>
          <a:noFill/>
          <a:ln/>
        </p:spPr>
        <p:txBody>
          <a:bodyPr wrap="square" lIns="0" tIns="0" rIns="0" bIns="0" rtlCol="0" anchor="b">
            <a:normAutofit/>
          </a:bodyPr>
          <a:lstStyle/>
          <a:p>
            <a:pPr indent="0" marL="0">
              <a:buNone/>
            </a:pPr>
            <a:r>
              <a:rPr lang="en-US" sz="2600" b="1" dirty="0">
                <a:solidFill>
                  <a:srgbClr val="FF5A5F"/>
                </a:solidFill>
              </a:rPr>
              <a:t>5 s</a:t>
            </a:r>
            <a:endParaRPr lang="en-US" sz="2600" dirty="0"/>
          </a:p>
        </p:txBody>
      </p:sp>
      <p:sp>
        <p:nvSpPr>
          <p:cNvPr id="24" name="stat label 5 s"/>
          <p:cNvSpPr txBox="1"/>
          <p:nvPr/>
        </p:nvSpPr>
        <p:spPr>
          <a:xfrm>
            <a:off x="7086600" y="5943600"/>
            <a:ext cx="1737360" cy="256032"/>
          </a:xfrm>
          <a:prstGeom prst="rect">
            <a:avLst/>
          </a:prstGeom>
          <a:noFill/>
          <a:ln/>
        </p:spPr>
        <p:txBody>
          <a:bodyPr wrap="square" lIns="0" tIns="0" rIns="0" bIns="0" rtlCol="0" anchor="t"/>
          <a:lstStyle/>
          <a:p>
            <a:pPr indent="0" marL="0">
              <a:buNone/>
            </a:pPr>
            <a:r>
              <a:rPr lang="en-US" sz="1200" dirty="0">
                <a:solidFill>
                  <a:srgbClr val="E8EDF2"/>
                </a:solidFill>
              </a:rPr>
              <a:t>autopilot reaction time</a:t>
            </a:r>
            <a:endParaRPr lang="en-US" sz="1200" dirty="0"/>
          </a:p>
        </p:txBody>
      </p:sp>
      <p:sp>
        <p:nvSpPr>
          <p:cNvPr id="25" name="stat card blind"/>
          <p:cNvSpPr/>
          <p:nvPr/>
        </p:nvSpPr>
        <p:spPr>
          <a:xfrm>
            <a:off x="9098280" y="5349240"/>
            <a:ext cx="2011680" cy="914400"/>
          </a:xfrm>
          <a:prstGeom prst="roundRect">
            <a:avLst>
              <a:gd name="adj" fmla="val 10000"/>
            </a:avLst>
          </a:prstGeom>
          <a:solidFill>
            <a:srgbClr val="1E3246"/>
          </a:solidFill>
          <a:ln w="12700">
            <a:solidFill>
              <a:srgbClr val="1E3246"/>
            </a:solidFill>
            <a:prstDash val="solid"/>
          </a:ln>
        </p:spPr>
      </p:sp>
      <p:sp>
        <p:nvSpPr>
          <p:cNvPr id="26" name="stat value blind"/>
          <p:cNvSpPr txBox="1"/>
          <p:nvPr/>
        </p:nvSpPr>
        <p:spPr>
          <a:xfrm>
            <a:off x="9235440" y="5422392"/>
            <a:ext cx="1737360" cy="502920"/>
          </a:xfrm>
          <a:prstGeom prst="rect">
            <a:avLst/>
          </a:prstGeom>
          <a:noFill/>
          <a:ln/>
        </p:spPr>
        <p:txBody>
          <a:bodyPr wrap="square" lIns="0" tIns="0" rIns="0" bIns="0" rtlCol="0" anchor="b">
            <a:normAutofit/>
          </a:bodyPr>
          <a:lstStyle/>
          <a:p>
            <a:pPr indent="0" marL="0">
              <a:buNone/>
            </a:pPr>
            <a:r>
              <a:rPr lang="en-US" sz="2600" b="1" dirty="0">
                <a:solidFill>
                  <a:srgbClr val="FF5A5F"/>
                </a:solidFill>
              </a:rPr>
              <a:t>blind</a:t>
            </a:r>
            <a:endParaRPr lang="en-US" sz="2600" dirty="0"/>
          </a:p>
        </p:txBody>
      </p:sp>
      <p:sp>
        <p:nvSpPr>
          <p:cNvPr id="27" name="stat label blind"/>
          <p:cNvSpPr txBox="1"/>
          <p:nvPr/>
        </p:nvSpPr>
        <p:spPr>
          <a:xfrm>
            <a:off x="9235440" y="5943600"/>
            <a:ext cx="1737360" cy="256032"/>
          </a:xfrm>
          <a:prstGeom prst="rect">
            <a:avLst/>
          </a:prstGeom>
          <a:noFill/>
          <a:ln/>
        </p:spPr>
        <p:txBody>
          <a:bodyPr wrap="square" lIns="0" tIns="0" rIns="0" bIns="0" rtlCol="0" anchor="t"/>
          <a:lstStyle/>
          <a:p>
            <a:pPr indent="0" marL="0">
              <a:buNone/>
            </a:pPr>
            <a:r>
              <a:rPr lang="en-US" sz="1200" dirty="0">
                <a:solidFill>
                  <a:srgbClr val="E8EDF2"/>
                </a:solidFill>
              </a:rPr>
              <a:t>landing — never flies home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The military told us what is really missing</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RELEVANCE</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military quote card"/>
          <p:cNvSpPr/>
          <p:nvPr/>
        </p:nvSpPr>
        <p:spPr>
          <a:xfrm>
            <a:off x="548640" y="1371600"/>
            <a:ext cx="11109960" cy="1417320"/>
          </a:xfrm>
          <a:prstGeom prst="roundRect">
            <a:avLst>
              <a:gd name="adj" fmla="val 7742"/>
            </a:avLst>
          </a:prstGeom>
          <a:solidFill>
            <a:srgbClr val="1E3246"/>
          </a:solidFill>
          <a:ln w="15875">
            <a:solidFill>
              <a:srgbClr val="F26B1D"/>
            </a:solidFill>
            <a:prstDash val="solid"/>
          </a:ln>
        </p:spPr>
      </p:sp>
      <p:sp>
        <p:nvSpPr>
          <p:cNvPr id="7" name="Text 5"/>
          <p:cNvSpPr txBox="1"/>
          <p:nvPr/>
        </p:nvSpPr>
        <p:spPr>
          <a:xfrm>
            <a:off x="868680" y="1463040"/>
            <a:ext cx="10515600" cy="914400"/>
          </a:xfrm>
          <a:prstGeom prst="rect">
            <a:avLst/>
          </a:prstGeom>
          <a:noFill/>
          <a:ln/>
        </p:spPr>
        <p:txBody>
          <a:bodyPr wrap="square" lIns="0" tIns="0" rIns="0" bIns="0" rtlCol="0" anchor="ctr"/>
          <a:lstStyle/>
          <a:p>
            <a:pPr indent="0" marL="0">
              <a:buNone/>
            </a:pPr>
            <a:r>
              <a:rPr lang="en-US" sz="1900" i="1" dirty="0">
                <a:solidFill>
                  <a:srgbClr val="E8EDF2"/>
                </a:solidFill>
              </a:rPr>
              <a:t>“Detect and return home — we already have that. </a:t>
            </a:r>
            <a:pPr indent="0" marL="0">
              <a:buNone/>
            </a:pPr>
            <a:r>
              <a:rPr lang="en-US" sz="1900" b="1" i="1" dirty="0">
                <a:solidFill>
                  <a:srgbClr val="FFFFFF"/>
                </a:solidFill>
              </a:rPr>
              <a:t>We need the drone to tell the others, and the swarm to find its own way to the target.”</a:t>
            </a:r>
            <a:endParaRPr lang="en-US" sz="1900" dirty="0"/>
          </a:p>
        </p:txBody>
      </p:sp>
      <p:sp>
        <p:nvSpPr>
          <p:cNvPr id="8" name="Text 6"/>
          <p:cNvSpPr txBox="1"/>
          <p:nvPr/>
        </p:nvSpPr>
        <p:spPr>
          <a:xfrm>
            <a:off x="868680" y="2331720"/>
            <a:ext cx="10515600" cy="320040"/>
          </a:xfrm>
          <a:prstGeom prst="rect">
            <a:avLst/>
          </a:prstGeom>
          <a:noFill/>
          <a:ln/>
        </p:spPr>
        <p:txBody>
          <a:bodyPr wrap="square" lIns="0" tIns="0" rIns="0" bIns="0" rtlCol="0" anchor="ctr"/>
          <a:lstStyle/>
          <a:p>
            <a:pPr indent="0" marL="0">
              <a:buNone/>
            </a:pPr>
            <a:r>
              <a:rPr lang="en-US" sz="1200" dirty="0">
                <a:solidFill>
                  <a:srgbClr val="93A1B3"/>
                </a:solidFill>
              </a:rPr>
              <a:t>Military end-users, Friday — this changed our project</a:t>
            </a:r>
            <a:endParaRPr lang="en-US" sz="1200" dirty="0"/>
          </a:p>
        </p:txBody>
      </p:sp>
      <p:sp>
        <p:nvSpPr>
          <p:cNvPr id="9" name="step DETECT"/>
          <p:cNvSpPr/>
          <p:nvPr/>
        </p:nvSpPr>
        <p:spPr>
          <a:xfrm>
            <a:off x="548640" y="3246120"/>
            <a:ext cx="1664208" cy="2514600"/>
          </a:xfrm>
          <a:prstGeom prst="roundRect">
            <a:avLst>
              <a:gd name="adj" fmla="val 6593"/>
            </a:avLst>
          </a:prstGeom>
          <a:solidFill>
            <a:srgbClr val="1E3246"/>
          </a:solidFill>
          <a:ln w="12700">
            <a:solidFill>
              <a:srgbClr val="1E3246"/>
            </a:solidFill>
            <a:prstDash val="solid"/>
          </a:ln>
        </p:spPr>
      </p:sp>
      <p:sp>
        <p:nvSpPr>
          <p:cNvPr id="10" name="step icon circle DETECT"/>
          <p:cNvSpPr/>
          <p:nvPr/>
        </p:nvSpPr>
        <p:spPr>
          <a:xfrm>
            <a:off x="1014984" y="3474720"/>
            <a:ext cx="731520" cy="731520"/>
          </a:xfrm>
          <a:prstGeom prst="ellipse">
            <a:avLst/>
          </a:prstGeom>
          <a:solidFill>
            <a:srgbClr val="F26B1D"/>
          </a:solidFill>
          <a:ln w="12700">
            <a:solidFill>
              <a:srgbClr val="F26B1D"/>
            </a:solidFill>
            <a:prstDash val="solid"/>
          </a:ln>
        </p:spPr>
      </p:sp>
      <p:pic>
        <p:nvPicPr>
          <p:cNvPr id="11" name="Image 0" descr="DETECT">    </p:cNvPr>
          <p:cNvPicPr>
            <a:picLocks noChangeAspect="1"/>
          </p:cNvPicPr>
          <p:nvPr/>
        </p:nvPicPr>
        <p:blipFill>
          <a:blip r:embed="rId1"/>
          <a:stretch>
            <a:fillRect/>
          </a:stretch>
        </p:blipFill>
        <p:spPr>
          <a:xfrm>
            <a:off x="1197864" y="3657600"/>
            <a:ext cx="365760" cy="365760"/>
          </a:xfrm>
          <a:prstGeom prst="rect">
            <a:avLst/>
          </a:prstGeom>
        </p:spPr>
      </p:pic>
      <p:sp>
        <p:nvSpPr>
          <p:cNvPr id="12" name="Text 9"/>
          <p:cNvSpPr txBox="1"/>
          <p:nvPr/>
        </p:nvSpPr>
        <p:spPr>
          <a:xfrm>
            <a:off x="64008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DETECT</a:t>
            </a:r>
            <a:endParaRPr lang="en-US" sz="1400" dirty="0"/>
          </a:p>
        </p:txBody>
      </p:sp>
      <p:sp>
        <p:nvSpPr>
          <p:cNvPr id="13" name="Text 10"/>
          <p:cNvSpPr txBox="1"/>
          <p:nvPr/>
        </p:nvSpPr>
        <p:spPr>
          <a:xfrm>
            <a:off x="640080"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jamming &amp; spoofing</a:t>
            </a:r>
            <a:endParaRPr lang="en-US" sz="1200" dirty="0"/>
          </a:p>
        </p:txBody>
      </p:sp>
      <p:sp>
        <p:nvSpPr>
          <p:cNvPr id="14" name="Text 11"/>
          <p:cNvSpPr txBox="1"/>
          <p:nvPr/>
        </p:nvSpPr>
        <p:spPr>
          <a:xfrm>
            <a:off x="640080"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Den</a:t>
            </a:r>
            <a:endParaRPr lang="en-US" sz="1200" dirty="0"/>
          </a:p>
        </p:txBody>
      </p:sp>
      <p:sp>
        <p:nvSpPr>
          <p:cNvPr id="15" name="arrow 0"/>
          <p:cNvSpPr/>
          <p:nvPr/>
        </p:nvSpPr>
        <p:spPr>
          <a:xfrm>
            <a:off x="2240280" y="4434840"/>
            <a:ext cx="169164" cy="274320"/>
          </a:xfrm>
          <a:prstGeom prst="rightArrow">
            <a:avLst/>
          </a:prstGeom>
          <a:solidFill>
            <a:srgbClr val="93A1B3"/>
          </a:solidFill>
          <a:ln w="12700">
            <a:solidFill>
              <a:srgbClr val="93A1B3"/>
            </a:solidFill>
            <a:prstDash val="solid"/>
          </a:ln>
        </p:spPr>
      </p:sp>
      <p:sp>
        <p:nvSpPr>
          <p:cNvPr id="16" name="step NAVIGATE"/>
          <p:cNvSpPr/>
          <p:nvPr/>
        </p:nvSpPr>
        <p:spPr>
          <a:xfrm>
            <a:off x="2436876" y="3246120"/>
            <a:ext cx="1664208" cy="2514600"/>
          </a:xfrm>
          <a:prstGeom prst="roundRect">
            <a:avLst>
              <a:gd name="adj" fmla="val 6593"/>
            </a:avLst>
          </a:prstGeom>
          <a:solidFill>
            <a:srgbClr val="1E3246"/>
          </a:solidFill>
          <a:ln w="12700">
            <a:solidFill>
              <a:srgbClr val="1E3246"/>
            </a:solidFill>
            <a:prstDash val="solid"/>
          </a:ln>
        </p:spPr>
      </p:sp>
      <p:sp>
        <p:nvSpPr>
          <p:cNvPr id="17" name="step icon circle NAVIGATE"/>
          <p:cNvSpPr/>
          <p:nvPr/>
        </p:nvSpPr>
        <p:spPr>
          <a:xfrm>
            <a:off x="2903220" y="3474720"/>
            <a:ext cx="731520" cy="731520"/>
          </a:xfrm>
          <a:prstGeom prst="ellipse">
            <a:avLst/>
          </a:prstGeom>
          <a:solidFill>
            <a:srgbClr val="F26B1D"/>
          </a:solidFill>
          <a:ln w="12700">
            <a:solidFill>
              <a:srgbClr val="F26B1D"/>
            </a:solidFill>
            <a:prstDash val="solid"/>
          </a:ln>
        </p:spPr>
      </p:sp>
      <p:pic>
        <p:nvPicPr>
          <p:cNvPr id="18" name="Image 1" descr="NAVIGATE">    </p:cNvPr>
          <p:cNvPicPr>
            <a:picLocks noChangeAspect="1"/>
          </p:cNvPicPr>
          <p:nvPr/>
        </p:nvPicPr>
        <p:blipFill>
          <a:blip r:embed="rId2"/>
          <a:stretch>
            <a:fillRect/>
          </a:stretch>
        </p:blipFill>
        <p:spPr>
          <a:xfrm>
            <a:off x="3086100" y="3657600"/>
            <a:ext cx="365760" cy="365760"/>
          </a:xfrm>
          <a:prstGeom prst="rect">
            <a:avLst/>
          </a:prstGeom>
        </p:spPr>
      </p:pic>
      <p:sp>
        <p:nvSpPr>
          <p:cNvPr id="19" name="Text 15"/>
          <p:cNvSpPr txBox="1"/>
          <p:nvPr/>
        </p:nvSpPr>
        <p:spPr>
          <a:xfrm>
            <a:off x="2528316"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NAVIGATE</a:t>
            </a:r>
            <a:endParaRPr lang="en-US" sz="1400" dirty="0"/>
          </a:p>
        </p:txBody>
      </p:sp>
      <p:sp>
        <p:nvSpPr>
          <p:cNvPr id="20" name="Text 16"/>
          <p:cNvSpPr txBox="1"/>
          <p:nvPr/>
        </p:nvSpPr>
        <p:spPr>
          <a:xfrm>
            <a:off x="2528316"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without GPS, in snow</a:t>
            </a:r>
            <a:endParaRPr lang="en-US" sz="1200" dirty="0"/>
          </a:p>
        </p:txBody>
      </p:sp>
      <p:sp>
        <p:nvSpPr>
          <p:cNvPr id="21" name="Text 17"/>
          <p:cNvSpPr txBox="1"/>
          <p:nvPr/>
        </p:nvSpPr>
        <p:spPr>
          <a:xfrm>
            <a:off x="2528316"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Guled</a:t>
            </a:r>
            <a:endParaRPr lang="en-US" sz="1200" dirty="0"/>
          </a:p>
        </p:txBody>
      </p:sp>
      <p:sp>
        <p:nvSpPr>
          <p:cNvPr id="22" name="arrow 1"/>
          <p:cNvSpPr/>
          <p:nvPr/>
        </p:nvSpPr>
        <p:spPr>
          <a:xfrm>
            <a:off x="4128516" y="4434840"/>
            <a:ext cx="169164" cy="274320"/>
          </a:xfrm>
          <a:prstGeom prst="rightArrow">
            <a:avLst/>
          </a:prstGeom>
          <a:solidFill>
            <a:srgbClr val="93A1B3"/>
          </a:solidFill>
          <a:ln w="12700">
            <a:solidFill>
              <a:srgbClr val="93A1B3"/>
            </a:solidFill>
            <a:prstDash val="solid"/>
          </a:ln>
        </p:spPr>
      </p:sp>
      <p:sp>
        <p:nvSpPr>
          <p:cNvPr id="23" name="step LOCATE"/>
          <p:cNvSpPr/>
          <p:nvPr/>
        </p:nvSpPr>
        <p:spPr>
          <a:xfrm>
            <a:off x="4325112" y="3246120"/>
            <a:ext cx="1664208" cy="2514600"/>
          </a:xfrm>
          <a:prstGeom prst="roundRect">
            <a:avLst>
              <a:gd name="adj" fmla="val 6593"/>
            </a:avLst>
          </a:prstGeom>
          <a:solidFill>
            <a:srgbClr val="1E3246"/>
          </a:solidFill>
          <a:ln w="12700">
            <a:solidFill>
              <a:srgbClr val="1E3246"/>
            </a:solidFill>
            <a:prstDash val="solid"/>
          </a:ln>
        </p:spPr>
      </p:sp>
      <p:sp>
        <p:nvSpPr>
          <p:cNvPr id="24" name="step icon circle LOCATE"/>
          <p:cNvSpPr/>
          <p:nvPr/>
        </p:nvSpPr>
        <p:spPr>
          <a:xfrm>
            <a:off x="4791456" y="3474720"/>
            <a:ext cx="731520" cy="731520"/>
          </a:xfrm>
          <a:prstGeom prst="ellipse">
            <a:avLst/>
          </a:prstGeom>
          <a:solidFill>
            <a:srgbClr val="F26B1D"/>
          </a:solidFill>
          <a:ln w="12700">
            <a:solidFill>
              <a:srgbClr val="F26B1D"/>
            </a:solidFill>
            <a:prstDash val="solid"/>
          </a:ln>
        </p:spPr>
      </p:sp>
      <p:pic>
        <p:nvPicPr>
          <p:cNvPr id="25" name="Image 2" descr="LOCATE">    </p:cNvPr>
          <p:cNvPicPr>
            <a:picLocks noChangeAspect="1"/>
          </p:cNvPicPr>
          <p:nvPr/>
        </p:nvPicPr>
        <p:blipFill>
          <a:blip r:embed="rId3"/>
          <a:stretch>
            <a:fillRect/>
          </a:stretch>
        </p:blipFill>
        <p:spPr>
          <a:xfrm>
            <a:off x="4974336" y="3657600"/>
            <a:ext cx="365760" cy="365760"/>
          </a:xfrm>
          <a:prstGeom prst="rect">
            <a:avLst/>
          </a:prstGeom>
        </p:spPr>
      </p:pic>
      <p:sp>
        <p:nvSpPr>
          <p:cNvPr id="26" name="Text 21"/>
          <p:cNvSpPr txBox="1"/>
          <p:nvPr/>
        </p:nvSpPr>
        <p:spPr>
          <a:xfrm>
            <a:off x="4416552"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LOCATE</a:t>
            </a:r>
            <a:endParaRPr lang="en-US" sz="1400" dirty="0"/>
          </a:p>
        </p:txBody>
      </p:sp>
      <p:sp>
        <p:nvSpPr>
          <p:cNvPr id="27" name="Text 22"/>
          <p:cNvSpPr txBox="1"/>
          <p:nvPr/>
        </p:nvSpPr>
        <p:spPr>
          <a:xfrm>
            <a:off x="4416552"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the jammer</a:t>
            </a:r>
            <a:endParaRPr lang="en-US" sz="1200" dirty="0"/>
          </a:p>
        </p:txBody>
      </p:sp>
      <p:sp>
        <p:nvSpPr>
          <p:cNvPr id="28" name="Text 23"/>
          <p:cNvSpPr txBox="1"/>
          <p:nvPr/>
        </p:nvSpPr>
        <p:spPr>
          <a:xfrm>
            <a:off x="4416552"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Guled</a:t>
            </a:r>
            <a:endParaRPr lang="en-US" sz="1200" dirty="0"/>
          </a:p>
        </p:txBody>
      </p:sp>
      <p:sp>
        <p:nvSpPr>
          <p:cNvPr id="29" name="arrow 2"/>
          <p:cNvSpPr/>
          <p:nvPr/>
        </p:nvSpPr>
        <p:spPr>
          <a:xfrm>
            <a:off x="6016752" y="4434840"/>
            <a:ext cx="169164" cy="274320"/>
          </a:xfrm>
          <a:prstGeom prst="rightArrow">
            <a:avLst/>
          </a:prstGeom>
          <a:solidFill>
            <a:srgbClr val="93A1B3"/>
          </a:solidFill>
          <a:ln w="12700">
            <a:solidFill>
              <a:srgbClr val="93A1B3"/>
            </a:solidFill>
            <a:prstDash val="solid"/>
          </a:ln>
        </p:spPr>
      </p:sp>
      <p:sp>
        <p:nvSpPr>
          <p:cNvPr id="30" name="step DECIDE"/>
          <p:cNvSpPr/>
          <p:nvPr/>
        </p:nvSpPr>
        <p:spPr>
          <a:xfrm>
            <a:off x="6213348" y="3246120"/>
            <a:ext cx="1664208" cy="2514600"/>
          </a:xfrm>
          <a:prstGeom prst="roundRect">
            <a:avLst>
              <a:gd name="adj" fmla="val 6593"/>
            </a:avLst>
          </a:prstGeom>
          <a:solidFill>
            <a:srgbClr val="1E3246"/>
          </a:solidFill>
          <a:ln w="12700">
            <a:solidFill>
              <a:srgbClr val="1E3246"/>
            </a:solidFill>
            <a:prstDash val="solid"/>
          </a:ln>
        </p:spPr>
      </p:sp>
      <p:sp>
        <p:nvSpPr>
          <p:cNvPr id="31" name="step icon circle DECIDE"/>
          <p:cNvSpPr/>
          <p:nvPr/>
        </p:nvSpPr>
        <p:spPr>
          <a:xfrm>
            <a:off x="6679692" y="3474720"/>
            <a:ext cx="731520" cy="731520"/>
          </a:xfrm>
          <a:prstGeom prst="ellipse">
            <a:avLst/>
          </a:prstGeom>
          <a:solidFill>
            <a:srgbClr val="F26B1D"/>
          </a:solidFill>
          <a:ln w="12700">
            <a:solidFill>
              <a:srgbClr val="F26B1D"/>
            </a:solidFill>
            <a:prstDash val="solid"/>
          </a:ln>
        </p:spPr>
      </p:sp>
      <p:pic>
        <p:nvPicPr>
          <p:cNvPr id="32" name="Image 3" descr="DECIDE">    </p:cNvPr>
          <p:cNvPicPr>
            <a:picLocks noChangeAspect="1"/>
          </p:cNvPicPr>
          <p:nvPr/>
        </p:nvPicPr>
        <p:blipFill>
          <a:blip r:embed="rId4"/>
          <a:stretch>
            <a:fillRect/>
          </a:stretch>
        </p:blipFill>
        <p:spPr>
          <a:xfrm>
            <a:off x="6862572" y="3657600"/>
            <a:ext cx="365760" cy="365760"/>
          </a:xfrm>
          <a:prstGeom prst="rect">
            <a:avLst/>
          </a:prstGeom>
        </p:spPr>
      </p:pic>
      <p:sp>
        <p:nvSpPr>
          <p:cNvPr id="33" name="Text 27"/>
          <p:cNvSpPr txBox="1"/>
          <p:nvPr/>
        </p:nvSpPr>
        <p:spPr>
          <a:xfrm>
            <a:off x="6304788"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DECIDE</a:t>
            </a:r>
            <a:endParaRPr lang="en-US" sz="1400" dirty="0"/>
          </a:p>
        </p:txBody>
      </p:sp>
      <p:sp>
        <p:nvSpPr>
          <p:cNvPr id="34" name="Text 28"/>
          <p:cNvSpPr txBox="1"/>
          <p:nvPr/>
        </p:nvSpPr>
        <p:spPr>
          <a:xfrm>
            <a:off x="6304788"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AI mission brain</a:t>
            </a:r>
            <a:endParaRPr lang="en-US" sz="1200" dirty="0"/>
          </a:p>
        </p:txBody>
      </p:sp>
      <p:sp>
        <p:nvSpPr>
          <p:cNvPr id="35" name="Text 29"/>
          <p:cNvSpPr txBox="1"/>
          <p:nvPr/>
        </p:nvSpPr>
        <p:spPr>
          <a:xfrm>
            <a:off x="6304788"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Guled</a:t>
            </a:r>
            <a:endParaRPr lang="en-US" sz="1200" dirty="0"/>
          </a:p>
        </p:txBody>
      </p:sp>
      <p:sp>
        <p:nvSpPr>
          <p:cNvPr id="36" name="arrow 3"/>
          <p:cNvSpPr/>
          <p:nvPr/>
        </p:nvSpPr>
        <p:spPr>
          <a:xfrm>
            <a:off x="7904988" y="4434840"/>
            <a:ext cx="169164" cy="274320"/>
          </a:xfrm>
          <a:prstGeom prst="rightArrow">
            <a:avLst/>
          </a:prstGeom>
          <a:solidFill>
            <a:srgbClr val="93A1B3"/>
          </a:solidFill>
          <a:ln w="12700">
            <a:solidFill>
              <a:srgbClr val="93A1B3"/>
            </a:solidFill>
            <a:prstDash val="solid"/>
          </a:ln>
        </p:spPr>
      </p:sp>
      <p:sp>
        <p:nvSpPr>
          <p:cNvPr id="37" name="step SHARE + REROUTE"/>
          <p:cNvSpPr/>
          <p:nvPr/>
        </p:nvSpPr>
        <p:spPr>
          <a:xfrm>
            <a:off x="8101584" y="3246120"/>
            <a:ext cx="1664208" cy="2514600"/>
          </a:xfrm>
          <a:prstGeom prst="roundRect">
            <a:avLst>
              <a:gd name="adj" fmla="val 6593"/>
            </a:avLst>
          </a:prstGeom>
          <a:solidFill>
            <a:srgbClr val="1E3246"/>
          </a:solidFill>
          <a:ln w="12700">
            <a:solidFill>
              <a:srgbClr val="1E3246"/>
            </a:solidFill>
            <a:prstDash val="solid"/>
          </a:ln>
        </p:spPr>
      </p:sp>
      <p:sp>
        <p:nvSpPr>
          <p:cNvPr id="38" name="step icon circle SHARE + REROUTE"/>
          <p:cNvSpPr/>
          <p:nvPr/>
        </p:nvSpPr>
        <p:spPr>
          <a:xfrm>
            <a:off x="8567928" y="3474720"/>
            <a:ext cx="731520" cy="731520"/>
          </a:xfrm>
          <a:prstGeom prst="ellipse">
            <a:avLst/>
          </a:prstGeom>
          <a:solidFill>
            <a:srgbClr val="F26B1D"/>
          </a:solidFill>
          <a:ln w="12700">
            <a:solidFill>
              <a:srgbClr val="F26B1D"/>
            </a:solidFill>
            <a:prstDash val="solid"/>
          </a:ln>
        </p:spPr>
      </p:sp>
      <p:pic>
        <p:nvPicPr>
          <p:cNvPr id="39" name="Image 4" descr="SHARE + REROUTE">    </p:cNvPr>
          <p:cNvPicPr>
            <a:picLocks noChangeAspect="1"/>
          </p:cNvPicPr>
          <p:nvPr/>
        </p:nvPicPr>
        <p:blipFill>
          <a:blip r:embed="rId5"/>
          <a:stretch>
            <a:fillRect/>
          </a:stretch>
        </p:blipFill>
        <p:spPr>
          <a:xfrm>
            <a:off x="8750808" y="3657600"/>
            <a:ext cx="365760" cy="365760"/>
          </a:xfrm>
          <a:prstGeom prst="rect">
            <a:avLst/>
          </a:prstGeom>
        </p:spPr>
      </p:pic>
      <p:sp>
        <p:nvSpPr>
          <p:cNvPr id="40" name="Text 33"/>
          <p:cNvSpPr txBox="1"/>
          <p:nvPr/>
        </p:nvSpPr>
        <p:spPr>
          <a:xfrm>
            <a:off x="8193024"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SHARE + REROUTE</a:t>
            </a:r>
            <a:endParaRPr lang="en-US" sz="1400" dirty="0"/>
          </a:p>
        </p:txBody>
      </p:sp>
      <p:sp>
        <p:nvSpPr>
          <p:cNvPr id="41" name="Text 34"/>
          <p:cNvSpPr txBox="1"/>
          <p:nvPr/>
        </p:nvSpPr>
        <p:spPr>
          <a:xfrm>
            <a:off x="8193024"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the whole swarm</a:t>
            </a:r>
            <a:endParaRPr lang="en-US" sz="1200" dirty="0"/>
          </a:p>
        </p:txBody>
      </p:sp>
      <p:sp>
        <p:nvSpPr>
          <p:cNvPr id="42" name="Text 35"/>
          <p:cNvSpPr txBox="1"/>
          <p:nvPr/>
        </p:nvSpPr>
        <p:spPr>
          <a:xfrm>
            <a:off x="8193024"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Den</a:t>
            </a:r>
            <a:endParaRPr lang="en-US" sz="1200" dirty="0"/>
          </a:p>
        </p:txBody>
      </p:sp>
      <p:sp>
        <p:nvSpPr>
          <p:cNvPr id="43" name="arrow 4"/>
          <p:cNvSpPr/>
          <p:nvPr/>
        </p:nvSpPr>
        <p:spPr>
          <a:xfrm>
            <a:off x="9793224" y="4434840"/>
            <a:ext cx="169164" cy="274320"/>
          </a:xfrm>
          <a:prstGeom prst="rightArrow">
            <a:avLst/>
          </a:prstGeom>
          <a:solidFill>
            <a:srgbClr val="93A1B3"/>
          </a:solidFill>
          <a:ln w="12700">
            <a:solidFill>
              <a:srgbClr val="93A1B3"/>
            </a:solidFill>
            <a:prstDash val="solid"/>
          </a:ln>
        </p:spPr>
      </p:sp>
      <p:sp>
        <p:nvSpPr>
          <p:cNvPr id="44" name="step SECURE"/>
          <p:cNvSpPr/>
          <p:nvPr/>
        </p:nvSpPr>
        <p:spPr>
          <a:xfrm>
            <a:off x="9989820" y="3246120"/>
            <a:ext cx="1664208" cy="2514600"/>
          </a:xfrm>
          <a:prstGeom prst="roundRect">
            <a:avLst>
              <a:gd name="adj" fmla="val 6593"/>
            </a:avLst>
          </a:prstGeom>
          <a:solidFill>
            <a:srgbClr val="1E3246"/>
          </a:solidFill>
          <a:ln w="12700">
            <a:solidFill>
              <a:srgbClr val="1E3246"/>
            </a:solidFill>
            <a:prstDash val="solid"/>
          </a:ln>
        </p:spPr>
      </p:sp>
      <p:sp>
        <p:nvSpPr>
          <p:cNvPr id="45" name="step icon circle SECURE"/>
          <p:cNvSpPr/>
          <p:nvPr/>
        </p:nvSpPr>
        <p:spPr>
          <a:xfrm>
            <a:off x="10456164" y="3474720"/>
            <a:ext cx="731520" cy="731520"/>
          </a:xfrm>
          <a:prstGeom prst="ellipse">
            <a:avLst/>
          </a:prstGeom>
          <a:solidFill>
            <a:srgbClr val="F26B1D"/>
          </a:solidFill>
          <a:ln w="12700">
            <a:solidFill>
              <a:srgbClr val="F26B1D"/>
            </a:solidFill>
            <a:prstDash val="solid"/>
          </a:ln>
        </p:spPr>
      </p:sp>
      <p:pic>
        <p:nvPicPr>
          <p:cNvPr id="46" name="Image 5" descr="SECURE">    </p:cNvPr>
          <p:cNvPicPr>
            <a:picLocks noChangeAspect="1"/>
          </p:cNvPicPr>
          <p:nvPr/>
        </p:nvPicPr>
        <p:blipFill>
          <a:blip r:embed="rId6"/>
          <a:stretch>
            <a:fillRect/>
          </a:stretch>
        </p:blipFill>
        <p:spPr>
          <a:xfrm>
            <a:off x="10639044" y="3657600"/>
            <a:ext cx="365760" cy="365760"/>
          </a:xfrm>
          <a:prstGeom prst="rect">
            <a:avLst/>
          </a:prstGeom>
        </p:spPr>
      </p:pic>
      <p:sp>
        <p:nvSpPr>
          <p:cNvPr id="47" name="Text 39"/>
          <p:cNvSpPr txBox="1"/>
          <p:nvPr/>
        </p:nvSpPr>
        <p:spPr>
          <a:xfrm>
            <a:off x="1008126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SECURE</a:t>
            </a:r>
            <a:endParaRPr lang="en-US" sz="1400" dirty="0"/>
          </a:p>
        </p:txBody>
      </p:sp>
      <p:sp>
        <p:nvSpPr>
          <p:cNvPr id="48" name="Text 40"/>
          <p:cNvSpPr txBox="1"/>
          <p:nvPr/>
        </p:nvSpPr>
        <p:spPr>
          <a:xfrm>
            <a:off x="10081260"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against fake warnings</a:t>
            </a:r>
            <a:endParaRPr lang="en-US" sz="1200" dirty="0"/>
          </a:p>
        </p:txBody>
      </p:sp>
      <p:sp>
        <p:nvSpPr>
          <p:cNvPr id="49" name="Text 41"/>
          <p:cNvSpPr txBox="1"/>
          <p:nvPr/>
        </p:nvSpPr>
        <p:spPr>
          <a:xfrm>
            <a:off x="10081260"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Den</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Detect: jamming in 1 s, slow spoofing in 13 s</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stat card 1 s vs 5 s"/>
          <p:cNvSpPr/>
          <p:nvPr/>
        </p:nvSpPr>
        <p:spPr>
          <a:xfrm>
            <a:off x="548640" y="1325880"/>
            <a:ext cx="2606040" cy="1051560"/>
          </a:xfrm>
          <a:prstGeom prst="roundRect">
            <a:avLst>
              <a:gd name="adj" fmla="val 8696"/>
            </a:avLst>
          </a:prstGeom>
          <a:solidFill>
            <a:srgbClr val="1E3246"/>
          </a:solidFill>
          <a:ln w="12700">
            <a:solidFill>
              <a:srgbClr val="1E3246"/>
            </a:solidFill>
            <a:prstDash val="solid"/>
          </a:ln>
        </p:spPr>
      </p:sp>
      <p:sp>
        <p:nvSpPr>
          <p:cNvPr id="7" name="stat value 1 s vs 5 s"/>
          <p:cNvSpPr txBox="1"/>
          <p:nvPr/>
        </p:nvSpPr>
        <p:spPr>
          <a:xfrm>
            <a:off x="685800" y="1399032"/>
            <a:ext cx="2331720" cy="578358"/>
          </a:xfrm>
          <a:prstGeom prst="rect">
            <a:avLst/>
          </a:prstGeom>
          <a:noFill/>
          <a:ln/>
        </p:spPr>
        <p:txBody>
          <a:bodyPr wrap="square" lIns="0" tIns="0" rIns="0" bIns="0" rtlCol="0" anchor="b">
            <a:normAutofit/>
          </a:bodyPr>
          <a:lstStyle/>
          <a:p>
            <a:pPr indent="0" marL="0">
              <a:buNone/>
            </a:pPr>
            <a:r>
              <a:rPr lang="en-US" sz="2600" b="1" dirty="0">
                <a:solidFill>
                  <a:srgbClr val="34C77B"/>
                </a:solidFill>
              </a:rPr>
              <a:t>1 s vs 5 s</a:t>
            </a:r>
            <a:endParaRPr lang="en-US" sz="2600" dirty="0"/>
          </a:p>
        </p:txBody>
      </p:sp>
      <p:sp>
        <p:nvSpPr>
          <p:cNvPr id="8" name="stat label 1 s vs 5 s"/>
          <p:cNvSpPr txBox="1"/>
          <p:nvPr/>
        </p:nvSpPr>
        <p:spPr>
          <a:xfrm>
            <a:off x="685800" y="1995678"/>
            <a:ext cx="2331720" cy="310896"/>
          </a:xfrm>
          <a:prstGeom prst="rect">
            <a:avLst/>
          </a:prstGeom>
          <a:noFill/>
          <a:ln/>
        </p:spPr>
        <p:txBody>
          <a:bodyPr wrap="square" lIns="0" tIns="0" rIns="0" bIns="0" rtlCol="0" anchor="t"/>
          <a:lstStyle/>
          <a:p>
            <a:pPr indent="0" marL="0">
              <a:buNone/>
            </a:pPr>
            <a:r>
              <a:rPr lang="en-US" sz="1200" dirty="0">
                <a:solidFill>
                  <a:srgbClr val="E8EDF2"/>
                </a:solidFill>
              </a:rPr>
              <a:t>jamming: our monitor vs PX4 (live)</a:t>
            </a:r>
            <a:endParaRPr lang="en-US" sz="1200" dirty="0"/>
          </a:p>
        </p:txBody>
      </p:sp>
      <p:sp>
        <p:nvSpPr>
          <p:cNvPr id="9" name="stat card 13 s"/>
          <p:cNvSpPr/>
          <p:nvPr/>
        </p:nvSpPr>
        <p:spPr>
          <a:xfrm>
            <a:off x="3383280" y="1325880"/>
            <a:ext cx="2606040" cy="1051560"/>
          </a:xfrm>
          <a:prstGeom prst="roundRect">
            <a:avLst>
              <a:gd name="adj" fmla="val 8696"/>
            </a:avLst>
          </a:prstGeom>
          <a:solidFill>
            <a:srgbClr val="1E3246"/>
          </a:solidFill>
          <a:ln w="12700">
            <a:solidFill>
              <a:srgbClr val="1E3246"/>
            </a:solidFill>
            <a:prstDash val="solid"/>
          </a:ln>
        </p:spPr>
      </p:sp>
      <p:sp>
        <p:nvSpPr>
          <p:cNvPr id="10" name="stat value 13 s"/>
          <p:cNvSpPr txBox="1"/>
          <p:nvPr/>
        </p:nvSpPr>
        <p:spPr>
          <a:xfrm>
            <a:off x="3520440" y="1399032"/>
            <a:ext cx="2331720" cy="578358"/>
          </a:xfrm>
          <a:prstGeom prst="rect">
            <a:avLst/>
          </a:prstGeom>
          <a:noFill/>
          <a:ln/>
        </p:spPr>
        <p:txBody>
          <a:bodyPr wrap="square" lIns="0" tIns="0" rIns="0" bIns="0" rtlCol="0" anchor="b">
            <a:normAutofit/>
          </a:bodyPr>
          <a:lstStyle/>
          <a:p>
            <a:pPr indent="0" marL="0">
              <a:buNone/>
            </a:pPr>
            <a:r>
              <a:rPr lang="en-US" sz="2600" b="1" dirty="0">
                <a:solidFill>
                  <a:srgbClr val="34C77B"/>
                </a:solidFill>
              </a:rPr>
              <a:t>13 s</a:t>
            </a:r>
            <a:endParaRPr lang="en-US" sz="2600" dirty="0"/>
          </a:p>
        </p:txBody>
      </p:sp>
      <p:sp>
        <p:nvSpPr>
          <p:cNvPr id="11" name="stat label 13 s"/>
          <p:cNvSpPr txBox="1"/>
          <p:nvPr/>
        </p:nvSpPr>
        <p:spPr>
          <a:xfrm>
            <a:off x="3520440" y="1995678"/>
            <a:ext cx="2331720" cy="310896"/>
          </a:xfrm>
          <a:prstGeom prst="rect">
            <a:avLst/>
          </a:prstGeom>
          <a:noFill/>
          <a:ln/>
        </p:spPr>
        <p:txBody>
          <a:bodyPr wrap="square" lIns="0" tIns="0" rIns="0" bIns="0" rtlCol="0" anchor="t"/>
          <a:lstStyle/>
          <a:p>
            <a:pPr indent="0" marL="0">
              <a:buNone/>
            </a:pPr>
            <a:r>
              <a:rPr lang="en-US" sz="1200" dirty="0">
                <a:solidFill>
                  <a:srgbClr val="E8EDF2"/>
                </a:solidFill>
              </a:rPr>
              <a:t>0.5 m/s spoof caught (real flight data)</a:t>
            </a:r>
            <a:endParaRPr lang="en-US" sz="1200" dirty="0"/>
          </a:p>
        </p:txBody>
      </p:sp>
      <p:sp>
        <p:nvSpPr>
          <p:cNvPr id="12" name="stat card never"/>
          <p:cNvSpPr/>
          <p:nvPr/>
        </p:nvSpPr>
        <p:spPr>
          <a:xfrm>
            <a:off x="6217920" y="1325880"/>
            <a:ext cx="2606040" cy="1051560"/>
          </a:xfrm>
          <a:prstGeom prst="roundRect">
            <a:avLst>
              <a:gd name="adj" fmla="val 8696"/>
            </a:avLst>
          </a:prstGeom>
          <a:solidFill>
            <a:srgbClr val="1E3246"/>
          </a:solidFill>
          <a:ln w="12700">
            <a:solidFill>
              <a:srgbClr val="1E3246"/>
            </a:solidFill>
            <a:prstDash val="solid"/>
          </a:ln>
        </p:spPr>
      </p:sp>
      <p:sp>
        <p:nvSpPr>
          <p:cNvPr id="13" name="stat value never"/>
          <p:cNvSpPr txBox="1"/>
          <p:nvPr/>
        </p:nvSpPr>
        <p:spPr>
          <a:xfrm>
            <a:off x="6355080" y="1399032"/>
            <a:ext cx="2331720" cy="578358"/>
          </a:xfrm>
          <a:prstGeom prst="rect">
            <a:avLst/>
          </a:prstGeom>
          <a:noFill/>
          <a:ln/>
        </p:spPr>
        <p:txBody>
          <a:bodyPr wrap="square" lIns="0" tIns="0" rIns="0" bIns="0" rtlCol="0" anchor="b">
            <a:normAutofit/>
          </a:bodyPr>
          <a:lstStyle/>
          <a:p>
            <a:pPr indent="0" marL="0">
              <a:buNone/>
            </a:pPr>
            <a:r>
              <a:rPr lang="en-US" sz="2600" b="1" dirty="0">
                <a:solidFill>
                  <a:srgbClr val="FF5A5F"/>
                </a:solidFill>
              </a:rPr>
              <a:t>never</a:t>
            </a:r>
            <a:endParaRPr lang="en-US" sz="2600" dirty="0"/>
          </a:p>
        </p:txBody>
      </p:sp>
      <p:sp>
        <p:nvSpPr>
          <p:cNvPr id="14" name="stat label never"/>
          <p:cNvSpPr txBox="1"/>
          <p:nvPr/>
        </p:nvSpPr>
        <p:spPr>
          <a:xfrm>
            <a:off x="6355080" y="1995678"/>
            <a:ext cx="2331720" cy="310896"/>
          </a:xfrm>
          <a:prstGeom prst="rect">
            <a:avLst/>
          </a:prstGeom>
          <a:noFill/>
          <a:ln/>
        </p:spPr>
        <p:txBody>
          <a:bodyPr wrap="square" lIns="0" tIns="0" rIns="0" bIns="0" rtlCol="0" anchor="t"/>
          <a:lstStyle/>
          <a:p>
            <a:pPr indent="0" marL="0">
              <a:buNone/>
            </a:pPr>
            <a:r>
              <a:rPr lang="en-US" sz="1200" dirty="0">
                <a:solidFill>
                  <a:srgbClr val="E8EDF2"/>
                </a:solidFill>
              </a:rPr>
              <a:t>PX4-style check notices that spoof</a:t>
            </a:r>
            <a:endParaRPr lang="en-US" sz="1200" dirty="0"/>
          </a:p>
        </p:txBody>
      </p:sp>
      <p:sp>
        <p:nvSpPr>
          <p:cNvPr id="15" name="stat card 2 / 50"/>
          <p:cNvSpPr/>
          <p:nvPr/>
        </p:nvSpPr>
        <p:spPr>
          <a:xfrm>
            <a:off x="9052560" y="1325880"/>
            <a:ext cx="2606040" cy="1051560"/>
          </a:xfrm>
          <a:prstGeom prst="roundRect">
            <a:avLst>
              <a:gd name="adj" fmla="val 8696"/>
            </a:avLst>
          </a:prstGeom>
          <a:solidFill>
            <a:srgbClr val="1E3246"/>
          </a:solidFill>
          <a:ln w="12700">
            <a:solidFill>
              <a:srgbClr val="1E3246"/>
            </a:solidFill>
            <a:prstDash val="solid"/>
          </a:ln>
        </p:spPr>
      </p:sp>
      <p:sp>
        <p:nvSpPr>
          <p:cNvPr id="16" name="stat value 2 / 50"/>
          <p:cNvSpPr txBox="1"/>
          <p:nvPr/>
        </p:nvSpPr>
        <p:spPr>
          <a:xfrm>
            <a:off x="9189720" y="1399032"/>
            <a:ext cx="2331720" cy="578358"/>
          </a:xfrm>
          <a:prstGeom prst="rect">
            <a:avLst/>
          </a:prstGeom>
          <a:noFill/>
          <a:ln/>
        </p:spPr>
        <p:txBody>
          <a:bodyPr wrap="square" lIns="0" tIns="0" rIns="0" bIns="0" rtlCol="0" anchor="b">
            <a:normAutofit/>
          </a:bodyPr>
          <a:lstStyle/>
          <a:p>
            <a:pPr indent="0" marL="0">
              <a:buNone/>
            </a:pPr>
            <a:r>
              <a:rPr lang="en-US" sz="2600" b="1" dirty="0">
                <a:solidFill>
                  <a:srgbClr val="5AB4F0"/>
                </a:solidFill>
              </a:rPr>
              <a:t>2 / 50</a:t>
            </a:r>
            <a:endParaRPr lang="en-US" sz="2600" dirty="0"/>
          </a:p>
        </p:txBody>
      </p:sp>
      <p:sp>
        <p:nvSpPr>
          <p:cNvPr id="17" name="stat label 2 / 50"/>
          <p:cNvSpPr txBox="1"/>
          <p:nvPr/>
        </p:nvSpPr>
        <p:spPr>
          <a:xfrm>
            <a:off x="9189720" y="1995678"/>
            <a:ext cx="2331720" cy="310896"/>
          </a:xfrm>
          <a:prstGeom prst="rect">
            <a:avLst/>
          </a:prstGeom>
          <a:noFill/>
          <a:ln/>
        </p:spPr>
        <p:txBody>
          <a:bodyPr wrap="square" lIns="0" tIns="0" rIns="0" bIns="0" rtlCol="0" anchor="t"/>
          <a:lstStyle/>
          <a:p>
            <a:pPr indent="0" marL="0">
              <a:buNone/>
            </a:pPr>
            <a:r>
              <a:rPr lang="en-US" sz="1200" dirty="0">
                <a:solidFill>
                  <a:srgbClr val="E8EDF2"/>
                </a:solidFill>
              </a:rPr>
              <a:t>false alarms without attack</a:t>
            </a:r>
            <a:endParaRPr lang="en-US" sz="1200" dirty="0"/>
          </a:p>
        </p:txBody>
      </p:sp>
      <p:sp>
        <p:nvSpPr>
          <p:cNvPr id="18" name="Text 16"/>
          <p:cNvSpPr txBox="1"/>
          <p:nvPr/>
        </p:nvSpPr>
        <p:spPr>
          <a:xfrm>
            <a:off x="548640" y="2560320"/>
            <a:ext cx="11109960" cy="457200"/>
          </a:xfrm>
          <a:prstGeom prst="rect">
            <a:avLst/>
          </a:prstGeom>
          <a:noFill/>
          <a:ln/>
        </p:spPr>
        <p:txBody>
          <a:bodyPr wrap="square" lIns="0" tIns="0" rIns="0" bIns="0" rtlCol="0" anchor="ctr"/>
          <a:lstStyle/>
          <a:p>
            <a:pPr indent="0" marL="0">
              <a:buNone/>
            </a:pPr>
            <a:r>
              <a:rPr lang="en-US" sz="1500" b="1" dirty="0">
                <a:solidFill>
                  <a:srgbClr val="FFFFFF"/>
                </a:solidFill>
              </a:rPr>
              <a:t>GPS noise is random — a spoofer always pushes the same way. </a:t>
            </a:r>
            <a:pPr indent="0" marL="0">
              <a:buNone/>
            </a:pPr>
            <a:r>
              <a:rPr lang="en-US" sz="1500" dirty="0">
                <a:solidFill>
                  <a:srgbClr val="E8EDF2"/>
                </a:solidFill>
              </a:rPr>
              <a:t>We compare GPS with the drone's own motion sensors (IMU) over a 20 s window and catch the push.</a:t>
            </a:r>
            <a:endParaRPr lang="en-US" sz="1500" dirty="0"/>
          </a:p>
        </p:txBody>
      </p:sp>
      <p:sp>
        <p:nvSpPr>
          <p:cNvPr id="19" name="Spoofing detection on real PX4 data frame"/>
          <p:cNvSpPr/>
          <p:nvPr/>
        </p:nvSpPr>
        <p:spPr>
          <a:xfrm>
            <a:off x="530352" y="3136392"/>
            <a:ext cx="11146536" cy="3368757"/>
          </a:xfrm>
          <a:prstGeom prst="roundRect">
            <a:avLst>
              <a:gd name="adj" fmla="val 2171"/>
            </a:avLst>
          </a:prstGeom>
          <a:solidFill>
            <a:srgbClr val="FFFFFF"/>
          </a:solidFill>
          <a:ln w="12700">
            <a:solidFill>
              <a:srgbClr val="FFFFFF"/>
            </a:solidFill>
            <a:prstDash val="solid"/>
          </a:ln>
        </p:spPr>
      </p:sp>
      <p:pic>
        <p:nvPicPr>
          <p:cNvPr id="20" name="Spoofing detection on real PX4 data" descr="Spoofing detection on real PX4 data">    </p:cNvPr>
          <p:cNvPicPr>
            <a:picLocks noChangeAspect="1"/>
          </p:cNvPicPr>
          <p:nvPr/>
        </p:nvPicPr>
        <p:blipFill>
          <a:blip r:embed="rId1"/>
          <a:stretch>
            <a:fillRect/>
          </a:stretch>
        </p:blipFill>
        <p:spPr>
          <a:xfrm>
            <a:off x="594360" y="3200400"/>
            <a:ext cx="11018520" cy="3240741"/>
          </a:xfrm>
          <a:prstGeom prst="rect">
            <a:avLst/>
          </a:prstGeom>
        </p:spPr>
      </p:pic>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Navigate in snow — then find the jammer</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Text 4"/>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rgbClr val="F26B1D"/>
                </a:solidFill>
              </a:rPr>
              <a:t>NAVIGATE  ·  8.8 km without GPS, snowy day</a:t>
            </a:r>
            <a:endParaRPr lang="en-US" sz="1400" dirty="0"/>
          </a:p>
        </p:txBody>
      </p:sp>
      <p:sp>
        <p:nvSpPr>
          <p:cNvPr id="7" name="Long-range navigation in snow frame"/>
          <p:cNvSpPr/>
          <p:nvPr/>
        </p:nvSpPr>
        <p:spPr>
          <a:xfrm>
            <a:off x="530352" y="1719072"/>
            <a:ext cx="5522976" cy="2319719"/>
          </a:xfrm>
          <a:prstGeom prst="roundRect">
            <a:avLst>
              <a:gd name="adj" fmla="val 3153"/>
            </a:avLst>
          </a:prstGeom>
          <a:solidFill>
            <a:srgbClr val="FFFFFF"/>
          </a:solidFill>
          <a:ln w="12700">
            <a:solidFill>
              <a:srgbClr val="FFFFFF"/>
            </a:solidFill>
            <a:prstDash val="solid"/>
          </a:ln>
        </p:spPr>
      </p:sp>
      <p:pic>
        <p:nvPicPr>
          <p:cNvPr id="8" name="Long-range navigation in snow" descr="Long-range navigation in snow">    </p:cNvPr>
          <p:cNvPicPr>
            <a:picLocks noChangeAspect="1"/>
          </p:cNvPicPr>
          <p:nvPr/>
        </p:nvPicPr>
        <p:blipFill>
          <a:blip r:embed="rId1"/>
          <a:stretch>
            <a:fillRect/>
          </a:stretch>
        </p:blipFill>
        <p:spPr>
          <a:xfrm>
            <a:off x="594360" y="1783080"/>
            <a:ext cx="5394960" cy="2191703"/>
          </a:xfrm>
          <a:prstGeom prst="rect">
            <a:avLst/>
          </a:prstGeom>
        </p:spPr>
      </p:pic>
      <p:sp>
        <p:nvSpPr>
          <p:cNvPr id="9" name="stat card 1 974 m"/>
          <p:cNvSpPr/>
          <p:nvPr/>
        </p:nvSpPr>
        <p:spPr>
          <a:xfrm>
            <a:off x="548640" y="4249103"/>
            <a:ext cx="1737360" cy="1051560"/>
          </a:xfrm>
          <a:prstGeom prst="roundRect">
            <a:avLst>
              <a:gd name="adj" fmla="val 8696"/>
            </a:avLst>
          </a:prstGeom>
          <a:solidFill>
            <a:srgbClr val="1E3246"/>
          </a:solidFill>
          <a:ln w="12700">
            <a:solidFill>
              <a:srgbClr val="1E3246"/>
            </a:solidFill>
            <a:prstDash val="solid"/>
          </a:ln>
        </p:spPr>
      </p:sp>
      <p:sp>
        <p:nvSpPr>
          <p:cNvPr id="10" name="stat value 1 974 m"/>
          <p:cNvSpPr txBox="1"/>
          <p:nvPr/>
        </p:nvSpPr>
        <p:spPr>
          <a:xfrm>
            <a:off x="685800" y="4322255"/>
            <a:ext cx="1463040" cy="578358"/>
          </a:xfrm>
          <a:prstGeom prst="rect">
            <a:avLst/>
          </a:prstGeom>
          <a:noFill/>
          <a:ln/>
        </p:spPr>
        <p:txBody>
          <a:bodyPr wrap="square" lIns="0" tIns="0" rIns="0" bIns="0" rtlCol="0" anchor="b">
            <a:normAutofit/>
          </a:bodyPr>
          <a:lstStyle/>
          <a:p>
            <a:pPr indent="0" marL="0">
              <a:buNone/>
            </a:pPr>
            <a:r>
              <a:rPr lang="en-US" sz="2200" b="1" dirty="0">
                <a:solidFill>
                  <a:srgbClr val="FF5A5F"/>
                </a:solidFill>
              </a:rPr>
              <a:t>1 974 m</a:t>
            </a:r>
            <a:endParaRPr lang="en-US" sz="2200" dirty="0"/>
          </a:p>
        </p:txBody>
      </p:sp>
      <p:sp>
        <p:nvSpPr>
          <p:cNvPr id="11" name="stat label 1 974 m"/>
          <p:cNvSpPr txBox="1"/>
          <p:nvPr/>
        </p:nvSpPr>
        <p:spPr>
          <a:xfrm>
            <a:off x="685800" y="4918901"/>
            <a:ext cx="1463040" cy="310896"/>
          </a:xfrm>
          <a:prstGeom prst="rect">
            <a:avLst/>
          </a:prstGeom>
          <a:noFill/>
          <a:ln/>
        </p:spPr>
        <p:txBody>
          <a:bodyPr wrap="square" lIns="0" tIns="0" rIns="0" bIns="0" rtlCol="0" anchor="t"/>
          <a:lstStyle/>
          <a:p>
            <a:pPr indent="0" marL="0">
              <a:buNone/>
            </a:pPr>
            <a:r>
              <a:rPr lang="en-US" sz="1200" dirty="0">
                <a:solidFill>
                  <a:srgbClr val="E8EDF2"/>
                </a:solidFill>
              </a:rPr>
              <a:t>off: IMU only</a:t>
            </a:r>
            <a:endParaRPr lang="en-US" sz="1200" dirty="0"/>
          </a:p>
        </p:txBody>
      </p:sp>
      <p:sp>
        <p:nvSpPr>
          <p:cNvPr id="12" name="stat card 1 874 m"/>
          <p:cNvSpPr/>
          <p:nvPr/>
        </p:nvSpPr>
        <p:spPr>
          <a:xfrm>
            <a:off x="2377440" y="4249103"/>
            <a:ext cx="1737360" cy="1051560"/>
          </a:xfrm>
          <a:prstGeom prst="roundRect">
            <a:avLst>
              <a:gd name="adj" fmla="val 8696"/>
            </a:avLst>
          </a:prstGeom>
          <a:solidFill>
            <a:srgbClr val="1E3246"/>
          </a:solidFill>
          <a:ln w="12700">
            <a:solidFill>
              <a:srgbClr val="1E3246"/>
            </a:solidFill>
            <a:prstDash val="solid"/>
          </a:ln>
        </p:spPr>
      </p:sp>
      <p:sp>
        <p:nvSpPr>
          <p:cNvPr id="13" name="stat value 1 874 m"/>
          <p:cNvSpPr txBox="1"/>
          <p:nvPr/>
        </p:nvSpPr>
        <p:spPr>
          <a:xfrm>
            <a:off x="2514600" y="4322255"/>
            <a:ext cx="1463040" cy="578358"/>
          </a:xfrm>
          <a:prstGeom prst="rect">
            <a:avLst/>
          </a:prstGeom>
          <a:noFill/>
          <a:ln/>
        </p:spPr>
        <p:txBody>
          <a:bodyPr wrap="square" lIns="0" tIns="0" rIns="0" bIns="0" rtlCol="0" anchor="b">
            <a:normAutofit/>
          </a:bodyPr>
          <a:lstStyle/>
          <a:p>
            <a:pPr indent="0" marL="0">
              <a:buNone/>
            </a:pPr>
            <a:r>
              <a:rPr lang="en-US" sz="2200" b="1" dirty="0">
                <a:solidFill>
                  <a:srgbClr val="FF5A5F"/>
                </a:solidFill>
              </a:rPr>
              <a:t>1 874 m</a:t>
            </a:r>
            <a:endParaRPr lang="en-US" sz="2200" dirty="0"/>
          </a:p>
        </p:txBody>
      </p:sp>
      <p:sp>
        <p:nvSpPr>
          <p:cNvPr id="14" name="stat label 1 874 m"/>
          <p:cNvSpPr txBox="1"/>
          <p:nvPr/>
        </p:nvSpPr>
        <p:spPr>
          <a:xfrm>
            <a:off x="2514600" y="4918901"/>
            <a:ext cx="1463040" cy="310896"/>
          </a:xfrm>
          <a:prstGeom prst="rect">
            <a:avLst/>
          </a:prstGeom>
          <a:noFill/>
          <a:ln/>
        </p:spPr>
        <p:txBody>
          <a:bodyPr wrap="square" lIns="0" tIns="0" rIns="0" bIns="0" rtlCol="0" anchor="t"/>
          <a:lstStyle/>
          <a:p>
            <a:pPr indent="0" marL="0">
              <a:buNone/>
            </a:pPr>
            <a:r>
              <a:rPr lang="en-US" sz="1200" dirty="0">
                <a:solidFill>
                  <a:srgbClr val="E8EDF2"/>
                </a:solidFill>
              </a:rPr>
              <a:t>off: camera in snow (0/8 landmarks)</a:t>
            </a:r>
            <a:endParaRPr lang="en-US" sz="1200" dirty="0"/>
          </a:p>
        </p:txBody>
      </p:sp>
      <p:sp>
        <p:nvSpPr>
          <p:cNvPr id="15" name="stat card 14.5 m"/>
          <p:cNvSpPr/>
          <p:nvPr/>
        </p:nvSpPr>
        <p:spPr>
          <a:xfrm>
            <a:off x="4206240" y="4249103"/>
            <a:ext cx="1828800" cy="1051560"/>
          </a:xfrm>
          <a:prstGeom prst="roundRect">
            <a:avLst>
              <a:gd name="adj" fmla="val 8696"/>
            </a:avLst>
          </a:prstGeom>
          <a:solidFill>
            <a:srgbClr val="1E3246"/>
          </a:solidFill>
          <a:ln w="12700">
            <a:solidFill>
              <a:srgbClr val="1E3246"/>
            </a:solidFill>
            <a:prstDash val="solid"/>
          </a:ln>
        </p:spPr>
      </p:sp>
      <p:sp>
        <p:nvSpPr>
          <p:cNvPr id="16" name="stat value 14.5 m"/>
          <p:cNvSpPr txBox="1"/>
          <p:nvPr/>
        </p:nvSpPr>
        <p:spPr>
          <a:xfrm>
            <a:off x="4343400" y="4322255"/>
            <a:ext cx="1554480" cy="578358"/>
          </a:xfrm>
          <a:prstGeom prst="rect">
            <a:avLst/>
          </a:prstGeom>
          <a:noFill/>
          <a:ln/>
        </p:spPr>
        <p:txBody>
          <a:bodyPr wrap="square" lIns="0" tIns="0" rIns="0" bIns="0" rtlCol="0" anchor="b">
            <a:normAutofit/>
          </a:bodyPr>
          <a:lstStyle/>
          <a:p>
            <a:pPr indent="0" marL="0">
              <a:buNone/>
            </a:pPr>
            <a:r>
              <a:rPr lang="en-US" sz="2200" b="1" dirty="0">
                <a:solidFill>
                  <a:srgbClr val="34C77B"/>
                </a:solidFill>
              </a:rPr>
              <a:t>14.5 m</a:t>
            </a:r>
            <a:endParaRPr lang="en-US" sz="2200" dirty="0"/>
          </a:p>
        </p:txBody>
      </p:sp>
      <p:sp>
        <p:nvSpPr>
          <p:cNvPr id="17" name="stat label 14.5 m"/>
          <p:cNvSpPr txBox="1"/>
          <p:nvPr/>
        </p:nvSpPr>
        <p:spPr>
          <a:xfrm>
            <a:off x="4343400" y="4918901"/>
            <a:ext cx="1554480" cy="310896"/>
          </a:xfrm>
          <a:prstGeom prst="rect">
            <a:avLst/>
          </a:prstGeom>
          <a:noFill/>
          <a:ln/>
        </p:spPr>
        <p:txBody>
          <a:bodyPr wrap="square" lIns="0" tIns="0" rIns="0" bIns="0" rtlCol="0" anchor="t"/>
          <a:lstStyle/>
          <a:p>
            <a:pPr indent="0" marL="0">
              <a:buNone/>
            </a:pPr>
            <a:r>
              <a:rPr lang="en-US" sz="1200" dirty="0">
                <a:solidFill>
                  <a:srgbClr val="E8EDF2"/>
                </a:solidFill>
              </a:rPr>
              <a:t>off: terrain matching</a:t>
            </a:r>
            <a:endParaRPr lang="en-US" sz="1200" dirty="0"/>
          </a:p>
        </p:txBody>
      </p:sp>
      <p:sp>
        <p:nvSpPr>
          <p:cNvPr id="18" name="caption"/>
          <p:cNvSpPr txBox="1"/>
          <p:nvPr/>
        </p:nvSpPr>
        <p:spPr>
          <a:xfrm>
            <a:off x="548640" y="5392103"/>
            <a:ext cx="5486400" cy="548640"/>
          </a:xfrm>
          <a:prstGeom prst="rect">
            <a:avLst/>
          </a:prstGeom>
          <a:noFill/>
          <a:ln/>
        </p:spPr>
        <p:txBody>
          <a:bodyPr wrap="square" lIns="0" tIns="0" rIns="0" bIns="0" rtlCol="0" anchor="t"/>
          <a:lstStyle/>
          <a:p>
            <a:pPr indent="0" marL="0">
              <a:buNone/>
            </a:pPr>
            <a:r>
              <a:rPr lang="en-US" sz="1100" i="1" dirty="0">
                <a:solidFill>
                  <a:srgbClr val="93A1B3"/>
                </a:solidFill>
              </a:rPr>
              <a:t>Laser altimeter vs height map: the shape of the hills survives snow. Re-tested on the REAL Bråviken height map (SRTM) — see slide 10.</a:t>
            </a:r>
            <a:endParaRPr lang="en-US" sz="1100" dirty="0"/>
          </a:p>
        </p:txBody>
      </p:sp>
      <p:sp>
        <p:nvSpPr>
          <p:cNvPr id="19" name="Text 16"/>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rgbClr val="F26B1D"/>
                </a:solidFill>
              </a:rPr>
              <a:t>LOCATE  ·  every jammer gives itself away</a:t>
            </a:r>
            <a:endParaRPr lang="en-US" sz="1400" dirty="0"/>
          </a:p>
        </p:txBody>
      </p:sp>
      <p:sp>
        <p:nvSpPr>
          <p:cNvPr id="20" name="Jammer localisation with two drones frame"/>
          <p:cNvSpPr/>
          <p:nvPr/>
        </p:nvSpPr>
        <p:spPr>
          <a:xfrm>
            <a:off x="6245352" y="1719072"/>
            <a:ext cx="5431536" cy="2249424"/>
          </a:xfrm>
          <a:prstGeom prst="roundRect">
            <a:avLst>
              <a:gd name="adj" fmla="val 3252"/>
            </a:avLst>
          </a:prstGeom>
          <a:solidFill>
            <a:srgbClr val="FFFFFF"/>
          </a:solidFill>
          <a:ln w="12700">
            <a:solidFill>
              <a:srgbClr val="FFFFFF"/>
            </a:solidFill>
            <a:prstDash val="solid"/>
          </a:ln>
        </p:spPr>
      </p:sp>
      <p:pic>
        <p:nvPicPr>
          <p:cNvPr id="21" name="Jammer localisation with two drones" descr="Jammer localisation with two drones">    </p:cNvPr>
          <p:cNvPicPr>
            <a:picLocks noChangeAspect="1"/>
          </p:cNvPicPr>
          <p:nvPr/>
        </p:nvPicPr>
        <p:blipFill>
          <a:blip r:embed="rId2"/>
          <a:stretch>
            <a:fillRect/>
          </a:stretch>
        </p:blipFill>
        <p:spPr>
          <a:xfrm>
            <a:off x="6309360" y="1783080"/>
            <a:ext cx="5303520" cy="2121408"/>
          </a:xfrm>
          <a:prstGeom prst="rect">
            <a:avLst/>
          </a:prstGeom>
        </p:spPr>
      </p:pic>
      <p:sp>
        <p:nvSpPr>
          <p:cNvPr id="22" name="stat card ~300 m"/>
          <p:cNvSpPr/>
          <p:nvPr/>
        </p:nvSpPr>
        <p:spPr>
          <a:xfrm>
            <a:off x="6263640" y="4178808"/>
            <a:ext cx="2606040" cy="1051560"/>
          </a:xfrm>
          <a:prstGeom prst="roundRect">
            <a:avLst>
              <a:gd name="adj" fmla="val 8696"/>
            </a:avLst>
          </a:prstGeom>
          <a:solidFill>
            <a:srgbClr val="1E3246"/>
          </a:solidFill>
          <a:ln w="12700">
            <a:solidFill>
              <a:srgbClr val="1E3246"/>
            </a:solidFill>
            <a:prstDash val="solid"/>
          </a:ln>
        </p:spPr>
      </p:sp>
      <p:sp>
        <p:nvSpPr>
          <p:cNvPr id="23" name="stat value ~300 m"/>
          <p:cNvSpPr txBox="1"/>
          <p:nvPr/>
        </p:nvSpPr>
        <p:spPr>
          <a:xfrm>
            <a:off x="6400800" y="4251960"/>
            <a:ext cx="2331720" cy="578358"/>
          </a:xfrm>
          <a:prstGeom prst="rect">
            <a:avLst/>
          </a:prstGeom>
          <a:noFill/>
          <a:ln/>
        </p:spPr>
        <p:txBody>
          <a:bodyPr wrap="square" lIns="0" tIns="0" rIns="0" bIns="0" rtlCol="0" anchor="b">
            <a:normAutofit/>
          </a:bodyPr>
          <a:lstStyle/>
          <a:p>
            <a:pPr indent="0" marL="0">
              <a:buNone/>
            </a:pPr>
            <a:r>
              <a:rPr lang="en-US" sz="2200" b="1" dirty="0">
                <a:solidFill>
                  <a:srgbClr val="F5C451"/>
                </a:solidFill>
              </a:rPr>
              <a:t>~300 m</a:t>
            </a:r>
            <a:endParaRPr lang="en-US" sz="2200" dirty="0"/>
          </a:p>
        </p:txBody>
      </p:sp>
      <p:sp>
        <p:nvSpPr>
          <p:cNvPr id="24" name="stat label ~300 m"/>
          <p:cNvSpPr txBox="1"/>
          <p:nvPr/>
        </p:nvSpPr>
        <p:spPr>
          <a:xfrm>
            <a:off x="6400800" y="4848606"/>
            <a:ext cx="2331720" cy="310896"/>
          </a:xfrm>
          <a:prstGeom prst="rect">
            <a:avLst/>
          </a:prstGeom>
          <a:noFill/>
          <a:ln/>
        </p:spPr>
        <p:txBody>
          <a:bodyPr wrap="square" lIns="0" tIns="0" rIns="0" bIns="0" rtlCol="0" anchor="t"/>
          <a:lstStyle/>
          <a:p>
            <a:pPr indent="0" marL="0">
              <a:buNone/>
            </a:pPr>
            <a:r>
              <a:rPr lang="en-US" sz="1200" dirty="0">
                <a:solidFill>
                  <a:srgbClr val="E8EDF2"/>
                </a:solidFill>
              </a:rPr>
              <a:t>one drone (typical)</a:t>
            </a:r>
            <a:endParaRPr lang="en-US" sz="1200" dirty="0"/>
          </a:p>
        </p:txBody>
      </p:sp>
      <p:sp>
        <p:nvSpPr>
          <p:cNvPr id="25" name="stat card ~120 m"/>
          <p:cNvSpPr/>
          <p:nvPr/>
        </p:nvSpPr>
        <p:spPr>
          <a:xfrm>
            <a:off x="9052560" y="4178808"/>
            <a:ext cx="2606040" cy="1051560"/>
          </a:xfrm>
          <a:prstGeom prst="roundRect">
            <a:avLst>
              <a:gd name="adj" fmla="val 8696"/>
            </a:avLst>
          </a:prstGeom>
          <a:solidFill>
            <a:srgbClr val="1E3246"/>
          </a:solidFill>
          <a:ln w="12700">
            <a:solidFill>
              <a:srgbClr val="1E3246"/>
            </a:solidFill>
            <a:prstDash val="solid"/>
          </a:ln>
        </p:spPr>
      </p:sp>
      <p:sp>
        <p:nvSpPr>
          <p:cNvPr id="26" name="stat value ~120 m"/>
          <p:cNvSpPr txBox="1"/>
          <p:nvPr/>
        </p:nvSpPr>
        <p:spPr>
          <a:xfrm>
            <a:off x="9189720" y="4251960"/>
            <a:ext cx="2331720" cy="578358"/>
          </a:xfrm>
          <a:prstGeom prst="rect">
            <a:avLst/>
          </a:prstGeom>
          <a:noFill/>
          <a:ln/>
        </p:spPr>
        <p:txBody>
          <a:bodyPr wrap="square" lIns="0" tIns="0" rIns="0" bIns="0" rtlCol="0" anchor="b">
            <a:normAutofit/>
          </a:bodyPr>
          <a:lstStyle/>
          <a:p>
            <a:pPr indent="0" marL="0">
              <a:buNone/>
            </a:pPr>
            <a:r>
              <a:rPr lang="en-US" sz="2200" b="1" dirty="0">
                <a:solidFill>
                  <a:srgbClr val="34C77B"/>
                </a:solidFill>
              </a:rPr>
              <a:t>~120 m</a:t>
            </a:r>
            <a:endParaRPr lang="en-US" sz="2200" dirty="0"/>
          </a:p>
        </p:txBody>
      </p:sp>
      <p:sp>
        <p:nvSpPr>
          <p:cNvPr id="27" name="stat label ~120 m"/>
          <p:cNvSpPr txBox="1"/>
          <p:nvPr/>
        </p:nvSpPr>
        <p:spPr>
          <a:xfrm>
            <a:off x="9189720" y="4848606"/>
            <a:ext cx="2331720" cy="310896"/>
          </a:xfrm>
          <a:prstGeom prst="rect">
            <a:avLst/>
          </a:prstGeom>
          <a:noFill/>
          <a:ln/>
        </p:spPr>
        <p:txBody>
          <a:bodyPr wrap="square" lIns="0" tIns="0" rIns="0" bIns="0" rtlCol="0" anchor="t"/>
          <a:lstStyle/>
          <a:p>
            <a:pPr indent="0" marL="0">
              <a:buNone/>
            </a:pPr>
            <a:r>
              <a:rPr lang="en-US" sz="1200" dirty="0">
                <a:solidFill>
                  <a:srgbClr val="E8EDF2"/>
                </a:solidFill>
              </a:rPr>
              <a:t>two drones (typical, 10 runs)</a:t>
            </a:r>
            <a:endParaRPr lang="en-US" sz="1200" dirty="0"/>
          </a:p>
        </p:txBody>
      </p:sp>
      <p:sp>
        <p:nvSpPr>
          <p:cNvPr id="28" name="caption"/>
          <p:cNvSpPr txBox="1"/>
          <p:nvPr/>
        </p:nvSpPr>
        <p:spPr>
          <a:xfrm>
            <a:off x="6263640" y="5321808"/>
            <a:ext cx="5394960" cy="320040"/>
          </a:xfrm>
          <a:prstGeom prst="rect">
            <a:avLst/>
          </a:prstGeom>
          <a:noFill/>
          <a:ln/>
        </p:spPr>
        <p:txBody>
          <a:bodyPr wrap="square" lIns="0" tIns="0" rIns="0" bIns="0" rtlCol="0" anchor="t"/>
          <a:lstStyle/>
          <a:p>
            <a:pPr indent="0" marL="0">
              <a:buNone/>
            </a:pPr>
            <a:r>
              <a:rPr lang="en-US" sz="1100" i="1" dirty="0">
                <a:solidFill>
                  <a:srgbClr val="93A1B3"/>
                </a:solidFill>
              </a:rPr>
              <a:t>GPS receivers measure interference — louder means closer.</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Decide: an AI mission brain that can't break the rules</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AI mission brain run frame"/>
          <p:cNvSpPr/>
          <p:nvPr/>
        </p:nvSpPr>
        <p:spPr>
          <a:xfrm>
            <a:off x="530352" y="1353312"/>
            <a:ext cx="6803136" cy="3131820"/>
          </a:xfrm>
          <a:prstGeom prst="roundRect">
            <a:avLst>
              <a:gd name="adj" fmla="val 2336"/>
            </a:avLst>
          </a:prstGeom>
          <a:solidFill>
            <a:srgbClr val="FFFFFF"/>
          </a:solidFill>
          <a:ln w="12700">
            <a:solidFill>
              <a:srgbClr val="FFFFFF"/>
            </a:solidFill>
            <a:prstDash val="solid"/>
          </a:ln>
        </p:spPr>
      </p:sp>
      <p:pic>
        <p:nvPicPr>
          <p:cNvPr id="7" name="AI mission brain run" descr="AI mission brain run">    </p:cNvPr>
          <p:cNvPicPr>
            <a:picLocks noChangeAspect="1"/>
          </p:cNvPicPr>
          <p:nvPr/>
        </p:nvPicPr>
        <p:blipFill>
          <a:blip r:embed="rId1"/>
          <a:stretch>
            <a:fillRect/>
          </a:stretch>
        </p:blipFill>
        <p:spPr>
          <a:xfrm>
            <a:off x="594360" y="1417320"/>
            <a:ext cx="6675120" cy="3003804"/>
          </a:xfrm>
          <a:prstGeom prst="rect">
            <a:avLst/>
          </a:prstGeom>
        </p:spPr>
      </p:pic>
      <p:sp>
        <p:nvSpPr>
          <p:cNvPr id="8" name="caption"/>
          <p:cNvSpPr txBox="1"/>
          <p:nvPr/>
        </p:nvSpPr>
        <p:spPr>
          <a:xfrm>
            <a:off x="548640" y="4604004"/>
            <a:ext cx="6766560" cy="320040"/>
          </a:xfrm>
          <a:prstGeom prst="rect">
            <a:avLst/>
          </a:prstGeom>
          <a:noFill/>
          <a:ln/>
        </p:spPr>
        <p:txBody>
          <a:bodyPr wrap="square" lIns="0" tIns="0" rIns="0" bIns="0" rtlCol="0" anchor="t"/>
          <a:lstStyle/>
          <a:p>
            <a:pPr indent="0" marL="0">
              <a:buNone/>
            </a:pPr>
            <a:r>
              <a:rPr lang="en-US" sz="1100" i="1" dirty="0">
                <a:solidFill>
                  <a:srgbClr val="93A1B3"/>
                </a:solidFill>
              </a:rPr>
              <a:t>Shown: offline rule-based mode. Claude mode uses the same tools and safety checks.</a:t>
            </a:r>
            <a:endParaRPr lang="en-US" sz="1100" dirty="0"/>
          </a:p>
        </p:txBody>
      </p:sp>
      <p:sp>
        <p:nvSpPr>
          <p:cNvPr id="9" name="icon circle AI decides what"/>
          <p:cNvSpPr/>
          <p:nvPr/>
        </p:nvSpPr>
        <p:spPr>
          <a:xfrm>
            <a:off x="7680960" y="1463040"/>
            <a:ext cx="548640" cy="548640"/>
          </a:xfrm>
          <a:prstGeom prst="ellipse">
            <a:avLst/>
          </a:prstGeom>
          <a:solidFill>
            <a:srgbClr val="1E3246"/>
          </a:solidFill>
          <a:ln w="19050">
            <a:solidFill>
              <a:srgbClr val="F26B1D"/>
            </a:solidFill>
            <a:prstDash val="solid"/>
          </a:ln>
        </p:spPr>
      </p:sp>
      <p:pic>
        <p:nvPicPr>
          <p:cNvPr id="10" name="Image 1" descr="AI decides what">    </p:cNvPr>
          <p:cNvPicPr>
            <a:picLocks noChangeAspect="1"/>
          </p:cNvPicPr>
          <p:nvPr/>
        </p:nvPicPr>
        <p:blipFill>
          <a:blip r:embed="rId2"/>
          <a:stretch>
            <a:fillRect/>
          </a:stretch>
        </p:blipFill>
        <p:spPr>
          <a:xfrm>
            <a:off x="7818120" y="1600200"/>
            <a:ext cx="274320" cy="274320"/>
          </a:xfrm>
          <a:prstGeom prst="rect">
            <a:avLst/>
          </a:prstGeom>
        </p:spPr>
      </p:pic>
      <p:sp>
        <p:nvSpPr>
          <p:cNvPr id="11" name="row AI decides what"/>
          <p:cNvSpPr txBox="1"/>
          <p:nvPr/>
        </p:nvSpPr>
        <p:spPr>
          <a:xfrm>
            <a:off x="8412480" y="1417320"/>
            <a:ext cx="3246120" cy="868680"/>
          </a:xfrm>
          <a:prstGeom prst="rect">
            <a:avLst/>
          </a:prstGeom>
          <a:noFill/>
          <a:ln/>
        </p:spPr>
        <p:txBody>
          <a:bodyPr wrap="square" lIns="0" tIns="0" rIns="0" bIns="0" rtlCol="0" anchor="t"/>
          <a:lstStyle/>
          <a:p>
            <a:pPr indent="0" marL="0">
              <a:buNone/>
            </a:pPr>
            <a:r>
              <a:rPr lang="en-US" sz="1500" b="1" dirty="0">
                <a:solidFill>
                  <a:srgbClr val="FFFFFF"/>
                </a:solidFill>
              </a:rPr>
              <a:t>AI decides what</a:t>
            </a:r>
            <a:endParaRPr lang="en-US" sz="1500" dirty="0"/>
          </a:p>
          <a:p>
            <a:pPr indent="0" marL="0">
              <a:buNone/>
            </a:pPr>
            <a:r>
              <a:rPr lang="en-US" sz="1300" dirty="0">
                <a:solidFill>
                  <a:srgbClr val="E8EDF2"/>
                </a:solidFill>
              </a:rPr>
              <a:t>Assess, measure, plan — explains each decision in plain language</a:t>
            </a:r>
            <a:endParaRPr lang="en-US" sz="1500" dirty="0"/>
          </a:p>
        </p:txBody>
      </p:sp>
      <p:sp>
        <p:nvSpPr>
          <p:cNvPr id="12" name="icon circle Tested code decides how"/>
          <p:cNvSpPr/>
          <p:nvPr/>
        </p:nvSpPr>
        <p:spPr>
          <a:xfrm>
            <a:off x="7680960" y="2514600"/>
            <a:ext cx="548640" cy="548640"/>
          </a:xfrm>
          <a:prstGeom prst="ellipse">
            <a:avLst/>
          </a:prstGeom>
          <a:solidFill>
            <a:srgbClr val="1E3246"/>
          </a:solidFill>
          <a:ln w="19050">
            <a:solidFill>
              <a:srgbClr val="F26B1D"/>
            </a:solidFill>
            <a:prstDash val="solid"/>
          </a:ln>
        </p:spPr>
      </p:sp>
      <p:pic>
        <p:nvPicPr>
          <p:cNvPr id="13" name="Image 2" descr="Tested code decides how">    </p:cNvPr>
          <p:cNvPicPr>
            <a:picLocks noChangeAspect="1"/>
          </p:cNvPicPr>
          <p:nvPr/>
        </p:nvPicPr>
        <p:blipFill>
          <a:blip r:embed="rId3"/>
          <a:stretch>
            <a:fillRect/>
          </a:stretch>
        </p:blipFill>
        <p:spPr>
          <a:xfrm>
            <a:off x="7818120" y="2651760"/>
            <a:ext cx="274320" cy="274320"/>
          </a:xfrm>
          <a:prstGeom prst="rect">
            <a:avLst/>
          </a:prstGeom>
        </p:spPr>
      </p:pic>
      <p:sp>
        <p:nvSpPr>
          <p:cNvPr id="14" name="row Tested code decides how"/>
          <p:cNvSpPr txBox="1"/>
          <p:nvPr/>
        </p:nvSpPr>
        <p:spPr>
          <a:xfrm>
            <a:off x="8412480" y="2468880"/>
            <a:ext cx="3246120" cy="868680"/>
          </a:xfrm>
          <a:prstGeom prst="rect">
            <a:avLst/>
          </a:prstGeom>
          <a:noFill/>
          <a:ln/>
        </p:spPr>
        <p:txBody>
          <a:bodyPr wrap="square" lIns="0" tIns="0" rIns="0" bIns="0" rtlCol="0" anchor="t"/>
          <a:lstStyle/>
          <a:p>
            <a:pPr indent="0" marL="0">
              <a:buNone/>
            </a:pPr>
            <a:r>
              <a:rPr lang="en-US" sz="1500" b="1" dirty="0">
                <a:solidFill>
                  <a:srgbClr val="FFFFFF"/>
                </a:solidFill>
              </a:rPr>
              <a:t>Tested code decides how</a:t>
            </a:r>
            <a:endParaRPr lang="en-US" sz="1500" dirty="0"/>
          </a:p>
          <a:p>
            <a:pPr indent="0" marL="0">
              <a:buNone/>
            </a:pPr>
            <a:r>
              <a:rPr lang="en-US" sz="1300" dirty="0">
                <a:solidFill>
                  <a:srgbClr val="E8EDF2"/>
                </a:solidFill>
              </a:rPr>
              <a:t>4 safe tools: measure, plan route, fly, broadcast</a:t>
            </a:r>
            <a:endParaRPr lang="en-US" sz="1500" dirty="0"/>
          </a:p>
        </p:txBody>
      </p:sp>
      <p:sp>
        <p:nvSpPr>
          <p:cNvPr id="15" name="icon circle Safety check on every action"/>
          <p:cNvSpPr/>
          <p:nvPr/>
        </p:nvSpPr>
        <p:spPr>
          <a:xfrm>
            <a:off x="7680960" y="3566160"/>
            <a:ext cx="548640" cy="548640"/>
          </a:xfrm>
          <a:prstGeom prst="ellipse">
            <a:avLst/>
          </a:prstGeom>
          <a:solidFill>
            <a:srgbClr val="1E3246"/>
          </a:solidFill>
          <a:ln w="19050">
            <a:solidFill>
              <a:srgbClr val="F26B1D"/>
            </a:solidFill>
            <a:prstDash val="solid"/>
          </a:ln>
        </p:spPr>
      </p:sp>
      <p:pic>
        <p:nvPicPr>
          <p:cNvPr id="16" name="Image 3" descr="Safety check on every action">    </p:cNvPr>
          <p:cNvPicPr>
            <a:picLocks noChangeAspect="1"/>
          </p:cNvPicPr>
          <p:nvPr/>
        </p:nvPicPr>
        <p:blipFill>
          <a:blip r:embed="rId4"/>
          <a:stretch>
            <a:fillRect/>
          </a:stretch>
        </p:blipFill>
        <p:spPr>
          <a:xfrm>
            <a:off x="7818120" y="3703320"/>
            <a:ext cx="274320" cy="274320"/>
          </a:xfrm>
          <a:prstGeom prst="rect">
            <a:avLst/>
          </a:prstGeom>
        </p:spPr>
      </p:pic>
      <p:sp>
        <p:nvSpPr>
          <p:cNvPr id="17" name="row Safety check on every action"/>
          <p:cNvSpPr txBox="1"/>
          <p:nvPr/>
        </p:nvSpPr>
        <p:spPr>
          <a:xfrm>
            <a:off x="8412480" y="3520440"/>
            <a:ext cx="3246120" cy="868680"/>
          </a:xfrm>
          <a:prstGeom prst="rect">
            <a:avLst/>
          </a:prstGeom>
          <a:noFill/>
          <a:ln/>
        </p:spPr>
        <p:txBody>
          <a:bodyPr wrap="square" lIns="0" tIns="0" rIns="0" bIns="0" rtlCol="0" anchor="t"/>
          <a:lstStyle/>
          <a:p>
            <a:pPr indent="0" marL="0">
              <a:buNone/>
            </a:pPr>
            <a:r>
              <a:rPr lang="en-US" sz="1500" b="1" dirty="0">
                <a:solidFill>
                  <a:srgbClr val="FFFFFF"/>
                </a:solidFill>
              </a:rPr>
              <a:t>Safety check on every action</a:t>
            </a:r>
            <a:endParaRPr lang="en-US" sz="1500" dirty="0"/>
          </a:p>
          <a:p>
            <a:pPr indent="0" marL="0">
              <a:buNone/>
            </a:pPr>
            <a:r>
              <a:rPr lang="en-US" sz="1300" dirty="0">
                <a:solidFill>
                  <a:srgbClr val="E8EDF2"/>
                </a:solidFill>
              </a:rPr>
              <a:t>Battery reserve and limits — the AI never flies the drone</a:t>
            </a:r>
            <a:endParaRPr lang="en-US" sz="1500" dirty="0"/>
          </a:p>
        </p:txBody>
      </p:sp>
      <p:sp>
        <p:nvSpPr>
          <p:cNvPr id="18" name="stat card aborted"/>
          <p:cNvSpPr/>
          <p:nvPr/>
        </p:nvSpPr>
        <p:spPr>
          <a:xfrm>
            <a:off x="7680960" y="4754880"/>
            <a:ext cx="1874520" cy="1051560"/>
          </a:xfrm>
          <a:prstGeom prst="roundRect">
            <a:avLst>
              <a:gd name="adj" fmla="val 8696"/>
            </a:avLst>
          </a:prstGeom>
          <a:solidFill>
            <a:srgbClr val="1E3246"/>
          </a:solidFill>
          <a:ln w="12700">
            <a:solidFill>
              <a:srgbClr val="1E3246"/>
            </a:solidFill>
            <a:prstDash val="solid"/>
          </a:ln>
        </p:spPr>
      </p:sp>
      <p:sp>
        <p:nvSpPr>
          <p:cNvPr id="19" name="stat value aborted"/>
          <p:cNvSpPr txBox="1"/>
          <p:nvPr/>
        </p:nvSpPr>
        <p:spPr>
          <a:xfrm>
            <a:off x="7818120" y="4828032"/>
            <a:ext cx="1600200" cy="578358"/>
          </a:xfrm>
          <a:prstGeom prst="rect">
            <a:avLst/>
          </a:prstGeom>
          <a:noFill/>
          <a:ln/>
        </p:spPr>
        <p:txBody>
          <a:bodyPr wrap="square" lIns="0" tIns="0" rIns="0" bIns="0" rtlCol="0" anchor="b">
            <a:normAutofit/>
          </a:bodyPr>
          <a:lstStyle/>
          <a:p>
            <a:pPr indent="0" marL="0">
              <a:buNone/>
            </a:pPr>
            <a:r>
              <a:rPr lang="en-US" sz="2200" b="1" dirty="0">
                <a:solidFill>
                  <a:srgbClr val="FF5A5F"/>
                </a:solidFill>
              </a:rPr>
              <a:t>aborted</a:t>
            </a:r>
            <a:endParaRPr lang="en-US" sz="2200" dirty="0"/>
          </a:p>
        </p:txBody>
      </p:sp>
      <p:sp>
        <p:nvSpPr>
          <p:cNvPr id="20" name="stat label aborted"/>
          <p:cNvSpPr txBox="1"/>
          <p:nvPr/>
        </p:nvSpPr>
        <p:spPr>
          <a:xfrm>
            <a:off x="7818120" y="5424678"/>
            <a:ext cx="1600200" cy="310896"/>
          </a:xfrm>
          <a:prstGeom prst="rect">
            <a:avLst/>
          </a:prstGeom>
          <a:noFill/>
          <a:ln/>
        </p:spPr>
        <p:txBody>
          <a:bodyPr wrap="square" lIns="0" tIns="0" rIns="0" bIns="0" rtlCol="0" anchor="t"/>
          <a:lstStyle/>
          <a:p>
            <a:pPr indent="0" marL="0">
              <a:buNone/>
            </a:pPr>
            <a:r>
              <a:rPr lang="en-US" sz="1200" dirty="0">
                <a:solidFill>
                  <a:srgbClr val="E8EDF2"/>
                </a:solidFill>
              </a:rPr>
              <a:t>today: GPS lost → flies home</a:t>
            </a:r>
            <a:endParaRPr lang="en-US" sz="1200" dirty="0"/>
          </a:p>
        </p:txBody>
      </p:sp>
      <p:sp>
        <p:nvSpPr>
          <p:cNvPr id="21" name="stat card 8 m"/>
          <p:cNvSpPr/>
          <p:nvPr/>
        </p:nvSpPr>
        <p:spPr>
          <a:xfrm>
            <a:off x="9692640" y="4754880"/>
            <a:ext cx="1965960" cy="1051560"/>
          </a:xfrm>
          <a:prstGeom prst="roundRect">
            <a:avLst>
              <a:gd name="adj" fmla="val 8696"/>
            </a:avLst>
          </a:prstGeom>
          <a:solidFill>
            <a:srgbClr val="1E3246"/>
          </a:solidFill>
          <a:ln w="12700">
            <a:solidFill>
              <a:srgbClr val="1E3246"/>
            </a:solidFill>
            <a:prstDash val="solid"/>
          </a:ln>
        </p:spPr>
      </p:sp>
      <p:sp>
        <p:nvSpPr>
          <p:cNvPr id="22" name="stat value 8 m"/>
          <p:cNvSpPr txBox="1"/>
          <p:nvPr/>
        </p:nvSpPr>
        <p:spPr>
          <a:xfrm>
            <a:off x="9829800" y="4828032"/>
            <a:ext cx="1691640" cy="578358"/>
          </a:xfrm>
          <a:prstGeom prst="rect">
            <a:avLst/>
          </a:prstGeom>
          <a:noFill/>
          <a:ln/>
        </p:spPr>
        <p:txBody>
          <a:bodyPr wrap="square" lIns="0" tIns="0" rIns="0" bIns="0" rtlCol="0" anchor="b">
            <a:normAutofit/>
          </a:bodyPr>
          <a:lstStyle/>
          <a:p>
            <a:pPr indent="0" marL="0">
              <a:buNone/>
            </a:pPr>
            <a:r>
              <a:rPr lang="en-US" sz="2200" b="1" dirty="0">
                <a:solidFill>
                  <a:srgbClr val="34C77B"/>
                </a:solidFill>
              </a:rPr>
              <a:t>8 m</a:t>
            </a:r>
            <a:endParaRPr lang="en-US" sz="2200" dirty="0"/>
          </a:p>
        </p:txBody>
      </p:sp>
      <p:sp>
        <p:nvSpPr>
          <p:cNvPr id="23" name="stat label 8 m"/>
          <p:cNvSpPr txBox="1"/>
          <p:nvPr/>
        </p:nvSpPr>
        <p:spPr>
          <a:xfrm>
            <a:off x="9829800" y="5424678"/>
            <a:ext cx="1691640" cy="310896"/>
          </a:xfrm>
          <a:prstGeom prst="rect">
            <a:avLst/>
          </a:prstGeom>
          <a:noFill/>
          <a:ln/>
        </p:spPr>
        <p:txBody>
          <a:bodyPr wrap="square" lIns="0" tIns="0" rIns="0" bIns="0" rtlCol="0" anchor="t"/>
          <a:lstStyle/>
          <a:p>
            <a:pPr indent="0" marL="0">
              <a:buNone/>
            </a:pPr>
            <a:r>
              <a:rPr lang="en-US" sz="1200" dirty="0">
                <a:solidFill>
                  <a:srgbClr val="E8EDF2"/>
                </a:solidFill>
              </a:rPr>
              <a:t>from target: mission completed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One scout gets jammed — the swarm gets through</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Jamming radar: animated swarm reroute replay frame"/>
          <p:cNvSpPr/>
          <p:nvPr/>
        </p:nvSpPr>
        <p:spPr>
          <a:xfrm>
            <a:off x="530352" y="1307592"/>
            <a:ext cx="7443216" cy="4600956"/>
          </a:xfrm>
          <a:prstGeom prst="roundRect">
            <a:avLst>
              <a:gd name="adj" fmla="val 1590"/>
            </a:avLst>
          </a:prstGeom>
          <a:solidFill>
            <a:srgbClr val="FFFFFF"/>
          </a:solidFill>
          <a:ln w="12700">
            <a:solidFill>
              <a:srgbClr val="FFFFFF"/>
            </a:solidFill>
            <a:prstDash val="solid"/>
          </a:ln>
        </p:spPr>
      </p:sp>
      <p:pic>
        <p:nvPicPr>
          <p:cNvPr id="7" name="Jamming radar: animated swarm reroute replay" descr="Jamming radar: animated swarm reroute replay">    </p:cNvPr>
          <p:cNvPicPr>
            <a:picLocks noChangeAspect="1"/>
          </p:cNvPicPr>
          <p:nvPr/>
        </p:nvPicPr>
        <p:blipFill>
          <a:blip r:embed="rId1"/>
          <a:stretch>
            <a:fillRect/>
          </a:stretch>
        </p:blipFill>
        <p:spPr>
          <a:xfrm>
            <a:off x="594360" y="1371600"/>
            <a:ext cx="7315200" cy="4472940"/>
          </a:xfrm>
          <a:prstGeom prst="rect">
            <a:avLst/>
          </a:prstGeom>
        </p:spPr>
      </p:pic>
      <p:sp>
        <p:nvSpPr>
          <p:cNvPr id="8" name="caption"/>
          <p:cNvSpPr txBox="1"/>
          <p:nvPr/>
        </p:nvSpPr>
        <p:spPr>
          <a:xfrm>
            <a:off x="548640" y="5981700"/>
            <a:ext cx="7406640" cy="320040"/>
          </a:xfrm>
          <a:prstGeom prst="rect">
            <a:avLst/>
          </a:prstGeom>
          <a:noFill/>
          <a:ln/>
        </p:spPr>
        <p:txBody>
          <a:bodyPr wrap="square" lIns="0" tIns="0" rIns="0" bIns="0" rtlCol="0" anchor="t"/>
          <a:lstStyle/>
          <a:p>
            <a:pPr indent="0" marL="0">
              <a:buNone/>
            </a:pPr>
            <a:r>
              <a:rPr lang="en-US" sz="1100" i="1" dirty="0">
                <a:solidFill>
                  <a:srgbClr val="93A1B3"/>
                </a:solidFill>
              </a:rPr>
              <a:t>Flight-radar replay of our swarm simulation — drone expert Isabella's idea, built by Guled</a:t>
            </a:r>
            <a:endParaRPr lang="en-US" sz="1100" dirty="0"/>
          </a:p>
        </p:txBody>
      </p:sp>
      <p:sp>
        <p:nvSpPr>
          <p:cNvPr id="9" name="stat card 0 / 3"/>
          <p:cNvSpPr/>
          <p:nvPr/>
        </p:nvSpPr>
        <p:spPr>
          <a:xfrm>
            <a:off x="8412480" y="1371600"/>
            <a:ext cx="3246120" cy="960120"/>
          </a:xfrm>
          <a:prstGeom prst="roundRect">
            <a:avLst>
              <a:gd name="adj" fmla="val 9524"/>
            </a:avLst>
          </a:prstGeom>
          <a:solidFill>
            <a:srgbClr val="1E3246"/>
          </a:solidFill>
          <a:ln w="12700">
            <a:solidFill>
              <a:srgbClr val="1E3246"/>
            </a:solidFill>
            <a:prstDash val="solid"/>
          </a:ln>
        </p:spPr>
      </p:sp>
      <p:sp>
        <p:nvSpPr>
          <p:cNvPr id="10" name="stat value 0 / 3"/>
          <p:cNvSpPr txBox="1"/>
          <p:nvPr/>
        </p:nvSpPr>
        <p:spPr>
          <a:xfrm>
            <a:off x="8549640" y="1444752"/>
            <a:ext cx="2971800" cy="528066"/>
          </a:xfrm>
          <a:prstGeom prst="rect">
            <a:avLst/>
          </a:prstGeom>
          <a:noFill/>
          <a:ln/>
        </p:spPr>
        <p:txBody>
          <a:bodyPr wrap="square" lIns="0" tIns="0" rIns="0" bIns="0" rtlCol="0" anchor="b">
            <a:normAutofit/>
          </a:bodyPr>
          <a:lstStyle/>
          <a:p>
            <a:pPr indent="0" marL="0">
              <a:buNone/>
            </a:pPr>
            <a:r>
              <a:rPr lang="en-US" sz="2400" b="1" dirty="0">
                <a:solidFill>
                  <a:srgbClr val="FF5A5F"/>
                </a:solidFill>
              </a:rPr>
              <a:t>0 / 3</a:t>
            </a:r>
            <a:endParaRPr lang="en-US" sz="2400" dirty="0"/>
          </a:p>
        </p:txBody>
      </p:sp>
      <p:sp>
        <p:nvSpPr>
          <p:cNvPr id="11" name="stat label 0 / 3"/>
          <p:cNvSpPr txBox="1"/>
          <p:nvPr/>
        </p:nvSpPr>
        <p:spPr>
          <a:xfrm>
            <a:off x="8549640" y="1991106"/>
            <a:ext cx="2971800" cy="274320"/>
          </a:xfrm>
          <a:prstGeom prst="rect">
            <a:avLst/>
          </a:prstGeom>
          <a:noFill/>
          <a:ln/>
        </p:spPr>
        <p:txBody>
          <a:bodyPr wrap="square" lIns="0" tIns="0" rIns="0" bIns="0" rtlCol="0" anchor="t"/>
          <a:lstStyle/>
          <a:p>
            <a:pPr indent="0" marL="0">
              <a:buNone/>
            </a:pPr>
            <a:r>
              <a:rPr lang="en-US" sz="1200" dirty="0">
                <a:solidFill>
                  <a:srgbClr val="E8EDF2"/>
                </a:solidFill>
              </a:rPr>
              <a:t>reach the target today</a:t>
            </a:r>
            <a:endParaRPr lang="en-US" sz="1200" dirty="0"/>
          </a:p>
        </p:txBody>
      </p:sp>
      <p:sp>
        <p:nvSpPr>
          <p:cNvPr id="12" name="stat card 24 / 24"/>
          <p:cNvSpPr/>
          <p:nvPr/>
        </p:nvSpPr>
        <p:spPr>
          <a:xfrm>
            <a:off x="8412480" y="2468880"/>
            <a:ext cx="3246120" cy="960120"/>
          </a:xfrm>
          <a:prstGeom prst="roundRect">
            <a:avLst>
              <a:gd name="adj" fmla="val 9524"/>
            </a:avLst>
          </a:prstGeom>
          <a:solidFill>
            <a:srgbClr val="1E3246"/>
          </a:solidFill>
          <a:ln w="12700">
            <a:solidFill>
              <a:srgbClr val="1E3246"/>
            </a:solidFill>
            <a:prstDash val="solid"/>
          </a:ln>
        </p:spPr>
      </p:sp>
      <p:sp>
        <p:nvSpPr>
          <p:cNvPr id="13" name="stat value 24 / 24"/>
          <p:cNvSpPr txBox="1"/>
          <p:nvPr/>
        </p:nvSpPr>
        <p:spPr>
          <a:xfrm>
            <a:off x="8549640" y="2542032"/>
            <a:ext cx="2971800" cy="528066"/>
          </a:xfrm>
          <a:prstGeom prst="rect">
            <a:avLst/>
          </a:prstGeom>
          <a:noFill/>
          <a:ln/>
        </p:spPr>
        <p:txBody>
          <a:bodyPr wrap="square" lIns="0" tIns="0" rIns="0" bIns="0" rtlCol="0" anchor="b">
            <a:normAutofit/>
          </a:bodyPr>
          <a:lstStyle/>
          <a:p>
            <a:pPr indent="0" marL="0">
              <a:buNone/>
            </a:pPr>
            <a:r>
              <a:rPr lang="en-US" sz="2400" b="1" dirty="0">
                <a:solidFill>
                  <a:srgbClr val="34C77B"/>
                </a:solidFill>
              </a:rPr>
              <a:t>24 / 24</a:t>
            </a:r>
            <a:endParaRPr lang="en-US" sz="2400" dirty="0"/>
          </a:p>
        </p:txBody>
      </p:sp>
      <p:sp>
        <p:nvSpPr>
          <p:cNvPr id="14" name="stat label 24 / 24"/>
          <p:cNvSpPr txBox="1"/>
          <p:nvPr/>
        </p:nvSpPr>
        <p:spPr>
          <a:xfrm>
            <a:off x="8549640" y="3088386"/>
            <a:ext cx="2971800" cy="274320"/>
          </a:xfrm>
          <a:prstGeom prst="rect">
            <a:avLst/>
          </a:prstGeom>
          <a:noFill/>
          <a:ln/>
        </p:spPr>
        <p:txBody>
          <a:bodyPr wrap="square" lIns="0" tIns="0" rIns="0" bIns="0" rtlCol="0" anchor="t"/>
          <a:lstStyle/>
          <a:p>
            <a:pPr indent="0" marL="0">
              <a:buNone/>
            </a:pPr>
            <a:r>
              <a:rPr lang="en-US" sz="1200" dirty="0">
                <a:solidFill>
                  <a:srgbClr val="E8EDF2"/>
                </a:solidFill>
              </a:rPr>
              <a:t>with our swarm (8 random runs)</a:t>
            </a:r>
            <a:endParaRPr lang="en-US" sz="1200" dirty="0"/>
          </a:p>
        </p:txBody>
      </p:sp>
      <p:sp>
        <p:nvSpPr>
          <p:cNvPr id="15" name="stat card 16 s vs 68 s"/>
          <p:cNvSpPr/>
          <p:nvPr/>
        </p:nvSpPr>
        <p:spPr>
          <a:xfrm>
            <a:off x="8412480" y="3566160"/>
            <a:ext cx="3246120" cy="960120"/>
          </a:xfrm>
          <a:prstGeom prst="roundRect">
            <a:avLst>
              <a:gd name="adj" fmla="val 9524"/>
            </a:avLst>
          </a:prstGeom>
          <a:solidFill>
            <a:srgbClr val="1E3246"/>
          </a:solidFill>
          <a:ln w="12700">
            <a:solidFill>
              <a:srgbClr val="1E3246"/>
            </a:solidFill>
            <a:prstDash val="solid"/>
          </a:ln>
        </p:spPr>
      </p:sp>
      <p:sp>
        <p:nvSpPr>
          <p:cNvPr id="16" name="stat value 16 s vs 68 s"/>
          <p:cNvSpPr txBox="1"/>
          <p:nvPr/>
        </p:nvSpPr>
        <p:spPr>
          <a:xfrm>
            <a:off x="8549640" y="3639312"/>
            <a:ext cx="2971800" cy="528066"/>
          </a:xfrm>
          <a:prstGeom prst="rect">
            <a:avLst/>
          </a:prstGeom>
          <a:noFill/>
          <a:ln/>
        </p:spPr>
        <p:txBody>
          <a:bodyPr wrap="square" lIns="0" tIns="0" rIns="0" bIns="0" rtlCol="0" anchor="b">
            <a:normAutofit/>
          </a:bodyPr>
          <a:lstStyle/>
          <a:p>
            <a:pPr indent="0" marL="0">
              <a:buNone/>
            </a:pPr>
            <a:r>
              <a:rPr lang="en-US" sz="2400" b="1" dirty="0">
                <a:solidFill>
                  <a:srgbClr val="34C77B"/>
                </a:solidFill>
              </a:rPr>
              <a:t>16 s vs 68 s</a:t>
            </a:r>
            <a:endParaRPr lang="en-US" sz="2400" dirty="0"/>
          </a:p>
        </p:txBody>
      </p:sp>
      <p:sp>
        <p:nvSpPr>
          <p:cNvPr id="17" name="stat label 16 s vs 68 s"/>
          <p:cNvSpPr txBox="1"/>
          <p:nvPr/>
        </p:nvSpPr>
        <p:spPr>
          <a:xfrm>
            <a:off x="8549640" y="4185666"/>
            <a:ext cx="2971800" cy="274320"/>
          </a:xfrm>
          <a:prstGeom prst="rect">
            <a:avLst/>
          </a:prstGeom>
          <a:noFill/>
          <a:ln/>
        </p:spPr>
        <p:txBody>
          <a:bodyPr wrap="square" lIns="0" tIns="0" rIns="0" bIns="0" rtlCol="0" anchor="t"/>
          <a:lstStyle/>
          <a:p>
            <a:pPr indent="0" marL="0">
              <a:buNone/>
            </a:pPr>
            <a:r>
              <a:rPr lang="en-US" sz="1200" dirty="0">
                <a:solidFill>
                  <a:srgbClr val="E8EDF2"/>
                </a:solidFill>
              </a:rPr>
              <a:t>without GPS: swarm vs each alone</a:t>
            </a:r>
            <a:endParaRPr lang="en-US" sz="1200" dirty="0"/>
          </a:p>
        </p:txBody>
      </p:sp>
      <p:sp>
        <p:nvSpPr>
          <p:cNvPr id="18" name="stat card −16 %"/>
          <p:cNvSpPr/>
          <p:nvPr/>
        </p:nvSpPr>
        <p:spPr>
          <a:xfrm>
            <a:off x="8412480" y="4663440"/>
            <a:ext cx="3246120" cy="960120"/>
          </a:xfrm>
          <a:prstGeom prst="roundRect">
            <a:avLst>
              <a:gd name="adj" fmla="val 9524"/>
            </a:avLst>
          </a:prstGeom>
          <a:solidFill>
            <a:srgbClr val="1E3246"/>
          </a:solidFill>
          <a:ln w="12700">
            <a:solidFill>
              <a:srgbClr val="1E3246"/>
            </a:solidFill>
            <a:prstDash val="solid"/>
          </a:ln>
        </p:spPr>
      </p:sp>
      <p:sp>
        <p:nvSpPr>
          <p:cNvPr id="19" name="stat value −16 %"/>
          <p:cNvSpPr txBox="1"/>
          <p:nvPr/>
        </p:nvSpPr>
        <p:spPr>
          <a:xfrm>
            <a:off x="8549640" y="4736592"/>
            <a:ext cx="2971800" cy="528066"/>
          </a:xfrm>
          <a:prstGeom prst="rect">
            <a:avLst/>
          </a:prstGeom>
          <a:noFill/>
          <a:ln/>
        </p:spPr>
        <p:txBody>
          <a:bodyPr wrap="square" lIns="0" tIns="0" rIns="0" bIns="0" rtlCol="0" anchor="b">
            <a:normAutofit/>
          </a:bodyPr>
          <a:lstStyle/>
          <a:p>
            <a:pPr indent="0" marL="0">
              <a:buNone/>
            </a:pPr>
            <a:r>
              <a:rPr lang="en-US" sz="2400" b="1" dirty="0">
                <a:solidFill>
                  <a:srgbClr val="34C77B"/>
                </a:solidFill>
              </a:rPr>
              <a:t>−16 %</a:t>
            </a:r>
            <a:endParaRPr lang="en-US" sz="2400" dirty="0"/>
          </a:p>
        </p:txBody>
      </p:sp>
      <p:sp>
        <p:nvSpPr>
          <p:cNvPr id="20" name="stat label −16 %"/>
          <p:cNvSpPr txBox="1"/>
          <p:nvPr/>
        </p:nvSpPr>
        <p:spPr>
          <a:xfrm>
            <a:off x="8549640" y="5282946"/>
            <a:ext cx="2971800" cy="274320"/>
          </a:xfrm>
          <a:prstGeom prst="rect">
            <a:avLst/>
          </a:prstGeom>
          <a:noFill/>
          <a:ln/>
        </p:spPr>
        <p:txBody>
          <a:bodyPr wrap="square" lIns="0" tIns="0" rIns="0" bIns="0" rtlCol="0" anchor="t"/>
          <a:lstStyle/>
          <a:p>
            <a:pPr indent="0" marL="0">
              <a:buNone/>
            </a:pPr>
            <a:r>
              <a:rPr lang="en-US" sz="1200" dirty="0">
                <a:solidFill>
                  <a:srgbClr val="E8EDF2"/>
                </a:solidFill>
              </a:rPr>
              <a:t>mission time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Live: 3 real PX4 autopilots fly the mission in Gazebo</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PROGRESS</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Animated time-lapse of the live PX4 mission in Gazebo frame"/>
          <p:cNvSpPr/>
          <p:nvPr/>
        </p:nvSpPr>
        <p:spPr>
          <a:xfrm>
            <a:off x="530352" y="1307592"/>
            <a:ext cx="5020056" cy="3445431"/>
          </a:xfrm>
          <a:prstGeom prst="roundRect">
            <a:avLst>
              <a:gd name="adj" fmla="val 2123"/>
            </a:avLst>
          </a:prstGeom>
          <a:solidFill>
            <a:srgbClr val="FFFFFF"/>
          </a:solidFill>
          <a:ln w="12700">
            <a:solidFill>
              <a:srgbClr val="FFFFFF"/>
            </a:solidFill>
            <a:prstDash val="solid"/>
          </a:ln>
        </p:spPr>
      </p:sp>
      <p:pic>
        <p:nvPicPr>
          <p:cNvPr id="7" name="Animated time-lapse of the live PX4 mission in Gazebo" descr="Animated time-lapse of the live PX4 mission in Gazebo">    </p:cNvPr>
          <p:cNvPicPr>
            <a:picLocks noChangeAspect="1"/>
          </p:cNvPicPr>
          <p:nvPr/>
        </p:nvPicPr>
        <p:blipFill>
          <a:blip r:embed="rId1"/>
          <a:stretch>
            <a:fillRect/>
          </a:stretch>
        </p:blipFill>
        <p:spPr>
          <a:xfrm>
            <a:off x="594360" y="1371600"/>
            <a:ext cx="4892040" cy="3317415"/>
          </a:xfrm>
          <a:prstGeom prst="rect">
            <a:avLst/>
          </a:prstGeom>
        </p:spPr>
      </p:pic>
      <p:sp>
        <p:nvSpPr>
          <p:cNvPr id="8" name="caption"/>
          <p:cNvSpPr txBox="1"/>
          <p:nvPr/>
        </p:nvSpPr>
        <p:spPr>
          <a:xfrm>
            <a:off x="548640" y="4798743"/>
            <a:ext cx="5349240" cy="320040"/>
          </a:xfrm>
          <a:prstGeom prst="rect">
            <a:avLst/>
          </a:prstGeom>
          <a:noFill/>
          <a:ln/>
        </p:spPr>
        <p:txBody>
          <a:bodyPr wrap="square" lIns="0" tIns="0" rIns="0" bIns="0" rtlCol="0" anchor="t"/>
          <a:lstStyle/>
          <a:p>
            <a:pPr indent="0" marL="0">
              <a:buNone/>
            </a:pPr>
            <a:r>
              <a:rPr lang="en-US" sz="1100" i="1" dirty="0">
                <a:solidFill>
                  <a:srgbClr val="93A1B3"/>
                </a:solidFill>
              </a:rPr>
              <a:t>Recorded live from Gazebo (time-lapse). Sharper video: media/gazebo_mission.mp4</a:t>
            </a:r>
            <a:endParaRPr lang="en-US" sz="1100" dirty="0"/>
          </a:p>
        </p:txBody>
      </p:sp>
      <p:sp>
        <p:nvSpPr>
          <p:cNvPr id="9" name="Mission app after a live run frame"/>
          <p:cNvSpPr/>
          <p:nvPr/>
        </p:nvSpPr>
        <p:spPr>
          <a:xfrm>
            <a:off x="5833872" y="1307592"/>
            <a:ext cx="5843016" cy="3593887"/>
          </a:xfrm>
          <a:prstGeom prst="roundRect">
            <a:avLst>
              <a:gd name="adj" fmla="val 2035"/>
            </a:avLst>
          </a:prstGeom>
          <a:solidFill>
            <a:srgbClr val="FFFFFF"/>
          </a:solidFill>
          <a:ln w="12700">
            <a:solidFill>
              <a:srgbClr val="FFFFFF"/>
            </a:solidFill>
            <a:prstDash val="solid"/>
          </a:ln>
        </p:spPr>
      </p:sp>
      <p:pic>
        <p:nvPicPr>
          <p:cNvPr id="10" name="Mission app after a live run" descr="Mission app after a live run">    </p:cNvPr>
          <p:cNvPicPr>
            <a:picLocks noChangeAspect="1"/>
          </p:cNvPicPr>
          <p:nvPr/>
        </p:nvPicPr>
        <p:blipFill>
          <a:blip r:embed="rId2"/>
          <a:stretch>
            <a:fillRect/>
          </a:stretch>
        </p:blipFill>
        <p:spPr>
          <a:xfrm>
            <a:off x="5897880" y="1371600"/>
            <a:ext cx="5715000" cy="3465871"/>
          </a:xfrm>
          <a:prstGeom prst="rect">
            <a:avLst/>
          </a:prstGeom>
        </p:spPr>
      </p:pic>
      <p:sp>
        <p:nvSpPr>
          <p:cNvPr id="11" name="caption"/>
          <p:cNvSpPr txBox="1"/>
          <p:nvPr/>
        </p:nvSpPr>
        <p:spPr>
          <a:xfrm>
            <a:off x="5852160" y="4947199"/>
            <a:ext cx="5806440" cy="320040"/>
          </a:xfrm>
          <a:prstGeom prst="rect">
            <a:avLst/>
          </a:prstGeom>
          <a:noFill/>
          <a:ln/>
        </p:spPr>
        <p:txBody>
          <a:bodyPr wrap="square" lIns="0" tIns="0" rIns="0" bIns="0" rtlCol="0" anchor="t"/>
          <a:lstStyle/>
          <a:p>
            <a:pPr indent="0" marL="0">
              <a:buNone/>
            </a:pPr>
            <a:r>
              <a:rPr lang="en-US" sz="1100" i="1" dirty="0">
                <a:solidFill>
                  <a:srgbClr val="93A1B3"/>
                </a:solidFill>
              </a:rPr>
              <a:t>Our mission app: every drone's position, GPS state and the shared danger zone</a:t>
            </a:r>
            <a:endParaRPr lang="en-US" sz="1100" dirty="0"/>
          </a:p>
        </p:txBody>
      </p:sp>
      <p:sp>
        <p:nvSpPr>
          <p:cNvPr id="12" name="stat card 1 / 3"/>
          <p:cNvSpPr/>
          <p:nvPr/>
        </p:nvSpPr>
        <p:spPr>
          <a:xfrm>
            <a:off x="548640" y="5166360"/>
            <a:ext cx="2743200" cy="1051560"/>
          </a:xfrm>
          <a:prstGeom prst="roundRect">
            <a:avLst>
              <a:gd name="adj" fmla="val 8696"/>
            </a:avLst>
          </a:prstGeom>
          <a:solidFill>
            <a:srgbClr val="1E3246"/>
          </a:solidFill>
          <a:ln w="12700">
            <a:solidFill>
              <a:srgbClr val="1E3246"/>
            </a:solidFill>
            <a:prstDash val="solid"/>
          </a:ln>
        </p:spPr>
      </p:sp>
      <p:sp>
        <p:nvSpPr>
          <p:cNvPr id="13" name="stat value 1 / 3"/>
          <p:cNvSpPr txBox="1"/>
          <p:nvPr/>
        </p:nvSpPr>
        <p:spPr>
          <a:xfrm>
            <a:off x="685800" y="5239512"/>
            <a:ext cx="2468880" cy="578358"/>
          </a:xfrm>
          <a:prstGeom prst="rect">
            <a:avLst/>
          </a:prstGeom>
          <a:noFill/>
          <a:ln/>
        </p:spPr>
        <p:txBody>
          <a:bodyPr wrap="square" lIns="0" tIns="0" rIns="0" bIns="0" rtlCol="0" anchor="b">
            <a:normAutofit/>
          </a:bodyPr>
          <a:lstStyle/>
          <a:p>
            <a:pPr indent="0" marL="0">
              <a:buNone/>
            </a:pPr>
            <a:r>
              <a:rPr lang="en-US" sz="2400" b="1" dirty="0">
                <a:solidFill>
                  <a:srgbClr val="F5C451"/>
                </a:solidFill>
              </a:rPr>
              <a:t>1 / 3</a:t>
            </a:r>
            <a:endParaRPr lang="en-US" sz="2400" dirty="0"/>
          </a:p>
        </p:txBody>
      </p:sp>
      <p:sp>
        <p:nvSpPr>
          <p:cNvPr id="14" name="stat label 1 / 3"/>
          <p:cNvSpPr txBox="1"/>
          <p:nvPr/>
        </p:nvSpPr>
        <p:spPr>
          <a:xfrm>
            <a:off x="685800" y="5836158"/>
            <a:ext cx="2468880" cy="310896"/>
          </a:xfrm>
          <a:prstGeom prst="rect">
            <a:avLst/>
          </a:prstGeom>
          <a:noFill/>
          <a:ln/>
        </p:spPr>
        <p:txBody>
          <a:bodyPr wrap="square" lIns="0" tIns="0" rIns="0" bIns="0" rtlCol="0" anchor="t"/>
          <a:lstStyle/>
          <a:p>
            <a:pPr indent="0" marL="0">
              <a:buNone/>
            </a:pPr>
            <a:r>
              <a:rPr lang="en-US" sz="1200" dirty="0">
                <a:solidFill>
                  <a:srgbClr val="E8EDF2"/>
                </a:solidFill>
              </a:rPr>
              <a:t>drones ever jammed (the scout)</a:t>
            </a:r>
            <a:endParaRPr lang="en-US" sz="1200" dirty="0"/>
          </a:p>
        </p:txBody>
      </p:sp>
      <p:sp>
        <p:nvSpPr>
          <p:cNvPr id="15" name="stat card 3 / 3"/>
          <p:cNvSpPr/>
          <p:nvPr/>
        </p:nvSpPr>
        <p:spPr>
          <a:xfrm>
            <a:off x="3429000" y="5166360"/>
            <a:ext cx="2743200" cy="1051560"/>
          </a:xfrm>
          <a:prstGeom prst="roundRect">
            <a:avLst>
              <a:gd name="adj" fmla="val 8696"/>
            </a:avLst>
          </a:prstGeom>
          <a:solidFill>
            <a:srgbClr val="1E3246"/>
          </a:solidFill>
          <a:ln w="12700">
            <a:solidFill>
              <a:srgbClr val="1E3246"/>
            </a:solidFill>
            <a:prstDash val="solid"/>
          </a:ln>
        </p:spPr>
      </p:sp>
      <p:sp>
        <p:nvSpPr>
          <p:cNvPr id="16" name="stat value 3 / 3"/>
          <p:cNvSpPr txBox="1"/>
          <p:nvPr/>
        </p:nvSpPr>
        <p:spPr>
          <a:xfrm>
            <a:off x="3566160" y="5239512"/>
            <a:ext cx="2468880" cy="578358"/>
          </a:xfrm>
          <a:prstGeom prst="rect">
            <a:avLst/>
          </a:prstGeom>
          <a:noFill/>
          <a:ln/>
        </p:spPr>
        <p:txBody>
          <a:bodyPr wrap="square" lIns="0" tIns="0" rIns="0" bIns="0" rtlCol="0" anchor="b">
            <a:normAutofit/>
          </a:bodyPr>
          <a:lstStyle/>
          <a:p>
            <a:pPr indent="0" marL="0">
              <a:buNone/>
            </a:pPr>
            <a:r>
              <a:rPr lang="en-US" sz="2400" b="1" dirty="0">
                <a:solidFill>
                  <a:srgbClr val="34C77B"/>
                </a:solidFill>
              </a:rPr>
              <a:t>3 / 3</a:t>
            </a:r>
            <a:endParaRPr lang="en-US" sz="2400" dirty="0"/>
          </a:p>
        </p:txBody>
      </p:sp>
      <p:sp>
        <p:nvSpPr>
          <p:cNvPr id="17" name="stat label 3 / 3"/>
          <p:cNvSpPr txBox="1"/>
          <p:nvPr/>
        </p:nvSpPr>
        <p:spPr>
          <a:xfrm>
            <a:off x="3566160" y="5836158"/>
            <a:ext cx="2468880" cy="310896"/>
          </a:xfrm>
          <a:prstGeom prst="rect">
            <a:avLst/>
          </a:prstGeom>
          <a:noFill/>
          <a:ln/>
        </p:spPr>
        <p:txBody>
          <a:bodyPr wrap="square" lIns="0" tIns="0" rIns="0" bIns="0" rtlCol="0" anchor="t"/>
          <a:lstStyle/>
          <a:p>
            <a:pPr indent="0" marL="0">
              <a:buNone/>
            </a:pPr>
            <a:r>
              <a:rPr lang="en-US" sz="1200" dirty="0">
                <a:solidFill>
                  <a:srgbClr val="E8EDF2"/>
                </a:solidFill>
              </a:rPr>
              <a:t>on station at the target</a:t>
            </a:r>
            <a:endParaRPr lang="en-US" sz="1200" dirty="0"/>
          </a:p>
        </p:txBody>
      </p:sp>
      <p:sp>
        <p:nvSpPr>
          <p:cNvPr id="18" name="stat card 33–38 m"/>
          <p:cNvSpPr/>
          <p:nvPr/>
        </p:nvSpPr>
        <p:spPr>
          <a:xfrm>
            <a:off x="6263640" y="5166360"/>
            <a:ext cx="2606040" cy="1051560"/>
          </a:xfrm>
          <a:prstGeom prst="roundRect">
            <a:avLst>
              <a:gd name="adj" fmla="val 8696"/>
            </a:avLst>
          </a:prstGeom>
          <a:solidFill>
            <a:srgbClr val="1E3246"/>
          </a:solidFill>
          <a:ln w="12700">
            <a:solidFill>
              <a:srgbClr val="1E3246"/>
            </a:solidFill>
            <a:prstDash val="solid"/>
          </a:ln>
        </p:spPr>
      </p:sp>
      <p:sp>
        <p:nvSpPr>
          <p:cNvPr id="19" name="stat value 33–38 m"/>
          <p:cNvSpPr txBox="1"/>
          <p:nvPr/>
        </p:nvSpPr>
        <p:spPr>
          <a:xfrm>
            <a:off x="6400800" y="5239512"/>
            <a:ext cx="2331720" cy="578358"/>
          </a:xfrm>
          <a:prstGeom prst="rect">
            <a:avLst/>
          </a:prstGeom>
          <a:noFill/>
          <a:ln/>
        </p:spPr>
        <p:txBody>
          <a:bodyPr wrap="square" lIns="0" tIns="0" rIns="0" bIns="0" rtlCol="0" anchor="b">
            <a:normAutofit/>
          </a:bodyPr>
          <a:lstStyle/>
          <a:p>
            <a:pPr indent="0" marL="0">
              <a:buNone/>
            </a:pPr>
            <a:r>
              <a:rPr lang="en-US" sz="2400" b="1" dirty="0">
                <a:solidFill>
                  <a:srgbClr val="5AB4F0"/>
                </a:solidFill>
              </a:rPr>
              <a:t>33–38 m</a:t>
            </a:r>
            <a:endParaRPr lang="en-US" sz="2400" dirty="0"/>
          </a:p>
        </p:txBody>
      </p:sp>
      <p:sp>
        <p:nvSpPr>
          <p:cNvPr id="20" name="stat label 33–38 m"/>
          <p:cNvSpPr txBox="1"/>
          <p:nvPr/>
        </p:nvSpPr>
        <p:spPr>
          <a:xfrm>
            <a:off x="6400800" y="5836158"/>
            <a:ext cx="2331720" cy="310896"/>
          </a:xfrm>
          <a:prstGeom prst="rect">
            <a:avLst/>
          </a:prstGeom>
          <a:noFill/>
          <a:ln/>
        </p:spPr>
        <p:txBody>
          <a:bodyPr wrap="square" lIns="0" tIns="0" rIns="0" bIns="0" rtlCol="0" anchor="t"/>
          <a:lstStyle/>
          <a:p>
            <a:pPr indent="0" marL="0">
              <a:buNone/>
            </a:pPr>
            <a:r>
              <a:rPr lang="en-US" sz="1200" dirty="0">
                <a:solidFill>
                  <a:srgbClr val="E8EDF2"/>
                </a:solidFill>
              </a:rPr>
              <a:t>stand-off, never inside the building</a:t>
            </a:r>
            <a:endParaRPr lang="en-US" sz="1200" dirty="0"/>
          </a:p>
        </p:txBody>
      </p:sp>
      <p:sp>
        <p:nvSpPr>
          <p:cNvPr id="21" name="stat card 7"/>
          <p:cNvSpPr/>
          <p:nvPr/>
        </p:nvSpPr>
        <p:spPr>
          <a:xfrm>
            <a:off x="9006840" y="5166360"/>
            <a:ext cx="2651760" cy="1051560"/>
          </a:xfrm>
          <a:prstGeom prst="roundRect">
            <a:avLst>
              <a:gd name="adj" fmla="val 8696"/>
            </a:avLst>
          </a:prstGeom>
          <a:solidFill>
            <a:srgbClr val="1E3246"/>
          </a:solidFill>
          <a:ln w="12700">
            <a:solidFill>
              <a:srgbClr val="1E3246"/>
            </a:solidFill>
            <a:prstDash val="solid"/>
          </a:ln>
        </p:spPr>
      </p:sp>
      <p:sp>
        <p:nvSpPr>
          <p:cNvPr id="22" name="stat value 7"/>
          <p:cNvSpPr txBox="1"/>
          <p:nvPr/>
        </p:nvSpPr>
        <p:spPr>
          <a:xfrm>
            <a:off x="9144000" y="5239512"/>
            <a:ext cx="2377440" cy="578358"/>
          </a:xfrm>
          <a:prstGeom prst="rect">
            <a:avLst/>
          </a:prstGeom>
          <a:noFill/>
          <a:ln/>
        </p:spPr>
        <p:txBody>
          <a:bodyPr wrap="square" lIns="0" tIns="0" rIns="0" bIns="0" rtlCol="0" anchor="b">
            <a:normAutofit/>
          </a:bodyPr>
          <a:lstStyle/>
          <a:p>
            <a:pPr indent="0" marL="0">
              <a:buNone/>
            </a:pPr>
            <a:r>
              <a:rPr lang="en-US" sz="2400" b="1" dirty="0">
                <a:solidFill>
                  <a:srgbClr val="5AB4F0"/>
                </a:solidFill>
              </a:rPr>
              <a:t>7</a:t>
            </a:r>
            <a:endParaRPr lang="en-US" sz="2400" dirty="0"/>
          </a:p>
        </p:txBody>
      </p:sp>
      <p:sp>
        <p:nvSpPr>
          <p:cNvPr id="23" name="stat label 7"/>
          <p:cNvSpPr txBox="1"/>
          <p:nvPr/>
        </p:nvSpPr>
        <p:spPr>
          <a:xfrm>
            <a:off x="9144000" y="5836158"/>
            <a:ext cx="2377440" cy="310896"/>
          </a:xfrm>
          <a:prstGeom prst="rect">
            <a:avLst/>
          </a:prstGeom>
          <a:noFill/>
          <a:ln/>
        </p:spPr>
        <p:txBody>
          <a:bodyPr wrap="square" lIns="0" tIns="0" rIns="0" bIns="0" rtlCol="0" anchor="t"/>
          <a:lstStyle/>
          <a:p>
            <a:pPr indent="0" marL="0">
              <a:buNone/>
            </a:pPr>
            <a:r>
              <a:rPr lang="en-US" sz="1200" dirty="0">
                <a:solidFill>
                  <a:srgbClr val="E8EDF2"/>
                </a:solidFill>
              </a:rPr>
              <a:t>live test runs to get it working</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We attacked our own system: fake warnings</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Fake-report attack and defence frame"/>
          <p:cNvSpPr/>
          <p:nvPr/>
        </p:nvSpPr>
        <p:spPr>
          <a:xfrm>
            <a:off x="530352" y="1353312"/>
            <a:ext cx="8129016" cy="2947416"/>
          </a:xfrm>
          <a:prstGeom prst="roundRect">
            <a:avLst>
              <a:gd name="adj" fmla="val 2482"/>
            </a:avLst>
          </a:prstGeom>
          <a:solidFill>
            <a:srgbClr val="FFFFFF"/>
          </a:solidFill>
          <a:ln w="12700">
            <a:solidFill>
              <a:srgbClr val="FFFFFF"/>
            </a:solidFill>
            <a:prstDash val="solid"/>
          </a:ln>
        </p:spPr>
      </p:sp>
      <p:pic>
        <p:nvPicPr>
          <p:cNvPr id="7" name="Fake-report attack and defence" descr="Fake-report attack and defence">    </p:cNvPr>
          <p:cNvPicPr>
            <a:picLocks noChangeAspect="1"/>
          </p:cNvPicPr>
          <p:nvPr/>
        </p:nvPicPr>
        <p:blipFill>
          <a:blip r:embed="rId1"/>
          <a:stretch>
            <a:fillRect/>
          </a:stretch>
        </p:blipFill>
        <p:spPr>
          <a:xfrm>
            <a:off x="594360" y="1417320"/>
            <a:ext cx="8001000" cy="2819400"/>
          </a:xfrm>
          <a:prstGeom prst="rect">
            <a:avLst/>
          </a:prstGeom>
        </p:spPr>
      </p:pic>
      <p:sp>
        <p:nvSpPr>
          <p:cNvPr id="8" name="Text 5"/>
          <p:cNvSpPr txBox="1"/>
          <p:nvPr/>
        </p:nvSpPr>
        <p:spPr>
          <a:xfrm>
            <a:off x="548640" y="4556760"/>
            <a:ext cx="8046720" cy="914400"/>
          </a:xfrm>
          <a:prstGeom prst="rect">
            <a:avLst/>
          </a:prstGeom>
          <a:noFill/>
          <a:ln/>
        </p:spPr>
        <p:txBody>
          <a:bodyPr wrap="square" lIns="0" tIns="0" rIns="0" bIns="0" rtlCol="0" anchor="t"/>
          <a:lstStyle/>
          <a:p>
            <a:pPr indent="0" marL="0">
              <a:buNone/>
            </a:pPr>
            <a:r>
              <a:rPr lang="en-US" sz="2200" b="1" i="1" dirty="0">
                <a:solidFill>
                  <a:srgbClr val="F26B1D"/>
                </a:solidFill>
              </a:rPr>
              <a:t>“A warning is cheap to believe.</a:t>
            </a:r>
            <a:endParaRPr lang="en-US" sz="2200" dirty="0"/>
          </a:p>
          <a:p>
            <a:pPr indent="0" marL="0">
              <a:buNone/>
            </a:pPr>
            <a:r>
              <a:rPr lang="en-US" sz="2200" b="1" i="1" dirty="0">
                <a:solidFill>
                  <a:srgbClr val="F26B1D"/>
                </a:solidFill>
              </a:rPr>
              <a:t>An all-clear must be proven.”</a:t>
            </a:r>
            <a:endParaRPr lang="en-US" sz="2200" dirty="0"/>
          </a:p>
        </p:txBody>
      </p:sp>
      <p:sp>
        <p:nvSpPr>
          <p:cNvPr id="9" name="Text 6"/>
          <p:cNvSpPr txBox="1"/>
          <p:nvPr/>
        </p:nvSpPr>
        <p:spPr>
          <a:xfrm>
            <a:off x="548640" y="5516880"/>
            <a:ext cx="8046720" cy="411480"/>
          </a:xfrm>
          <a:prstGeom prst="rect">
            <a:avLst/>
          </a:prstGeom>
          <a:noFill/>
          <a:ln/>
        </p:spPr>
        <p:txBody>
          <a:bodyPr wrap="square" lIns="0" tIns="0" rIns="0" bIns="0" rtlCol="0" anchor="ctr"/>
          <a:lstStyle/>
          <a:p>
            <a:pPr indent="0" marL="0">
              <a:buNone/>
            </a:pPr>
            <a:r>
              <a:rPr lang="en-US" sz="1300" dirty="0">
                <a:solidFill>
                  <a:srgbClr val="E8EDF2"/>
                </a:solidFill>
              </a:rPr>
              <a:t>Share measurements, never commands · check every report against physics and real GPS-loss evidence</a:t>
            </a:r>
            <a:endParaRPr lang="en-US" sz="1300" dirty="0"/>
          </a:p>
        </p:txBody>
      </p:sp>
      <p:sp>
        <p:nvSpPr>
          <p:cNvPr id="10" name="stat card 9 → 1"/>
          <p:cNvSpPr/>
          <p:nvPr/>
        </p:nvSpPr>
        <p:spPr>
          <a:xfrm>
            <a:off x="9006840" y="1417320"/>
            <a:ext cx="2651760" cy="1143000"/>
          </a:xfrm>
          <a:prstGeom prst="roundRect">
            <a:avLst>
              <a:gd name="adj" fmla="val 8000"/>
            </a:avLst>
          </a:prstGeom>
          <a:solidFill>
            <a:srgbClr val="1E3246"/>
          </a:solidFill>
          <a:ln w="12700">
            <a:solidFill>
              <a:srgbClr val="1E3246"/>
            </a:solidFill>
            <a:prstDash val="solid"/>
          </a:ln>
        </p:spPr>
      </p:sp>
      <p:sp>
        <p:nvSpPr>
          <p:cNvPr id="11" name="stat value 9 → 1"/>
          <p:cNvSpPr txBox="1"/>
          <p:nvPr/>
        </p:nvSpPr>
        <p:spPr>
          <a:xfrm>
            <a:off x="9144000" y="1490472"/>
            <a:ext cx="2377440" cy="628650"/>
          </a:xfrm>
          <a:prstGeom prst="rect">
            <a:avLst/>
          </a:prstGeom>
          <a:noFill/>
          <a:ln/>
        </p:spPr>
        <p:txBody>
          <a:bodyPr wrap="square" lIns="0" tIns="0" rIns="0" bIns="0" rtlCol="0" anchor="b">
            <a:normAutofit/>
          </a:bodyPr>
          <a:lstStyle/>
          <a:p>
            <a:pPr indent="0" marL="0">
              <a:buNone/>
            </a:pPr>
            <a:r>
              <a:rPr lang="en-US" sz="2800" b="1" dirty="0">
                <a:solidFill>
                  <a:srgbClr val="34C77B"/>
                </a:solidFill>
              </a:rPr>
              <a:t>9 → 1</a:t>
            </a:r>
            <a:endParaRPr lang="en-US" sz="2800" dirty="0"/>
          </a:p>
        </p:txBody>
      </p:sp>
      <p:sp>
        <p:nvSpPr>
          <p:cNvPr id="12" name="stat label 9 → 1"/>
          <p:cNvSpPr txBox="1"/>
          <p:nvPr/>
        </p:nvSpPr>
        <p:spPr>
          <a:xfrm>
            <a:off x="9144000" y="2137410"/>
            <a:ext cx="2377440" cy="347472"/>
          </a:xfrm>
          <a:prstGeom prst="rect">
            <a:avLst/>
          </a:prstGeom>
          <a:noFill/>
          <a:ln/>
        </p:spPr>
        <p:txBody>
          <a:bodyPr wrap="square" lIns="0" tIns="0" rIns="0" bIns="0" rtlCol="0" anchor="t"/>
          <a:lstStyle/>
          <a:p>
            <a:pPr indent="0" marL="0">
              <a:buNone/>
            </a:pPr>
            <a:r>
              <a:rPr lang="en-US" sz="1200" dirty="0">
                <a:solidFill>
                  <a:srgbClr val="E8EDF2"/>
                </a:solidFill>
              </a:rPr>
              <a:t>drones lured into the jammer: no defence vs ours (6 runs)</a:t>
            </a:r>
            <a:endParaRPr lang="en-US" sz="1200" dirty="0"/>
          </a:p>
        </p:txBody>
      </p:sp>
      <p:sp>
        <p:nvSpPr>
          <p:cNvPr id="13" name="stat card 6 / 6"/>
          <p:cNvSpPr/>
          <p:nvPr/>
        </p:nvSpPr>
        <p:spPr>
          <a:xfrm>
            <a:off x="9006840" y="2743200"/>
            <a:ext cx="2651760" cy="1143000"/>
          </a:xfrm>
          <a:prstGeom prst="roundRect">
            <a:avLst>
              <a:gd name="adj" fmla="val 8000"/>
            </a:avLst>
          </a:prstGeom>
          <a:solidFill>
            <a:srgbClr val="1E3246"/>
          </a:solidFill>
          <a:ln w="12700">
            <a:solidFill>
              <a:srgbClr val="1E3246"/>
            </a:solidFill>
            <a:prstDash val="solid"/>
          </a:ln>
        </p:spPr>
      </p:sp>
      <p:sp>
        <p:nvSpPr>
          <p:cNvPr id="14" name="stat value 6 / 6"/>
          <p:cNvSpPr txBox="1"/>
          <p:nvPr/>
        </p:nvSpPr>
        <p:spPr>
          <a:xfrm>
            <a:off x="9144000" y="2816352"/>
            <a:ext cx="2377440" cy="628650"/>
          </a:xfrm>
          <a:prstGeom prst="rect">
            <a:avLst/>
          </a:prstGeom>
          <a:noFill/>
          <a:ln/>
        </p:spPr>
        <p:txBody>
          <a:bodyPr wrap="square" lIns="0" tIns="0" rIns="0" bIns="0" rtlCol="0" anchor="b">
            <a:normAutofit/>
          </a:bodyPr>
          <a:lstStyle/>
          <a:p>
            <a:pPr indent="0" marL="0">
              <a:buNone/>
            </a:pPr>
            <a:r>
              <a:rPr lang="en-US" sz="2800" b="1" dirty="0">
                <a:solidFill>
                  <a:srgbClr val="34C77B"/>
                </a:solidFill>
              </a:rPr>
              <a:t>6 / 6</a:t>
            </a:r>
            <a:endParaRPr lang="en-US" sz="2800" dirty="0"/>
          </a:p>
        </p:txBody>
      </p:sp>
      <p:sp>
        <p:nvSpPr>
          <p:cNvPr id="15" name="stat label 6 / 6"/>
          <p:cNvSpPr txBox="1"/>
          <p:nvPr/>
        </p:nvSpPr>
        <p:spPr>
          <a:xfrm>
            <a:off x="9144000" y="3463290"/>
            <a:ext cx="2377440" cy="347472"/>
          </a:xfrm>
          <a:prstGeom prst="rect">
            <a:avLst/>
          </a:prstGeom>
          <a:noFill/>
          <a:ln/>
        </p:spPr>
        <p:txBody>
          <a:bodyPr wrap="square" lIns="0" tIns="0" rIns="0" bIns="0" rtlCol="0" anchor="t"/>
          <a:lstStyle/>
          <a:p>
            <a:pPr indent="0" marL="0">
              <a:buNone/>
            </a:pPr>
            <a:r>
              <a:rPr lang="en-US" sz="1200" dirty="0">
                <a:solidFill>
                  <a:srgbClr val="E8EDF2"/>
                </a:solidFill>
              </a:rPr>
              <a:t>times the liar was caught</a:t>
            </a:r>
            <a:endParaRPr lang="en-US" sz="1200" dirty="0"/>
          </a:p>
        </p:txBody>
      </p:sp>
      <p:sp>
        <p:nvSpPr>
          <p:cNvPr id="16" name="stat card 0"/>
          <p:cNvSpPr/>
          <p:nvPr/>
        </p:nvSpPr>
        <p:spPr>
          <a:xfrm>
            <a:off x="9006840" y="4069080"/>
            <a:ext cx="2651760" cy="1143000"/>
          </a:xfrm>
          <a:prstGeom prst="roundRect">
            <a:avLst>
              <a:gd name="adj" fmla="val 8000"/>
            </a:avLst>
          </a:prstGeom>
          <a:solidFill>
            <a:srgbClr val="1E3246"/>
          </a:solidFill>
          <a:ln w="12700">
            <a:solidFill>
              <a:srgbClr val="1E3246"/>
            </a:solidFill>
            <a:prstDash val="solid"/>
          </a:ln>
        </p:spPr>
      </p:sp>
      <p:sp>
        <p:nvSpPr>
          <p:cNvPr id="17" name="stat value 0"/>
          <p:cNvSpPr txBox="1"/>
          <p:nvPr/>
        </p:nvSpPr>
        <p:spPr>
          <a:xfrm>
            <a:off x="9144000" y="4142232"/>
            <a:ext cx="2377440" cy="628650"/>
          </a:xfrm>
          <a:prstGeom prst="rect">
            <a:avLst/>
          </a:prstGeom>
          <a:noFill/>
          <a:ln/>
        </p:spPr>
        <p:txBody>
          <a:bodyPr wrap="square" lIns="0" tIns="0" rIns="0" bIns="0" rtlCol="0" anchor="b">
            <a:normAutofit/>
          </a:bodyPr>
          <a:lstStyle/>
          <a:p>
            <a:pPr indent="0" marL="0">
              <a:buNone/>
            </a:pPr>
            <a:r>
              <a:rPr lang="en-US" sz="2800" b="1" dirty="0">
                <a:solidFill>
                  <a:srgbClr val="34C77B"/>
                </a:solidFill>
              </a:rPr>
              <a:t>0</a:t>
            </a:r>
            <a:endParaRPr lang="en-US" sz="2800" dirty="0"/>
          </a:p>
        </p:txBody>
      </p:sp>
      <p:sp>
        <p:nvSpPr>
          <p:cNvPr id="18" name="stat label 0"/>
          <p:cNvSpPr txBox="1"/>
          <p:nvPr/>
        </p:nvSpPr>
        <p:spPr>
          <a:xfrm>
            <a:off x="9144000" y="4789170"/>
            <a:ext cx="2377440" cy="347472"/>
          </a:xfrm>
          <a:prstGeom prst="rect">
            <a:avLst/>
          </a:prstGeom>
          <a:noFill/>
          <a:ln/>
        </p:spPr>
        <p:txBody>
          <a:bodyPr wrap="square" lIns="0" tIns="0" rIns="0" bIns="0" rtlCol="0" anchor="t"/>
          <a:lstStyle/>
          <a:p>
            <a:pPr indent="0" marL="0">
              <a:buNone/>
            </a:pPr>
            <a:r>
              <a:rPr lang="en-US" sz="1200" dirty="0">
                <a:solidFill>
                  <a:srgbClr val="E8EDF2"/>
                </a:solidFill>
              </a:rPr>
              <a:t>honest drones wrongly rejected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Real terrain: 25 missions over Bråviken, Norrköping</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PROGRESS</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Real-map test over Bråviken frame"/>
          <p:cNvSpPr/>
          <p:nvPr/>
        </p:nvSpPr>
        <p:spPr>
          <a:xfrm>
            <a:off x="530352" y="1307592"/>
            <a:ext cx="7808976" cy="3392424"/>
          </a:xfrm>
          <a:prstGeom prst="roundRect">
            <a:avLst>
              <a:gd name="adj" fmla="val 2156"/>
            </a:avLst>
          </a:prstGeom>
          <a:solidFill>
            <a:srgbClr val="FFFFFF"/>
          </a:solidFill>
          <a:ln w="12700">
            <a:solidFill>
              <a:srgbClr val="FFFFFF"/>
            </a:solidFill>
            <a:prstDash val="solid"/>
          </a:ln>
        </p:spPr>
      </p:sp>
      <p:pic>
        <p:nvPicPr>
          <p:cNvPr id="7" name="Real-map test over Bråviken" descr="Real-map test over Bråviken">    </p:cNvPr>
          <p:cNvPicPr>
            <a:picLocks noChangeAspect="1"/>
          </p:cNvPicPr>
          <p:nvPr/>
        </p:nvPicPr>
        <p:blipFill>
          <a:blip r:embed="rId1"/>
          <a:stretch>
            <a:fillRect/>
          </a:stretch>
        </p:blipFill>
        <p:spPr>
          <a:xfrm>
            <a:off x="594360" y="1371600"/>
            <a:ext cx="7680960" cy="3264408"/>
          </a:xfrm>
          <a:prstGeom prst="rect">
            <a:avLst/>
          </a:prstGeom>
        </p:spPr>
      </p:pic>
      <p:sp>
        <p:nvSpPr>
          <p:cNvPr id="8" name="caption"/>
          <p:cNvSpPr txBox="1"/>
          <p:nvPr/>
        </p:nvSpPr>
        <p:spPr>
          <a:xfrm>
            <a:off x="548640" y="4773168"/>
            <a:ext cx="7772400" cy="320040"/>
          </a:xfrm>
          <a:prstGeom prst="rect">
            <a:avLst/>
          </a:prstGeom>
          <a:noFill/>
          <a:ln/>
        </p:spPr>
        <p:txBody>
          <a:bodyPr wrap="square" lIns="0" tIns="0" rIns="0" bIns="0" rtlCol="0" anchor="t"/>
          <a:lstStyle/>
          <a:p>
            <a:pPr indent="0" marL="0">
              <a:buNone/>
            </a:pPr>
            <a:r>
              <a:rPr lang="en-US" sz="1100" i="1" dirty="0">
                <a:solidFill>
                  <a:srgbClr val="93A1B3"/>
                </a:solidFill>
              </a:rPr>
              <a:t>Built by Guled · navigation/real_map/ · heights real (NASA SRTM via AWS Terrain Tiles), magnetic map simulated</a:t>
            </a:r>
            <a:endParaRPr lang="en-US" sz="1100" dirty="0"/>
          </a:p>
        </p:txBody>
      </p:sp>
      <p:sp>
        <p:nvSpPr>
          <p:cNvPr id="9" name="Text 6"/>
          <p:cNvSpPr txBox="1"/>
          <p:nvPr/>
        </p:nvSpPr>
        <p:spPr>
          <a:xfrm>
            <a:off x="548640" y="5184648"/>
            <a:ext cx="7772400" cy="1005840"/>
          </a:xfrm>
          <a:prstGeom prst="rect">
            <a:avLst/>
          </a:prstGeom>
          <a:noFill/>
          <a:ln/>
        </p:spPr>
        <p:txBody>
          <a:bodyPr wrap="square" lIns="0" tIns="0" rIns="0" bIns="0" rtlCol="0" anchor="t"/>
          <a:lstStyle/>
          <a:p>
            <a:pPr indent="0" marL="0">
              <a:buNone/>
            </a:pPr>
            <a:r>
              <a:rPr lang="en-US" sz="1300" b="1" dirty="0">
                <a:solidFill>
                  <a:srgbClr val="F5C451"/>
                </a:solidFill>
              </a:rPr>
              <a:t>Honest finding: </a:t>
            </a:r>
            <a:pPr indent="0" marL="0">
              <a:buNone/>
            </a:pPr>
            <a:r>
              <a:rPr lang="en-US" sz="1300" dirty="0">
                <a:solidFill>
                  <a:srgbClr val="E8EDF2"/>
                </a:solidFill>
              </a:rPr>
              <a:t>real ground is flatter than our simulated hills, and ~21 % of each route is over water. With the drones' radio link jammed too, terrain matching often has nothing to recognise — MagNav halves the error, but it is not a full fix yet.</a:t>
            </a:r>
            <a:endParaRPr lang="en-US" sz="1300" dirty="0"/>
          </a:p>
        </p:txBody>
      </p:sp>
      <p:sp>
        <p:nvSpPr>
          <p:cNvPr id="10" name="stat card 25 / 25"/>
          <p:cNvSpPr/>
          <p:nvPr/>
        </p:nvSpPr>
        <p:spPr>
          <a:xfrm>
            <a:off x="8641080" y="1371600"/>
            <a:ext cx="3017520" cy="1097280"/>
          </a:xfrm>
          <a:prstGeom prst="roundRect">
            <a:avLst>
              <a:gd name="adj" fmla="val 8333"/>
            </a:avLst>
          </a:prstGeom>
          <a:solidFill>
            <a:srgbClr val="1E3246"/>
          </a:solidFill>
          <a:ln w="12700">
            <a:solidFill>
              <a:srgbClr val="1E3246"/>
            </a:solidFill>
            <a:prstDash val="solid"/>
          </a:ln>
        </p:spPr>
      </p:sp>
      <p:sp>
        <p:nvSpPr>
          <p:cNvPr id="11" name="stat value 25 / 25"/>
          <p:cNvSpPr txBox="1"/>
          <p:nvPr/>
        </p:nvSpPr>
        <p:spPr>
          <a:xfrm>
            <a:off x="8778240" y="1444752"/>
            <a:ext cx="2743200" cy="603504"/>
          </a:xfrm>
          <a:prstGeom prst="rect">
            <a:avLst/>
          </a:prstGeom>
          <a:noFill/>
          <a:ln/>
        </p:spPr>
        <p:txBody>
          <a:bodyPr wrap="square" lIns="0" tIns="0" rIns="0" bIns="0" rtlCol="0" anchor="b">
            <a:normAutofit/>
          </a:bodyPr>
          <a:lstStyle/>
          <a:p>
            <a:pPr indent="0" marL="0">
              <a:buNone/>
            </a:pPr>
            <a:r>
              <a:rPr lang="en-US" sz="2600" b="1" dirty="0">
                <a:solidFill>
                  <a:srgbClr val="34C77B"/>
                </a:solidFill>
              </a:rPr>
              <a:t>25 / 25</a:t>
            </a:r>
            <a:endParaRPr lang="en-US" sz="2600" dirty="0"/>
          </a:p>
        </p:txBody>
      </p:sp>
      <p:sp>
        <p:nvSpPr>
          <p:cNvPr id="12" name="stat label 25 / 25"/>
          <p:cNvSpPr txBox="1"/>
          <p:nvPr/>
        </p:nvSpPr>
        <p:spPr>
          <a:xfrm>
            <a:off x="8778240" y="2066544"/>
            <a:ext cx="2743200" cy="329184"/>
          </a:xfrm>
          <a:prstGeom prst="rect">
            <a:avLst/>
          </a:prstGeom>
          <a:noFill/>
          <a:ln/>
        </p:spPr>
        <p:txBody>
          <a:bodyPr wrap="square" lIns="0" tIns="0" rIns="0" bIns="0" rtlCol="0" anchor="t"/>
          <a:lstStyle/>
          <a:p>
            <a:pPr indent="0" marL="0">
              <a:buNone/>
            </a:pPr>
            <a:r>
              <a:rPr lang="en-US" sz="1200" dirty="0">
                <a:solidFill>
                  <a:srgbClr val="E8EDF2"/>
                </a:solidFill>
              </a:rPr>
              <a:t>within 50 m, radio link working (~4 m typical)</a:t>
            </a:r>
            <a:endParaRPr lang="en-US" sz="1200" dirty="0"/>
          </a:p>
        </p:txBody>
      </p:sp>
      <p:sp>
        <p:nvSpPr>
          <p:cNvPr id="13" name="stat card 0 / 25"/>
          <p:cNvSpPr/>
          <p:nvPr/>
        </p:nvSpPr>
        <p:spPr>
          <a:xfrm>
            <a:off x="8641080" y="2651760"/>
            <a:ext cx="3017520" cy="1097280"/>
          </a:xfrm>
          <a:prstGeom prst="roundRect">
            <a:avLst>
              <a:gd name="adj" fmla="val 8333"/>
            </a:avLst>
          </a:prstGeom>
          <a:solidFill>
            <a:srgbClr val="1E3246"/>
          </a:solidFill>
          <a:ln w="12700">
            <a:solidFill>
              <a:srgbClr val="1E3246"/>
            </a:solidFill>
            <a:prstDash val="solid"/>
          </a:ln>
        </p:spPr>
      </p:sp>
      <p:sp>
        <p:nvSpPr>
          <p:cNvPr id="14" name="stat value 0 / 25"/>
          <p:cNvSpPr txBox="1"/>
          <p:nvPr/>
        </p:nvSpPr>
        <p:spPr>
          <a:xfrm>
            <a:off x="8778240" y="2724912"/>
            <a:ext cx="2743200" cy="603504"/>
          </a:xfrm>
          <a:prstGeom prst="rect">
            <a:avLst/>
          </a:prstGeom>
          <a:noFill/>
          <a:ln/>
        </p:spPr>
        <p:txBody>
          <a:bodyPr wrap="square" lIns="0" tIns="0" rIns="0" bIns="0" rtlCol="0" anchor="b">
            <a:normAutofit/>
          </a:bodyPr>
          <a:lstStyle/>
          <a:p>
            <a:pPr indent="0" marL="0">
              <a:buNone/>
            </a:pPr>
            <a:r>
              <a:rPr lang="en-US" sz="2600" b="1" dirty="0">
                <a:solidFill>
                  <a:srgbClr val="FF5A5F"/>
                </a:solidFill>
              </a:rPr>
              <a:t>0 / 25</a:t>
            </a:r>
            <a:endParaRPr lang="en-US" sz="2600" dirty="0"/>
          </a:p>
        </p:txBody>
      </p:sp>
      <p:sp>
        <p:nvSpPr>
          <p:cNvPr id="15" name="stat label 0 / 25"/>
          <p:cNvSpPr txBox="1"/>
          <p:nvPr/>
        </p:nvSpPr>
        <p:spPr>
          <a:xfrm>
            <a:off x="8778240" y="3346704"/>
            <a:ext cx="2743200" cy="329184"/>
          </a:xfrm>
          <a:prstGeom prst="rect">
            <a:avLst/>
          </a:prstGeom>
          <a:noFill/>
          <a:ln/>
        </p:spPr>
        <p:txBody>
          <a:bodyPr wrap="square" lIns="0" tIns="0" rIns="0" bIns="0" rtlCol="0" anchor="t"/>
          <a:lstStyle/>
          <a:p>
            <a:pPr indent="0" marL="0">
              <a:buNone/>
            </a:pPr>
            <a:r>
              <a:rPr lang="en-US" sz="1200" dirty="0">
                <a:solidFill>
                  <a:srgbClr val="E8EDF2"/>
                </a:solidFill>
              </a:rPr>
              <a:t>IMU only (~700 m typical)</a:t>
            </a:r>
            <a:endParaRPr lang="en-US" sz="1200" dirty="0"/>
          </a:p>
        </p:txBody>
      </p:sp>
      <p:sp>
        <p:nvSpPr>
          <p:cNvPr id="16" name="stat card 180 → 71 m"/>
          <p:cNvSpPr/>
          <p:nvPr/>
        </p:nvSpPr>
        <p:spPr>
          <a:xfrm>
            <a:off x="8641080" y="3931920"/>
            <a:ext cx="3017520" cy="1097280"/>
          </a:xfrm>
          <a:prstGeom prst="roundRect">
            <a:avLst>
              <a:gd name="adj" fmla="val 8333"/>
            </a:avLst>
          </a:prstGeom>
          <a:solidFill>
            <a:srgbClr val="1E3246"/>
          </a:solidFill>
          <a:ln w="12700">
            <a:solidFill>
              <a:srgbClr val="1E3246"/>
            </a:solidFill>
            <a:prstDash val="solid"/>
          </a:ln>
        </p:spPr>
      </p:sp>
      <p:sp>
        <p:nvSpPr>
          <p:cNvPr id="17" name="stat value 180 → 71 m"/>
          <p:cNvSpPr txBox="1"/>
          <p:nvPr/>
        </p:nvSpPr>
        <p:spPr>
          <a:xfrm>
            <a:off x="8778240" y="4005072"/>
            <a:ext cx="2743200" cy="603504"/>
          </a:xfrm>
          <a:prstGeom prst="rect">
            <a:avLst/>
          </a:prstGeom>
          <a:noFill/>
          <a:ln/>
        </p:spPr>
        <p:txBody>
          <a:bodyPr wrap="square" lIns="0" tIns="0" rIns="0" bIns="0" rtlCol="0" anchor="b">
            <a:normAutofit/>
          </a:bodyPr>
          <a:lstStyle/>
          <a:p>
            <a:pPr indent="0" marL="0">
              <a:buNone/>
            </a:pPr>
            <a:r>
              <a:rPr lang="en-US" sz="2600" b="1" dirty="0">
                <a:solidFill>
                  <a:srgbClr val="F5C451"/>
                </a:solidFill>
              </a:rPr>
              <a:t>180 → 71 m</a:t>
            </a:r>
            <a:endParaRPr lang="en-US" sz="2600" dirty="0"/>
          </a:p>
        </p:txBody>
      </p:sp>
      <p:sp>
        <p:nvSpPr>
          <p:cNvPr id="18" name="stat label 180 → 71 m"/>
          <p:cNvSpPr txBox="1"/>
          <p:nvPr/>
        </p:nvSpPr>
        <p:spPr>
          <a:xfrm>
            <a:off x="8778240" y="4626864"/>
            <a:ext cx="2743200" cy="329184"/>
          </a:xfrm>
          <a:prstGeom prst="rect">
            <a:avLst/>
          </a:prstGeom>
          <a:noFill/>
          <a:ln/>
        </p:spPr>
        <p:txBody>
          <a:bodyPr wrap="square" lIns="0" tIns="0" rIns="0" bIns="0" rtlCol="0" anchor="t"/>
          <a:lstStyle/>
          <a:p>
            <a:pPr indent="0" marL="0">
              <a:buNone/>
            </a:pPr>
            <a:r>
              <a:rPr lang="en-US" sz="1200" dirty="0">
                <a:solidFill>
                  <a:srgbClr val="E8EDF2"/>
                </a:solidFill>
              </a:rPr>
              <a:t>radio jammed too: terrain only vs + MagNav (typical)</a:t>
            </a:r>
            <a:endParaRPr lang="en-US" sz="1200" dirty="0"/>
          </a:p>
        </p:txBody>
      </p:sp>
      <p:sp>
        <p:nvSpPr>
          <p:cNvPr id="19" name="stat card 6 → 8 / 25"/>
          <p:cNvSpPr/>
          <p:nvPr/>
        </p:nvSpPr>
        <p:spPr>
          <a:xfrm>
            <a:off x="8641080" y="5212080"/>
            <a:ext cx="3017520" cy="914400"/>
          </a:xfrm>
          <a:prstGeom prst="roundRect">
            <a:avLst>
              <a:gd name="adj" fmla="val 10000"/>
            </a:avLst>
          </a:prstGeom>
          <a:solidFill>
            <a:srgbClr val="1E3246"/>
          </a:solidFill>
          <a:ln w="12700">
            <a:solidFill>
              <a:srgbClr val="1E3246"/>
            </a:solidFill>
            <a:prstDash val="solid"/>
          </a:ln>
        </p:spPr>
      </p:sp>
      <p:sp>
        <p:nvSpPr>
          <p:cNvPr id="20" name="stat value 6 → 8 / 25"/>
          <p:cNvSpPr txBox="1"/>
          <p:nvPr/>
        </p:nvSpPr>
        <p:spPr>
          <a:xfrm>
            <a:off x="8778240" y="5285232"/>
            <a:ext cx="2743200" cy="502920"/>
          </a:xfrm>
          <a:prstGeom prst="rect">
            <a:avLst/>
          </a:prstGeom>
          <a:noFill/>
          <a:ln/>
        </p:spPr>
        <p:txBody>
          <a:bodyPr wrap="square" lIns="0" tIns="0" rIns="0" bIns="0" rtlCol="0" anchor="b">
            <a:normAutofit/>
          </a:bodyPr>
          <a:lstStyle/>
          <a:p>
            <a:pPr indent="0" marL="0">
              <a:buNone/>
            </a:pPr>
            <a:r>
              <a:rPr lang="en-US" sz="2200" b="1" dirty="0">
                <a:solidFill>
                  <a:srgbClr val="F5C451"/>
                </a:solidFill>
              </a:rPr>
              <a:t>6 → 8 / 25</a:t>
            </a:r>
            <a:endParaRPr lang="en-US" sz="2200" dirty="0"/>
          </a:p>
        </p:txBody>
      </p:sp>
      <p:sp>
        <p:nvSpPr>
          <p:cNvPr id="21" name="stat label 6 → 8 / 25"/>
          <p:cNvSpPr txBox="1"/>
          <p:nvPr/>
        </p:nvSpPr>
        <p:spPr>
          <a:xfrm>
            <a:off x="8778240" y="5806440"/>
            <a:ext cx="2743200" cy="256032"/>
          </a:xfrm>
          <a:prstGeom prst="rect">
            <a:avLst/>
          </a:prstGeom>
          <a:noFill/>
          <a:ln/>
        </p:spPr>
        <p:txBody>
          <a:bodyPr wrap="square" lIns="0" tIns="0" rIns="0" bIns="0" rtlCol="0" anchor="t"/>
          <a:lstStyle/>
          <a:p>
            <a:pPr indent="0" marL="0">
              <a:buNone/>
            </a:pPr>
            <a:r>
              <a:rPr lang="en-US" sz="1200" dirty="0">
                <a:solidFill>
                  <a:srgbClr val="E8EDF2"/>
                </a:solidFill>
              </a:rPr>
              <a:t>radio jammed too: success</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Target inside the zone? The swarm is its own GPS</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Text 4"/>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rgbClr val="F26B1D"/>
                </a:solidFill>
              </a:rPr>
              <a:t>SWARM GPS  ·  edge drones keep GPS and range the drone inside</a:t>
            </a:r>
            <a:endParaRPr lang="en-US" sz="1400" dirty="0"/>
          </a:p>
        </p:txBody>
      </p:sp>
      <p:sp>
        <p:nvSpPr>
          <p:cNvPr id="7" name="Swarm GPS inside the jammed zone frame"/>
          <p:cNvSpPr/>
          <p:nvPr/>
        </p:nvSpPr>
        <p:spPr>
          <a:xfrm>
            <a:off x="530352" y="1719072"/>
            <a:ext cx="5522976" cy="2399578"/>
          </a:xfrm>
          <a:prstGeom prst="roundRect">
            <a:avLst>
              <a:gd name="adj" fmla="val 3049"/>
            </a:avLst>
          </a:prstGeom>
          <a:solidFill>
            <a:srgbClr val="FFFFFF"/>
          </a:solidFill>
          <a:ln w="12700">
            <a:solidFill>
              <a:srgbClr val="FFFFFF"/>
            </a:solidFill>
            <a:prstDash val="solid"/>
          </a:ln>
        </p:spPr>
      </p:sp>
      <p:pic>
        <p:nvPicPr>
          <p:cNvPr id="8" name="Swarm GPS inside the jammed zone" descr="Swarm GPS inside the jammed zone">    </p:cNvPr>
          <p:cNvPicPr>
            <a:picLocks noChangeAspect="1"/>
          </p:cNvPicPr>
          <p:nvPr/>
        </p:nvPicPr>
        <p:blipFill>
          <a:blip r:embed="rId1"/>
          <a:stretch>
            <a:fillRect/>
          </a:stretch>
        </p:blipFill>
        <p:spPr>
          <a:xfrm>
            <a:off x="594360" y="1783080"/>
            <a:ext cx="5394960" cy="2271562"/>
          </a:xfrm>
          <a:prstGeom prst="rect">
            <a:avLst/>
          </a:prstGeom>
        </p:spPr>
      </p:pic>
      <p:sp>
        <p:nvSpPr>
          <p:cNvPr id="9" name="stat card 59 m → 1 m"/>
          <p:cNvSpPr/>
          <p:nvPr/>
        </p:nvSpPr>
        <p:spPr>
          <a:xfrm>
            <a:off x="548640" y="4328962"/>
            <a:ext cx="2651760" cy="1051560"/>
          </a:xfrm>
          <a:prstGeom prst="roundRect">
            <a:avLst>
              <a:gd name="adj" fmla="val 8696"/>
            </a:avLst>
          </a:prstGeom>
          <a:solidFill>
            <a:srgbClr val="1E3246"/>
          </a:solidFill>
          <a:ln w="12700">
            <a:solidFill>
              <a:srgbClr val="1E3246"/>
            </a:solidFill>
            <a:prstDash val="solid"/>
          </a:ln>
        </p:spPr>
      </p:sp>
      <p:sp>
        <p:nvSpPr>
          <p:cNvPr id="10" name="stat value 59 m → 1 m"/>
          <p:cNvSpPr txBox="1"/>
          <p:nvPr/>
        </p:nvSpPr>
        <p:spPr>
          <a:xfrm>
            <a:off x="685800" y="4402114"/>
            <a:ext cx="2377440" cy="578358"/>
          </a:xfrm>
          <a:prstGeom prst="rect">
            <a:avLst/>
          </a:prstGeom>
          <a:noFill/>
          <a:ln/>
        </p:spPr>
        <p:txBody>
          <a:bodyPr wrap="square" lIns="0" tIns="0" rIns="0" bIns="0" rtlCol="0" anchor="b">
            <a:normAutofit/>
          </a:bodyPr>
          <a:lstStyle/>
          <a:p>
            <a:pPr indent="0" marL="0">
              <a:buNone/>
            </a:pPr>
            <a:r>
              <a:rPr lang="en-US" sz="2400" b="1" dirty="0">
                <a:solidFill>
                  <a:srgbClr val="34C77B"/>
                </a:solidFill>
              </a:rPr>
              <a:t>59 m → 1 m</a:t>
            </a:r>
            <a:endParaRPr lang="en-US" sz="2400" dirty="0"/>
          </a:p>
        </p:txBody>
      </p:sp>
      <p:sp>
        <p:nvSpPr>
          <p:cNvPr id="11" name="stat label 59 m → 1 m"/>
          <p:cNvSpPr txBox="1"/>
          <p:nvPr/>
        </p:nvSpPr>
        <p:spPr>
          <a:xfrm>
            <a:off x="685800" y="4998760"/>
            <a:ext cx="2377440" cy="310896"/>
          </a:xfrm>
          <a:prstGeom prst="rect">
            <a:avLst/>
          </a:prstGeom>
          <a:noFill/>
          <a:ln/>
        </p:spPr>
        <p:txBody>
          <a:bodyPr wrap="square" lIns="0" tIns="0" rIns="0" bIns="0" rtlCol="0" anchor="t"/>
          <a:lstStyle/>
          <a:p>
            <a:pPr indent="0" marL="0">
              <a:buNone/>
            </a:pPr>
            <a:r>
              <a:rPr lang="en-US" sz="1200" dirty="0">
                <a:solidFill>
                  <a:srgbClr val="E8EDF2"/>
                </a:solidFill>
              </a:rPr>
              <a:t>error while observing the target (20 runs)</a:t>
            </a:r>
            <a:endParaRPr lang="en-US" sz="1200" dirty="0"/>
          </a:p>
        </p:txBody>
      </p:sp>
      <p:sp>
        <p:nvSpPr>
          <p:cNvPr id="12" name="stat card 2 m"/>
          <p:cNvSpPr/>
          <p:nvPr/>
        </p:nvSpPr>
        <p:spPr>
          <a:xfrm>
            <a:off x="3337560" y="4328962"/>
            <a:ext cx="2697480" cy="1051560"/>
          </a:xfrm>
          <a:prstGeom prst="roundRect">
            <a:avLst>
              <a:gd name="adj" fmla="val 8696"/>
            </a:avLst>
          </a:prstGeom>
          <a:solidFill>
            <a:srgbClr val="1E3246"/>
          </a:solidFill>
          <a:ln w="12700">
            <a:solidFill>
              <a:srgbClr val="1E3246"/>
            </a:solidFill>
            <a:prstDash val="solid"/>
          </a:ln>
        </p:spPr>
      </p:sp>
      <p:sp>
        <p:nvSpPr>
          <p:cNvPr id="13" name="stat value 2 m"/>
          <p:cNvSpPr txBox="1"/>
          <p:nvPr/>
        </p:nvSpPr>
        <p:spPr>
          <a:xfrm>
            <a:off x="3474720" y="4402114"/>
            <a:ext cx="2423160" cy="578358"/>
          </a:xfrm>
          <a:prstGeom prst="rect">
            <a:avLst/>
          </a:prstGeom>
          <a:noFill/>
          <a:ln/>
        </p:spPr>
        <p:txBody>
          <a:bodyPr wrap="square" lIns="0" tIns="0" rIns="0" bIns="0" rtlCol="0" anchor="b">
            <a:normAutofit/>
          </a:bodyPr>
          <a:lstStyle/>
          <a:p>
            <a:pPr indent="0" marL="0">
              <a:buNone/>
            </a:pPr>
            <a:r>
              <a:rPr lang="en-US" sz="2400" b="1" dirty="0">
                <a:solidFill>
                  <a:srgbClr val="34C77B"/>
                </a:solidFill>
              </a:rPr>
              <a:t>2 m</a:t>
            </a:r>
            <a:endParaRPr lang="en-US" sz="2400" dirty="0"/>
          </a:p>
        </p:txBody>
      </p:sp>
      <p:sp>
        <p:nvSpPr>
          <p:cNvPr id="14" name="stat label 2 m"/>
          <p:cNvSpPr txBox="1"/>
          <p:nvPr/>
        </p:nvSpPr>
        <p:spPr>
          <a:xfrm>
            <a:off x="3474720" y="4998760"/>
            <a:ext cx="2423160" cy="310896"/>
          </a:xfrm>
          <a:prstGeom prst="rect">
            <a:avLst/>
          </a:prstGeom>
          <a:noFill/>
          <a:ln/>
        </p:spPr>
        <p:txBody>
          <a:bodyPr wrap="square" lIns="0" tIns="0" rIns="0" bIns="0" rtlCol="0" anchor="t"/>
          <a:lstStyle/>
          <a:p>
            <a:pPr indent="0" marL="0">
              <a:buNone/>
            </a:pPr>
            <a:r>
              <a:rPr lang="en-US" sz="1200" dirty="0">
                <a:solidFill>
                  <a:srgbClr val="E8EDF2"/>
                </a:solidFill>
              </a:rPr>
              <a:t>still, if one edge drone is lost</a:t>
            </a:r>
            <a:endParaRPr lang="en-US" sz="1200" dirty="0"/>
          </a:p>
        </p:txBody>
      </p:sp>
      <p:sp>
        <p:nvSpPr>
          <p:cNvPr id="15" name="caption"/>
          <p:cNvSpPr txBox="1"/>
          <p:nvPr/>
        </p:nvSpPr>
        <p:spPr>
          <a:xfrm>
            <a:off x="548640" y="5471962"/>
            <a:ext cx="5486400" cy="320040"/>
          </a:xfrm>
          <a:prstGeom prst="rect">
            <a:avLst/>
          </a:prstGeom>
          <a:noFill/>
          <a:ln/>
        </p:spPr>
        <p:txBody>
          <a:bodyPr wrap="square" lIns="0" tIns="0" rIns="0" bIns="0" rtlCol="0" anchor="t"/>
          <a:lstStyle/>
          <a:p>
            <a:pPr indent="0" marL="0">
              <a:buNone/>
            </a:pPr>
            <a:r>
              <a:rPr lang="en-US" sz="1100" i="1" dirty="0">
                <a:solidFill>
                  <a:srgbClr val="93A1B3"/>
                </a:solidFill>
              </a:rPr>
              <a:t>Radio ranging on the drones' own link — not the band a GPS jammer hits.</a:t>
            </a:r>
            <a:endParaRPr lang="en-US" sz="1100" dirty="0"/>
          </a:p>
        </p:txBody>
      </p:sp>
      <p:sp>
        <p:nvSpPr>
          <p:cNvPr id="16" name="Text 13"/>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rgbClr val="F26B1D"/>
                </a:solidFill>
              </a:rPr>
              <a:t>MAGNAV  ·  the Earth's magnetic map can't be jammed</a:t>
            </a:r>
            <a:endParaRPr lang="en-US" sz="1400" dirty="0"/>
          </a:p>
        </p:txBody>
      </p:sp>
      <p:sp>
        <p:nvSpPr>
          <p:cNvPr id="17" name="MagNav over land and sea frame"/>
          <p:cNvSpPr/>
          <p:nvPr/>
        </p:nvSpPr>
        <p:spPr>
          <a:xfrm>
            <a:off x="6245352" y="1719072"/>
            <a:ext cx="5431536" cy="2220182"/>
          </a:xfrm>
          <a:prstGeom prst="roundRect">
            <a:avLst>
              <a:gd name="adj" fmla="val 3295"/>
            </a:avLst>
          </a:prstGeom>
          <a:solidFill>
            <a:srgbClr val="FFFFFF"/>
          </a:solidFill>
          <a:ln w="12700">
            <a:solidFill>
              <a:srgbClr val="FFFFFF"/>
            </a:solidFill>
            <a:prstDash val="solid"/>
          </a:ln>
        </p:spPr>
      </p:sp>
      <p:pic>
        <p:nvPicPr>
          <p:cNvPr id="18" name="MagNav over land and sea" descr="MagNav over land and sea">    </p:cNvPr>
          <p:cNvPicPr>
            <a:picLocks noChangeAspect="1"/>
          </p:cNvPicPr>
          <p:nvPr/>
        </p:nvPicPr>
        <p:blipFill>
          <a:blip r:embed="rId2"/>
          <a:stretch>
            <a:fillRect/>
          </a:stretch>
        </p:blipFill>
        <p:spPr>
          <a:xfrm>
            <a:off x="6309360" y="1783080"/>
            <a:ext cx="5303520" cy="2092166"/>
          </a:xfrm>
          <a:prstGeom prst="rect">
            <a:avLst/>
          </a:prstGeom>
        </p:spPr>
      </p:pic>
      <p:sp>
        <p:nvSpPr>
          <p:cNvPr id="19" name="stat card 202 m"/>
          <p:cNvSpPr/>
          <p:nvPr/>
        </p:nvSpPr>
        <p:spPr>
          <a:xfrm>
            <a:off x="6263640" y="4149566"/>
            <a:ext cx="2606040" cy="1051560"/>
          </a:xfrm>
          <a:prstGeom prst="roundRect">
            <a:avLst>
              <a:gd name="adj" fmla="val 8696"/>
            </a:avLst>
          </a:prstGeom>
          <a:solidFill>
            <a:srgbClr val="1E3246"/>
          </a:solidFill>
          <a:ln w="12700">
            <a:solidFill>
              <a:srgbClr val="1E3246"/>
            </a:solidFill>
            <a:prstDash val="solid"/>
          </a:ln>
        </p:spPr>
      </p:sp>
      <p:sp>
        <p:nvSpPr>
          <p:cNvPr id="20" name="stat value 202 m"/>
          <p:cNvSpPr txBox="1"/>
          <p:nvPr/>
        </p:nvSpPr>
        <p:spPr>
          <a:xfrm>
            <a:off x="6400800" y="4222718"/>
            <a:ext cx="2331720" cy="578358"/>
          </a:xfrm>
          <a:prstGeom prst="rect">
            <a:avLst/>
          </a:prstGeom>
          <a:noFill/>
          <a:ln/>
        </p:spPr>
        <p:txBody>
          <a:bodyPr wrap="square" lIns="0" tIns="0" rIns="0" bIns="0" rtlCol="0" anchor="b">
            <a:normAutofit/>
          </a:bodyPr>
          <a:lstStyle/>
          <a:p>
            <a:pPr indent="0" marL="0">
              <a:buNone/>
            </a:pPr>
            <a:r>
              <a:rPr lang="en-US" sz="2400" b="1" dirty="0">
                <a:solidFill>
                  <a:srgbClr val="F5C451"/>
                </a:solidFill>
              </a:rPr>
              <a:t>202 m</a:t>
            </a:r>
            <a:endParaRPr lang="en-US" sz="2400" dirty="0"/>
          </a:p>
        </p:txBody>
      </p:sp>
      <p:sp>
        <p:nvSpPr>
          <p:cNvPr id="21" name="stat label 202 m"/>
          <p:cNvSpPr txBox="1"/>
          <p:nvPr/>
        </p:nvSpPr>
        <p:spPr>
          <a:xfrm>
            <a:off x="6400800" y="4819364"/>
            <a:ext cx="2331720" cy="310896"/>
          </a:xfrm>
          <a:prstGeom prst="rect">
            <a:avLst/>
          </a:prstGeom>
          <a:noFill/>
          <a:ln/>
        </p:spPr>
        <p:txBody>
          <a:bodyPr wrap="square" lIns="0" tIns="0" rIns="0" bIns="0" rtlCol="0" anchor="t"/>
          <a:lstStyle/>
          <a:p>
            <a:pPr indent="0" marL="0">
              <a:buNone/>
            </a:pPr>
            <a:r>
              <a:rPr lang="en-US" sz="1200" dirty="0">
                <a:solidFill>
                  <a:srgbClr val="E8EDF2"/>
                </a:solidFill>
              </a:rPr>
              <a:t>terrain matching — blind over the sea</a:t>
            </a:r>
            <a:endParaRPr lang="en-US" sz="1200" dirty="0"/>
          </a:p>
        </p:txBody>
      </p:sp>
      <p:sp>
        <p:nvSpPr>
          <p:cNvPr id="22" name="stat card 38 m"/>
          <p:cNvSpPr/>
          <p:nvPr/>
        </p:nvSpPr>
        <p:spPr>
          <a:xfrm>
            <a:off x="9052560" y="4149566"/>
            <a:ext cx="2606040" cy="1051560"/>
          </a:xfrm>
          <a:prstGeom prst="roundRect">
            <a:avLst>
              <a:gd name="adj" fmla="val 8696"/>
            </a:avLst>
          </a:prstGeom>
          <a:solidFill>
            <a:srgbClr val="1E3246"/>
          </a:solidFill>
          <a:ln w="12700">
            <a:solidFill>
              <a:srgbClr val="1E3246"/>
            </a:solidFill>
            <a:prstDash val="solid"/>
          </a:ln>
        </p:spPr>
      </p:sp>
      <p:sp>
        <p:nvSpPr>
          <p:cNvPr id="23" name="stat value 38 m"/>
          <p:cNvSpPr txBox="1"/>
          <p:nvPr/>
        </p:nvSpPr>
        <p:spPr>
          <a:xfrm>
            <a:off x="9189720" y="4222718"/>
            <a:ext cx="2331720" cy="578358"/>
          </a:xfrm>
          <a:prstGeom prst="rect">
            <a:avLst/>
          </a:prstGeom>
          <a:noFill/>
          <a:ln/>
        </p:spPr>
        <p:txBody>
          <a:bodyPr wrap="square" lIns="0" tIns="0" rIns="0" bIns="0" rtlCol="0" anchor="b">
            <a:normAutofit/>
          </a:bodyPr>
          <a:lstStyle/>
          <a:p>
            <a:pPr indent="0" marL="0">
              <a:buNone/>
            </a:pPr>
            <a:r>
              <a:rPr lang="en-US" sz="2400" b="1" dirty="0">
                <a:solidFill>
                  <a:srgbClr val="34C77B"/>
                </a:solidFill>
              </a:rPr>
              <a:t>38 m</a:t>
            </a:r>
            <a:endParaRPr lang="en-US" sz="2400" dirty="0"/>
          </a:p>
        </p:txBody>
      </p:sp>
      <p:sp>
        <p:nvSpPr>
          <p:cNvPr id="24" name="stat label 38 m"/>
          <p:cNvSpPr txBox="1"/>
          <p:nvPr/>
        </p:nvSpPr>
        <p:spPr>
          <a:xfrm>
            <a:off x="9189720" y="4819364"/>
            <a:ext cx="2331720" cy="310896"/>
          </a:xfrm>
          <a:prstGeom prst="rect">
            <a:avLst/>
          </a:prstGeom>
          <a:noFill/>
          <a:ln/>
        </p:spPr>
        <p:txBody>
          <a:bodyPr wrap="square" lIns="0" tIns="0" rIns="0" bIns="0" rtlCol="0" anchor="t"/>
          <a:lstStyle/>
          <a:p>
            <a:pPr indent="0" marL="0">
              <a:buNone/>
            </a:pPr>
            <a:r>
              <a:rPr lang="en-US" sz="1200" dirty="0">
                <a:solidFill>
                  <a:srgbClr val="E8EDF2"/>
                </a:solidFill>
              </a:rPr>
              <a:t>terrain + MagNav (typical, 20 km)</a:t>
            </a:r>
            <a:endParaRPr lang="en-US" sz="1200" dirty="0"/>
          </a:p>
        </p:txBody>
      </p:sp>
      <p:sp>
        <p:nvSpPr>
          <p:cNvPr id="25" name="caption"/>
          <p:cNvSpPr txBox="1"/>
          <p:nvPr/>
        </p:nvSpPr>
        <p:spPr>
          <a:xfrm>
            <a:off x="6263640" y="5292566"/>
            <a:ext cx="5394960" cy="320040"/>
          </a:xfrm>
          <a:prstGeom prst="rect">
            <a:avLst/>
          </a:prstGeom>
          <a:noFill/>
          <a:ln/>
        </p:spPr>
        <p:txBody>
          <a:bodyPr wrap="square" lIns="0" tIns="0" rIns="0" bIns="0" rtlCol="0" anchor="t"/>
          <a:lstStyle/>
          <a:p>
            <a:pPr indent="0" marL="0">
              <a:buNone/>
            </a:pPr>
            <a:r>
              <a:rPr lang="en-US" sz="1100" i="1" dirty="0">
                <a:solidFill>
                  <a:srgbClr val="93A1B3"/>
                </a:solidFill>
              </a:rPr>
              <a:t>It only listens — nothing to jam or spoof. Works over the Baltic, at night, in snow.</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48 hours of progress — and what's next</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PROGRESS</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stat card 4"/>
          <p:cNvSpPr/>
          <p:nvPr/>
        </p:nvSpPr>
        <p:spPr>
          <a:xfrm>
            <a:off x="548640" y="1371600"/>
            <a:ext cx="1737360" cy="960120"/>
          </a:xfrm>
          <a:prstGeom prst="roundRect">
            <a:avLst>
              <a:gd name="adj" fmla="val 9524"/>
            </a:avLst>
          </a:prstGeom>
          <a:solidFill>
            <a:srgbClr val="1E3246"/>
          </a:solidFill>
          <a:ln w="12700">
            <a:solidFill>
              <a:srgbClr val="1E3246"/>
            </a:solidFill>
            <a:prstDash val="solid"/>
          </a:ln>
        </p:spPr>
      </p:sp>
      <p:sp>
        <p:nvSpPr>
          <p:cNvPr id="7" name="stat value 4"/>
          <p:cNvSpPr txBox="1"/>
          <p:nvPr/>
        </p:nvSpPr>
        <p:spPr>
          <a:xfrm>
            <a:off x="685800" y="1444752"/>
            <a:ext cx="1463040" cy="528066"/>
          </a:xfrm>
          <a:prstGeom prst="rect">
            <a:avLst/>
          </a:prstGeom>
          <a:noFill/>
          <a:ln/>
        </p:spPr>
        <p:txBody>
          <a:bodyPr wrap="square" lIns="0" tIns="0" rIns="0" bIns="0" rtlCol="0" anchor="b">
            <a:normAutofit/>
          </a:bodyPr>
          <a:lstStyle/>
          <a:p>
            <a:pPr indent="0" marL="0">
              <a:buNone/>
            </a:pPr>
            <a:r>
              <a:rPr lang="en-US" sz="2600" b="1" dirty="0">
                <a:solidFill>
                  <a:srgbClr val="5AB4F0"/>
                </a:solidFill>
              </a:rPr>
              <a:t>4</a:t>
            </a:r>
            <a:endParaRPr lang="en-US" sz="2600" dirty="0"/>
          </a:p>
        </p:txBody>
      </p:sp>
      <p:sp>
        <p:nvSpPr>
          <p:cNvPr id="8" name="stat label 4"/>
          <p:cNvSpPr txBox="1"/>
          <p:nvPr/>
        </p:nvSpPr>
        <p:spPr>
          <a:xfrm>
            <a:off x="685800" y="1991106"/>
            <a:ext cx="1463040" cy="274320"/>
          </a:xfrm>
          <a:prstGeom prst="rect">
            <a:avLst/>
          </a:prstGeom>
          <a:noFill/>
          <a:ln/>
        </p:spPr>
        <p:txBody>
          <a:bodyPr wrap="square" lIns="0" tIns="0" rIns="0" bIns="0" rtlCol="0" anchor="t"/>
          <a:lstStyle/>
          <a:p>
            <a:pPr indent="0" marL="0">
              <a:buNone/>
            </a:pPr>
            <a:r>
              <a:rPr lang="en-US" sz="1200" dirty="0">
                <a:solidFill>
                  <a:srgbClr val="E8EDF2"/>
                </a:solidFill>
              </a:rPr>
              <a:t>expert inputs</a:t>
            </a:r>
            <a:endParaRPr lang="en-US" sz="1200" dirty="0"/>
          </a:p>
        </p:txBody>
      </p:sp>
      <p:sp>
        <p:nvSpPr>
          <p:cNvPr id="9" name="stat card 17"/>
          <p:cNvSpPr/>
          <p:nvPr/>
        </p:nvSpPr>
        <p:spPr>
          <a:xfrm>
            <a:off x="2423160" y="1371600"/>
            <a:ext cx="1737360" cy="960120"/>
          </a:xfrm>
          <a:prstGeom prst="roundRect">
            <a:avLst>
              <a:gd name="adj" fmla="val 9524"/>
            </a:avLst>
          </a:prstGeom>
          <a:solidFill>
            <a:srgbClr val="1E3246"/>
          </a:solidFill>
          <a:ln w="12700">
            <a:solidFill>
              <a:srgbClr val="1E3246"/>
            </a:solidFill>
            <a:prstDash val="solid"/>
          </a:ln>
        </p:spPr>
      </p:sp>
      <p:sp>
        <p:nvSpPr>
          <p:cNvPr id="10" name="stat value 17"/>
          <p:cNvSpPr txBox="1"/>
          <p:nvPr/>
        </p:nvSpPr>
        <p:spPr>
          <a:xfrm>
            <a:off x="2560320" y="1444752"/>
            <a:ext cx="1463040" cy="528066"/>
          </a:xfrm>
          <a:prstGeom prst="rect">
            <a:avLst/>
          </a:prstGeom>
          <a:noFill/>
          <a:ln/>
        </p:spPr>
        <p:txBody>
          <a:bodyPr wrap="square" lIns="0" tIns="0" rIns="0" bIns="0" rtlCol="0" anchor="b">
            <a:normAutofit/>
          </a:bodyPr>
          <a:lstStyle/>
          <a:p>
            <a:pPr indent="0" marL="0">
              <a:buNone/>
            </a:pPr>
            <a:r>
              <a:rPr lang="en-US" sz="2600" b="1" dirty="0">
                <a:solidFill>
                  <a:srgbClr val="5AB4F0"/>
                </a:solidFill>
              </a:rPr>
              <a:t>17</a:t>
            </a:r>
            <a:endParaRPr lang="en-US" sz="2600" dirty="0"/>
          </a:p>
        </p:txBody>
      </p:sp>
      <p:sp>
        <p:nvSpPr>
          <p:cNvPr id="11" name="stat label 17"/>
          <p:cNvSpPr txBox="1"/>
          <p:nvPr/>
        </p:nvSpPr>
        <p:spPr>
          <a:xfrm>
            <a:off x="2560320" y="1991106"/>
            <a:ext cx="1463040" cy="274320"/>
          </a:xfrm>
          <a:prstGeom prst="rect">
            <a:avLst/>
          </a:prstGeom>
          <a:noFill/>
          <a:ln/>
        </p:spPr>
        <p:txBody>
          <a:bodyPr wrap="square" lIns="0" tIns="0" rIns="0" bIns="0" rtlCol="0" anchor="t"/>
          <a:lstStyle/>
          <a:p>
            <a:pPr indent="0" marL="0">
              <a:buNone/>
            </a:pPr>
            <a:r>
              <a:rPr lang="en-US" sz="1200" dirty="0">
                <a:solidFill>
                  <a:srgbClr val="E8EDF2"/>
                </a:solidFill>
              </a:rPr>
              <a:t>logged iterations</a:t>
            </a:r>
            <a:endParaRPr lang="en-US" sz="1200" dirty="0"/>
          </a:p>
        </p:txBody>
      </p:sp>
      <p:sp>
        <p:nvSpPr>
          <p:cNvPr id="12" name="stat card 31"/>
          <p:cNvSpPr/>
          <p:nvPr/>
        </p:nvSpPr>
        <p:spPr>
          <a:xfrm>
            <a:off x="4297680" y="1371600"/>
            <a:ext cx="1737360" cy="960120"/>
          </a:xfrm>
          <a:prstGeom prst="roundRect">
            <a:avLst>
              <a:gd name="adj" fmla="val 9524"/>
            </a:avLst>
          </a:prstGeom>
          <a:solidFill>
            <a:srgbClr val="1E3246"/>
          </a:solidFill>
          <a:ln w="12700">
            <a:solidFill>
              <a:srgbClr val="1E3246"/>
            </a:solidFill>
            <a:prstDash val="solid"/>
          </a:ln>
        </p:spPr>
      </p:sp>
      <p:sp>
        <p:nvSpPr>
          <p:cNvPr id="13" name="stat value 31"/>
          <p:cNvSpPr txBox="1"/>
          <p:nvPr/>
        </p:nvSpPr>
        <p:spPr>
          <a:xfrm>
            <a:off x="4434840" y="1444752"/>
            <a:ext cx="1463040" cy="528066"/>
          </a:xfrm>
          <a:prstGeom prst="rect">
            <a:avLst/>
          </a:prstGeom>
          <a:noFill/>
          <a:ln/>
        </p:spPr>
        <p:txBody>
          <a:bodyPr wrap="square" lIns="0" tIns="0" rIns="0" bIns="0" rtlCol="0" anchor="b">
            <a:normAutofit/>
          </a:bodyPr>
          <a:lstStyle/>
          <a:p>
            <a:pPr indent="0" marL="0">
              <a:buNone/>
            </a:pPr>
            <a:r>
              <a:rPr lang="en-US" sz="2600" b="1" dirty="0">
                <a:solidFill>
                  <a:srgbClr val="5AB4F0"/>
                </a:solidFill>
              </a:rPr>
              <a:t>31</a:t>
            </a:r>
            <a:endParaRPr lang="en-US" sz="2600" dirty="0"/>
          </a:p>
        </p:txBody>
      </p:sp>
      <p:sp>
        <p:nvSpPr>
          <p:cNvPr id="14" name="stat label 31"/>
          <p:cNvSpPr txBox="1"/>
          <p:nvPr/>
        </p:nvSpPr>
        <p:spPr>
          <a:xfrm>
            <a:off x="4434840" y="1991106"/>
            <a:ext cx="1463040" cy="274320"/>
          </a:xfrm>
          <a:prstGeom prst="rect">
            <a:avLst/>
          </a:prstGeom>
          <a:noFill/>
          <a:ln/>
        </p:spPr>
        <p:txBody>
          <a:bodyPr wrap="square" lIns="0" tIns="0" rIns="0" bIns="0" rtlCol="0" anchor="t"/>
          <a:lstStyle/>
          <a:p>
            <a:pPr indent="0" marL="0">
              <a:buNone/>
            </a:pPr>
            <a:r>
              <a:rPr lang="en-US" sz="1200" dirty="0">
                <a:solidFill>
                  <a:srgbClr val="E8EDF2"/>
                </a:solidFill>
              </a:rPr>
              <a:t>commits on GitHub</a:t>
            </a:r>
            <a:endParaRPr lang="en-US" sz="1200" dirty="0"/>
          </a:p>
        </p:txBody>
      </p:sp>
      <p:sp>
        <p:nvSpPr>
          <p:cNvPr id="15" name="Text 13"/>
          <p:cNvSpPr txBox="1"/>
          <p:nvPr/>
        </p:nvSpPr>
        <p:spPr>
          <a:xfrm>
            <a:off x="548640" y="2514600"/>
            <a:ext cx="5486400" cy="320040"/>
          </a:xfrm>
          <a:prstGeom prst="rect">
            <a:avLst/>
          </a:prstGeom>
          <a:noFill/>
          <a:ln/>
        </p:spPr>
        <p:txBody>
          <a:bodyPr wrap="square" lIns="0" tIns="0" rIns="0" bIns="0" rtlCol="0" anchor="ctr"/>
          <a:lstStyle/>
          <a:p>
            <a:pPr indent="0" marL="0">
              <a:buNone/>
            </a:pPr>
            <a:r>
              <a:rPr lang="en-US" sz="1400" b="1" spc="200" kern="0" dirty="0">
                <a:solidFill>
                  <a:srgbClr val="F26B1D"/>
                </a:solidFill>
              </a:rPr>
              <a:t>WHY IT GETS ADOPTED</a:t>
            </a:r>
            <a:endParaRPr lang="en-US" sz="1400" dirty="0"/>
          </a:p>
        </p:txBody>
      </p:sp>
      <p:sp>
        <p:nvSpPr>
          <p:cNvPr id="16" name="Text 14"/>
          <p:cNvSpPr txBox="1"/>
          <p:nvPr/>
        </p:nvSpPr>
        <p:spPr>
          <a:xfrm>
            <a:off x="548640" y="2926080"/>
            <a:ext cx="5486400" cy="192024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rgbClr val="FFFFFF"/>
                </a:solidFill>
              </a:rPr>
              <a:t>Software only: </a:t>
            </a:r>
            <a:pPr indent="0" marL="0">
              <a:spcAft>
                <a:spcPts val="600"/>
              </a:spcAft>
              <a:buNone/>
            </a:pPr>
            <a:r>
              <a:rPr lang="en-US" sz="1400" dirty="0">
                <a:solidFill>
                  <a:srgbClr val="E8EDF2"/>
                </a:solidFill>
              </a:rPr>
              <a:t>runs on drones that already fly PX4 — no new hardware to buy</a:t>
            </a:r>
            <a:endParaRPr lang="en-US" sz="1400" dirty="0"/>
          </a:p>
          <a:p>
            <a:pPr marL="342900" indent="-342900">
              <a:spcAft>
                <a:spcPts val="600"/>
              </a:spcAft>
              <a:buSzPct val="100000"/>
              <a:buChar char="•"/>
            </a:pPr>
            <a:r>
              <a:rPr lang="en-US" sz="1400" b="1" dirty="0">
                <a:solidFill>
                  <a:srgbClr val="FFFFFF"/>
                </a:solidFill>
              </a:rPr>
              <a:t>Users: </a:t>
            </a:r>
            <a:pPr indent="0" marL="0">
              <a:spcAft>
                <a:spcPts val="600"/>
              </a:spcAft>
              <a:buNone/>
            </a:pPr>
            <a:r>
              <a:rPr lang="en-US" sz="1400" dirty="0">
                <a:solidFill>
                  <a:srgbClr val="E8EDF2"/>
                </a:solidFill>
              </a:rPr>
              <a:t>armed forces and drone makers building on PX4; procurement via FMV</a:t>
            </a:r>
            <a:endParaRPr lang="en-US" sz="1400" dirty="0"/>
          </a:p>
          <a:p>
            <a:pPr marL="342900" indent="-342900">
              <a:spcAft>
                <a:spcPts val="600"/>
              </a:spcAft>
              <a:buSzPct val="100000"/>
              <a:buChar char="•"/>
            </a:pPr>
            <a:r>
              <a:rPr lang="en-US" sz="1400" b="1" dirty="0">
                <a:solidFill>
                  <a:srgbClr val="FFFFFF"/>
                </a:solidFill>
              </a:rPr>
              <a:t>Dual use: </a:t>
            </a:r>
            <a:pPr indent="0" marL="0">
              <a:spcAft>
                <a:spcPts val="600"/>
              </a:spcAft>
              <a:buNone/>
            </a:pPr>
            <a:r>
              <a:rPr lang="en-US" sz="1400" dirty="0">
                <a:solidFill>
                  <a:srgbClr val="E8EDF2"/>
                </a:solidFill>
              </a:rPr>
              <a:t>civil drones and aviation in the jammed Baltic</a:t>
            </a:r>
            <a:endParaRPr lang="en-US" sz="1400" dirty="0"/>
          </a:p>
          <a:p>
            <a:pPr marL="342900" indent="-342900">
              <a:spcAft>
                <a:spcPts val="600"/>
              </a:spcAft>
              <a:buSzPct val="100000"/>
              <a:buChar char="•"/>
            </a:pPr>
            <a:r>
              <a:rPr lang="en-US" sz="1400" b="1" dirty="0">
                <a:solidFill>
                  <a:srgbClr val="FFFFFF"/>
                </a:solidFill>
              </a:rPr>
              <a:t>Path: </a:t>
            </a:r>
            <a:pPr indent="0" marL="0">
              <a:spcAft>
                <a:spcPts val="600"/>
              </a:spcAft>
              <a:buNone/>
            </a:pPr>
            <a:r>
              <a:rPr lang="en-US" sz="1400" dirty="0">
                <a:solidFill>
                  <a:srgbClr val="E8EDF2"/>
                </a:solidFill>
              </a:rPr>
              <a:t>simulation → Terra lab → field test → PX4 plug-in</a:t>
            </a:r>
            <a:endParaRPr lang="en-US" sz="1400" dirty="0"/>
          </a:p>
        </p:txBody>
      </p:sp>
      <p:sp>
        <p:nvSpPr>
          <p:cNvPr id="17" name="honest limits card"/>
          <p:cNvSpPr/>
          <p:nvPr/>
        </p:nvSpPr>
        <p:spPr>
          <a:xfrm>
            <a:off x="548640" y="4983480"/>
            <a:ext cx="5486400" cy="1051560"/>
          </a:xfrm>
          <a:prstGeom prst="roundRect">
            <a:avLst>
              <a:gd name="adj" fmla="val 8696"/>
            </a:avLst>
          </a:prstGeom>
          <a:solidFill>
            <a:srgbClr val="1E3246"/>
          </a:solidFill>
          <a:ln w="9525">
            <a:solidFill>
              <a:srgbClr val="93A1B3"/>
            </a:solidFill>
            <a:prstDash val="solid"/>
          </a:ln>
        </p:spPr>
      </p:sp>
      <p:sp>
        <p:nvSpPr>
          <p:cNvPr id="18" name="Text 16"/>
          <p:cNvSpPr txBox="1"/>
          <p:nvPr/>
        </p:nvSpPr>
        <p:spPr>
          <a:xfrm>
            <a:off x="731520" y="5074920"/>
            <a:ext cx="5120640" cy="868680"/>
          </a:xfrm>
          <a:prstGeom prst="rect">
            <a:avLst/>
          </a:prstGeom>
          <a:noFill/>
          <a:ln/>
        </p:spPr>
        <p:txBody>
          <a:bodyPr wrap="square" lIns="0" tIns="0" rIns="0" bIns="0" rtlCol="0" anchor="t"/>
          <a:lstStyle/>
          <a:p>
            <a:pPr indent="0" marL="0">
              <a:buNone/>
            </a:pPr>
            <a:r>
              <a:rPr lang="en-US" sz="1300" b="1" dirty="0">
                <a:solidFill>
                  <a:srgbClr val="F5C451"/>
                </a:solidFill>
              </a:rPr>
              <a:t>Honest limits</a:t>
            </a:r>
            <a:endParaRPr lang="en-US" sz="1300" dirty="0"/>
          </a:p>
          <a:p>
            <a:pPr indent="0" marL="0">
              <a:buNone/>
            </a:pPr>
            <a:r>
              <a:rPr lang="en-US" sz="1300" dirty="0">
                <a:solidFill>
                  <a:srgbClr val="E8EDF2"/>
                </a:solidFill>
              </a:rPr>
              <a:t>Simulation so far (navigation re-tested on real Bråviken terrain) · jammer model is free-space · the swarm assumes its radio link survives · very slow spoofs (&lt; 0.1 m/s) are not caught</a:t>
            </a:r>
            <a:endParaRPr lang="en-US" sz="1300" dirty="0"/>
          </a:p>
        </p:txBody>
      </p:sp>
      <p:sp>
        <p:nvSpPr>
          <p:cNvPr id="19" name="Text 17"/>
          <p:cNvSpPr txBox="1"/>
          <p:nvPr/>
        </p:nvSpPr>
        <p:spPr>
          <a:xfrm>
            <a:off x="6400800" y="1371600"/>
            <a:ext cx="5212080" cy="365760"/>
          </a:xfrm>
          <a:prstGeom prst="rect">
            <a:avLst/>
          </a:prstGeom>
          <a:noFill/>
          <a:ln/>
        </p:spPr>
        <p:txBody>
          <a:bodyPr wrap="square" lIns="0" tIns="0" rIns="0" bIns="0" rtlCol="0" anchor="ctr"/>
          <a:lstStyle/>
          <a:p>
            <a:pPr indent="0" marL="0">
              <a:buNone/>
            </a:pPr>
            <a:r>
              <a:rPr lang="en-US" sz="1400" b="1" spc="200" kern="0" dirty="0">
                <a:solidFill>
                  <a:srgbClr val="F26B1D"/>
                </a:solidFill>
              </a:rPr>
              <a:t>NEXT</a:t>
            </a:r>
            <a:endParaRPr lang="en-US" sz="1400" dirty="0"/>
          </a:p>
        </p:txBody>
      </p:sp>
      <p:sp>
        <p:nvSpPr>
          <p:cNvPr id="20" name="icon circle Real drones in Terra lab"/>
          <p:cNvSpPr/>
          <p:nvPr/>
        </p:nvSpPr>
        <p:spPr>
          <a:xfrm>
            <a:off x="6400800" y="1874520"/>
            <a:ext cx="548640" cy="548640"/>
          </a:xfrm>
          <a:prstGeom prst="ellipse">
            <a:avLst/>
          </a:prstGeom>
          <a:solidFill>
            <a:srgbClr val="1E3246"/>
          </a:solidFill>
          <a:ln w="19050">
            <a:solidFill>
              <a:srgbClr val="F26B1D"/>
            </a:solidFill>
            <a:prstDash val="solid"/>
          </a:ln>
        </p:spPr>
      </p:sp>
      <p:pic>
        <p:nvPicPr>
          <p:cNvPr id="21" name="Image 0" descr="Real drones in Terra lab">    </p:cNvPr>
          <p:cNvPicPr>
            <a:picLocks noChangeAspect="1"/>
          </p:cNvPicPr>
          <p:nvPr/>
        </p:nvPicPr>
        <p:blipFill>
          <a:blip r:embed="rId1"/>
          <a:stretch>
            <a:fillRect/>
          </a:stretch>
        </p:blipFill>
        <p:spPr>
          <a:xfrm>
            <a:off x="6537960" y="2011680"/>
            <a:ext cx="274320" cy="274320"/>
          </a:xfrm>
          <a:prstGeom prst="rect">
            <a:avLst/>
          </a:prstGeom>
        </p:spPr>
      </p:pic>
      <p:sp>
        <p:nvSpPr>
          <p:cNvPr id="22" name="row Real drones in Terra lab"/>
          <p:cNvSpPr txBox="1"/>
          <p:nvPr/>
        </p:nvSpPr>
        <p:spPr>
          <a:xfrm>
            <a:off x="7132320" y="1828800"/>
            <a:ext cx="4526280" cy="868680"/>
          </a:xfrm>
          <a:prstGeom prst="rect">
            <a:avLst/>
          </a:prstGeom>
          <a:noFill/>
          <a:ln/>
        </p:spPr>
        <p:txBody>
          <a:bodyPr wrap="square" lIns="0" tIns="0" rIns="0" bIns="0" rtlCol="0" anchor="t"/>
          <a:lstStyle/>
          <a:p>
            <a:pPr indent="0" marL="0">
              <a:buNone/>
            </a:pPr>
            <a:r>
              <a:rPr lang="en-US" sz="1500" b="1" dirty="0">
                <a:solidFill>
                  <a:srgbClr val="FFFFFF"/>
                </a:solidFill>
              </a:rPr>
              <a:t>Real drones in Terra lab</a:t>
            </a:r>
            <a:endParaRPr lang="en-US" sz="1500" dirty="0"/>
          </a:p>
          <a:p>
            <a:pPr indent="0" marL="0">
              <a:buNone/>
            </a:pPr>
            <a:r>
              <a:rPr lang="en-US" sz="1300" dirty="0">
                <a:solidFill>
                  <a:srgbClr val="E8EDF2"/>
                </a:solidFill>
              </a:rPr>
              <a:t>Holybro PX4 drones + Vicon ground truth at LiU</a:t>
            </a:r>
            <a:endParaRPr lang="en-US" sz="1500" dirty="0"/>
          </a:p>
        </p:txBody>
      </p:sp>
      <p:sp>
        <p:nvSpPr>
          <p:cNvPr id="23" name="icon circle Real jamming indicators"/>
          <p:cNvSpPr/>
          <p:nvPr/>
        </p:nvSpPr>
        <p:spPr>
          <a:xfrm>
            <a:off x="6400800" y="2834640"/>
            <a:ext cx="548640" cy="548640"/>
          </a:xfrm>
          <a:prstGeom prst="ellipse">
            <a:avLst/>
          </a:prstGeom>
          <a:solidFill>
            <a:srgbClr val="1E3246"/>
          </a:solidFill>
          <a:ln w="19050">
            <a:solidFill>
              <a:srgbClr val="F26B1D"/>
            </a:solidFill>
            <a:prstDash val="solid"/>
          </a:ln>
        </p:spPr>
      </p:sp>
      <p:pic>
        <p:nvPicPr>
          <p:cNvPr id="24" name="Image 1" descr="Real jamming indicators">    </p:cNvPr>
          <p:cNvPicPr>
            <a:picLocks noChangeAspect="1"/>
          </p:cNvPicPr>
          <p:nvPr/>
        </p:nvPicPr>
        <p:blipFill>
          <a:blip r:embed="rId2"/>
          <a:stretch>
            <a:fillRect/>
          </a:stretch>
        </p:blipFill>
        <p:spPr>
          <a:xfrm>
            <a:off x="6537960" y="2971800"/>
            <a:ext cx="274320" cy="274320"/>
          </a:xfrm>
          <a:prstGeom prst="rect">
            <a:avLst/>
          </a:prstGeom>
        </p:spPr>
      </p:pic>
      <p:sp>
        <p:nvSpPr>
          <p:cNvPr id="25" name="row Real jamming indicators"/>
          <p:cNvSpPr txBox="1"/>
          <p:nvPr/>
        </p:nvSpPr>
        <p:spPr>
          <a:xfrm>
            <a:off x="7132320" y="2788920"/>
            <a:ext cx="4526280" cy="868680"/>
          </a:xfrm>
          <a:prstGeom prst="rect">
            <a:avLst/>
          </a:prstGeom>
          <a:noFill/>
          <a:ln/>
        </p:spPr>
        <p:txBody>
          <a:bodyPr wrap="square" lIns="0" tIns="0" rIns="0" bIns="0" rtlCol="0" anchor="t"/>
          <a:lstStyle/>
          <a:p>
            <a:pPr indent="0" marL="0">
              <a:buNone/>
            </a:pPr>
            <a:r>
              <a:rPr lang="en-US" sz="1500" b="1" dirty="0">
                <a:solidFill>
                  <a:srgbClr val="FFFFFF"/>
                </a:solidFill>
              </a:rPr>
              <a:t>Real jamming indicators</a:t>
            </a:r>
            <a:endParaRPr lang="en-US" sz="1500" dirty="0"/>
          </a:p>
          <a:p>
            <a:pPr indent="0" marL="0">
              <a:buNone/>
            </a:pPr>
            <a:r>
              <a:rPr lang="en-US" sz="1300" dirty="0">
                <a:solidFill>
                  <a:srgbClr val="E8EDF2"/>
                </a:solidFill>
              </a:rPr>
              <a:t>u-blox receivers already report interference to PX4</a:t>
            </a:r>
            <a:endParaRPr lang="en-US" sz="1500" dirty="0"/>
          </a:p>
        </p:txBody>
      </p:sp>
      <p:sp>
        <p:nvSpPr>
          <p:cNvPr id="26" name="icon circle AquaGuard Technologies"/>
          <p:cNvSpPr/>
          <p:nvPr/>
        </p:nvSpPr>
        <p:spPr>
          <a:xfrm>
            <a:off x="6400800" y="3794760"/>
            <a:ext cx="548640" cy="548640"/>
          </a:xfrm>
          <a:prstGeom prst="ellipse">
            <a:avLst/>
          </a:prstGeom>
          <a:solidFill>
            <a:srgbClr val="1E3246"/>
          </a:solidFill>
          <a:ln w="19050">
            <a:solidFill>
              <a:srgbClr val="F26B1D"/>
            </a:solidFill>
            <a:prstDash val="solid"/>
          </a:ln>
        </p:spPr>
      </p:sp>
      <p:pic>
        <p:nvPicPr>
          <p:cNvPr id="27" name="Image 2" descr="AquaGuard Technologies">    </p:cNvPr>
          <p:cNvPicPr>
            <a:picLocks noChangeAspect="1"/>
          </p:cNvPicPr>
          <p:nvPr/>
        </p:nvPicPr>
        <p:blipFill>
          <a:blip r:embed="rId3"/>
          <a:stretch>
            <a:fillRect/>
          </a:stretch>
        </p:blipFill>
        <p:spPr>
          <a:xfrm>
            <a:off x="6537960" y="3931920"/>
            <a:ext cx="274320" cy="274320"/>
          </a:xfrm>
          <a:prstGeom prst="rect">
            <a:avLst/>
          </a:prstGeom>
        </p:spPr>
      </p:pic>
      <p:sp>
        <p:nvSpPr>
          <p:cNvPr id="28" name="row AquaGuard Technologies"/>
          <p:cNvSpPr txBox="1"/>
          <p:nvPr/>
        </p:nvSpPr>
        <p:spPr>
          <a:xfrm>
            <a:off x="7132320" y="3749040"/>
            <a:ext cx="4526280" cy="868680"/>
          </a:xfrm>
          <a:prstGeom prst="rect">
            <a:avLst/>
          </a:prstGeom>
          <a:noFill/>
          <a:ln/>
        </p:spPr>
        <p:txBody>
          <a:bodyPr wrap="square" lIns="0" tIns="0" rIns="0" bIns="0" rtlCol="0" anchor="t"/>
          <a:lstStyle/>
          <a:p>
            <a:pPr indent="0" marL="0">
              <a:buNone/>
            </a:pPr>
            <a:r>
              <a:rPr lang="en-US" sz="1500" b="1" dirty="0">
                <a:solidFill>
                  <a:srgbClr val="FFFFFF"/>
                </a:solidFill>
              </a:rPr>
              <a:t>AquaGuard Technologies</a:t>
            </a:r>
            <a:endParaRPr lang="en-US" sz="1500" dirty="0"/>
          </a:p>
          <a:p>
            <a:pPr indent="0" marL="0">
              <a:buNone/>
            </a:pPr>
            <a:r>
              <a:rPr lang="en-US" sz="1300" dirty="0">
                <a:solidFill>
                  <a:srgbClr val="E8EDF2"/>
                </a:solidFill>
              </a:rPr>
              <a:t>Satellite/SAR imagery as backup map; our jammer reports as their data feed</a:t>
            </a:r>
            <a:endParaRPr lang="en-US" sz="1500" dirty="0"/>
          </a:p>
        </p:txBody>
      </p:sp>
      <p:sp>
        <p:nvSpPr>
          <p:cNvPr id="29" name="icon circle Operator in the loop"/>
          <p:cNvSpPr/>
          <p:nvPr/>
        </p:nvSpPr>
        <p:spPr>
          <a:xfrm>
            <a:off x="6400800" y="4754880"/>
            <a:ext cx="548640" cy="548640"/>
          </a:xfrm>
          <a:prstGeom prst="ellipse">
            <a:avLst/>
          </a:prstGeom>
          <a:solidFill>
            <a:srgbClr val="1E3246"/>
          </a:solidFill>
          <a:ln w="19050">
            <a:solidFill>
              <a:srgbClr val="F26B1D"/>
            </a:solidFill>
            <a:prstDash val="solid"/>
          </a:ln>
        </p:spPr>
      </p:sp>
      <p:pic>
        <p:nvPicPr>
          <p:cNvPr id="30" name="Image 3" descr="Operator in the loop">    </p:cNvPr>
          <p:cNvPicPr>
            <a:picLocks noChangeAspect="1"/>
          </p:cNvPicPr>
          <p:nvPr/>
        </p:nvPicPr>
        <p:blipFill>
          <a:blip r:embed="rId4"/>
          <a:stretch>
            <a:fillRect/>
          </a:stretch>
        </p:blipFill>
        <p:spPr>
          <a:xfrm>
            <a:off x="6537960" y="4892040"/>
            <a:ext cx="274320" cy="274320"/>
          </a:xfrm>
          <a:prstGeom prst="rect">
            <a:avLst/>
          </a:prstGeom>
        </p:spPr>
      </p:pic>
      <p:sp>
        <p:nvSpPr>
          <p:cNvPr id="31" name="row Operator in the loop"/>
          <p:cNvSpPr txBox="1"/>
          <p:nvPr/>
        </p:nvSpPr>
        <p:spPr>
          <a:xfrm>
            <a:off x="7132320" y="4709160"/>
            <a:ext cx="4526280" cy="868680"/>
          </a:xfrm>
          <a:prstGeom prst="rect">
            <a:avLst/>
          </a:prstGeom>
          <a:noFill/>
          <a:ln/>
        </p:spPr>
        <p:txBody>
          <a:bodyPr wrap="square" lIns="0" tIns="0" rIns="0" bIns="0" rtlCol="0" anchor="t"/>
          <a:lstStyle/>
          <a:p>
            <a:pPr indent="0" marL="0">
              <a:buNone/>
            </a:pPr>
            <a:r>
              <a:rPr lang="en-US" sz="1500" b="1" dirty="0">
                <a:solidFill>
                  <a:srgbClr val="FFFFFF"/>
                </a:solidFill>
              </a:rPr>
              <a:t>Operator in the loop</a:t>
            </a:r>
            <a:endParaRPr lang="en-US" sz="1500" dirty="0"/>
          </a:p>
          <a:p>
            <a:pPr indent="0" marL="0">
              <a:buNone/>
            </a:pPr>
            <a:r>
              <a:rPr lang="en-US" sz="1300" dirty="0">
                <a:solidFill>
                  <a:srgbClr val="E8EDF2"/>
                </a:solidFill>
              </a:rPr>
              <a:t>Secure drone-to-drone link, human approval for reroutes</a:t>
            </a:r>
            <a:endParaRPr lang="en-US" sz="15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Team</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TEAM</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person card Den"/>
          <p:cNvSpPr/>
          <p:nvPr/>
        </p:nvSpPr>
        <p:spPr>
          <a:xfrm>
            <a:off x="548640" y="1371600"/>
            <a:ext cx="5486400" cy="1737360"/>
          </a:xfrm>
          <a:prstGeom prst="roundRect">
            <a:avLst>
              <a:gd name="adj" fmla="val 6316"/>
            </a:avLst>
          </a:prstGeom>
          <a:solidFill>
            <a:srgbClr val="1E3246"/>
          </a:solidFill>
          <a:ln w="12700">
            <a:solidFill>
              <a:srgbClr val="1E3246"/>
            </a:solidFill>
            <a:prstDash val="solid"/>
          </a:ln>
        </p:spPr>
      </p:sp>
      <p:sp>
        <p:nvSpPr>
          <p:cNvPr id="7" name="person icon circle Den"/>
          <p:cNvSpPr/>
          <p:nvPr/>
        </p:nvSpPr>
        <p:spPr>
          <a:xfrm>
            <a:off x="822960" y="1691640"/>
            <a:ext cx="1005840" cy="1005840"/>
          </a:xfrm>
          <a:prstGeom prst="ellipse">
            <a:avLst/>
          </a:prstGeom>
          <a:solidFill>
            <a:srgbClr val="F26B1D"/>
          </a:solidFill>
          <a:ln w="12700">
            <a:solidFill>
              <a:srgbClr val="F26B1D"/>
            </a:solidFill>
            <a:prstDash val="solid"/>
          </a:ln>
        </p:spPr>
      </p:sp>
      <p:pic>
        <p:nvPicPr>
          <p:cNvPr id="8" name="Image 0" descr="Den">    </p:cNvPr>
          <p:cNvPicPr>
            <a:picLocks noChangeAspect="1"/>
          </p:cNvPicPr>
          <p:nvPr/>
        </p:nvPicPr>
        <p:blipFill>
          <a:blip r:embed="rId1"/>
          <a:stretch>
            <a:fillRect/>
          </a:stretch>
        </p:blipFill>
        <p:spPr>
          <a:xfrm>
            <a:off x="1097280" y="1965960"/>
            <a:ext cx="457200" cy="457200"/>
          </a:xfrm>
          <a:prstGeom prst="rect">
            <a:avLst/>
          </a:prstGeom>
        </p:spPr>
      </p:pic>
      <p:sp>
        <p:nvSpPr>
          <p:cNvPr id="9" name="Text 6"/>
          <p:cNvSpPr txBox="1"/>
          <p:nvPr/>
        </p:nvSpPr>
        <p:spPr>
          <a:xfrm>
            <a:off x="2057400" y="1508760"/>
            <a:ext cx="3794760" cy="1463040"/>
          </a:xfrm>
          <a:prstGeom prst="rect">
            <a:avLst/>
          </a:prstGeom>
          <a:noFill/>
          <a:ln/>
        </p:spPr>
        <p:txBody>
          <a:bodyPr wrap="square" lIns="0" tIns="0" rIns="0" bIns="0" rtlCol="0" anchor="ctr"/>
          <a:lstStyle/>
          <a:p>
            <a:pPr indent="0" marL="0">
              <a:buNone/>
            </a:pPr>
            <a:r>
              <a:rPr lang="en-US" sz="2200" b="1" dirty="0">
                <a:solidFill>
                  <a:srgbClr val="FFFFFF"/>
                </a:solidFill>
              </a:rPr>
              <a:t>Den</a:t>
            </a:r>
            <a:endParaRPr lang="en-US" sz="2200" dirty="0"/>
          </a:p>
          <a:p>
            <a:pPr indent="0" marL="0">
              <a:buNone/>
            </a:pPr>
            <a:r>
              <a:rPr lang="en-US" sz="1400" dirty="0">
                <a:solidFill>
                  <a:srgbClr val="F26B1D"/>
                </a:solidFill>
              </a:rPr>
              <a:t>Cyber security student</a:t>
            </a:r>
            <a:endParaRPr lang="en-US" sz="2200" dirty="0"/>
          </a:p>
          <a:p>
            <a:pPr indent="0" marL="0">
              <a:buNone/>
            </a:pPr>
            <a:r>
              <a:rPr lang="en-US" sz="1300" dirty="0">
                <a:solidFill>
                  <a:srgbClr val="E8EDF2"/>
                </a:solidFill>
              </a:rPr>
              <a:t>Detection · swarm sharing · attack defence · live PX4 mission</a:t>
            </a:r>
            <a:endParaRPr lang="en-US" sz="2200" dirty="0"/>
          </a:p>
        </p:txBody>
      </p:sp>
      <p:sp>
        <p:nvSpPr>
          <p:cNvPr id="10" name="person card Guled"/>
          <p:cNvSpPr/>
          <p:nvPr/>
        </p:nvSpPr>
        <p:spPr>
          <a:xfrm>
            <a:off x="6172200" y="1371600"/>
            <a:ext cx="5486400" cy="1737360"/>
          </a:xfrm>
          <a:prstGeom prst="roundRect">
            <a:avLst>
              <a:gd name="adj" fmla="val 6316"/>
            </a:avLst>
          </a:prstGeom>
          <a:solidFill>
            <a:srgbClr val="1E3246"/>
          </a:solidFill>
          <a:ln w="12700">
            <a:solidFill>
              <a:srgbClr val="1E3246"/>
            </a:solidFill>
            <a:prstDash val="solid"/>
          </a:ln>
        </p:spPr>
      </p:sp>
      <p:sp>
        <p:nvSpPr>
          <p:cNvPr id="11" name="person icon circle Guled"/>
          <p:cNvSpPr/>
          <p:nvPr/>
        </p:nvSpPr>
        <p:spPr>
          <a:xfrm>
            <a:off x="6446520" y="1691640"/>
            <a:ext cx="1005840" cy="1005840"/>
          </a:xfrm>
          <a:prstGeom prst="ellipse">
            <a:avLst/>
          </a:prstGeom>
          <a:solidFill>
            <a:srgbClr val="F26B1D"/>
          </a:solidFill>
          <a:ln w="12700">
            <a:solidFill>
              <a:srgbClr val="F26B1D"/>
            </a:solidFill>
            <a:prstDash val="solid"/>
          </a:ln>
        </p:spPr>
      </p:sp>
      <p:pic>
        <p:nvPicPr>
          <p:cNvPr id="12" name="Image 1" descr="Guled">    </p:cNvPr>
          <p:cNvPicPr>
            <a:picLocks noChangeAspect="1"/>
          </p:cNvPicPr>
          <p:nvPr/>
        </p:nvPicPr>
        <p:blipFill>
          <a:blip r:embed="rId2"/>
          <a:stretch>
            <a:fillRect/>
          </a:stretch>
        </p:blipFill>
        <p:spPr>
          <a:xfrm>
            <a:off x="6720840" y="1965960"/>
            <a:ext cx="457200" cy="457200"/>
          </a:xfrm>
          <a:prstGeom prst="rect">
            <a:avLst/>
          </a:prstGeom>
        </p:spPr>
      </p:pic>
      <p:sp>
        <p:nvSpPr>
          <p:cNvPr id="13" name="Text 9"/>
          <p:cNvSpPr txBox="1"/>
          <p:nvPr/>
        </p:nvSpPr>
        <p:spPr>
          <a:xfrm>
            <a:off x="7680960" y="1508760"/>
            <a:ext cx="3794760" cy="1463040"/>
          </a:xfrm>
          <a:prstGeom prst="rect">
            <a:avLst/>
          </a:prstGeom>
          <a:noFill/>
          <a:ln/>
        </p:spPr>
        <p:txBody>
          <a:bodyPr wrap="square" lIns="0" tIns="0" rIns="0" bIns="0" rtlCol="0" anchor="ctr"/>
          <a:lstStyle/>
          <a:p>
            <a:pPr indent="0" marL="0">
              <a:buNone/>
            </a:pPr>
            <a:r>
              <a:rPr lang="en-US" sz="2200" b="1" dirty="0">
                <a:solidFill>
                  <a:srgbClr val="FFFFFF"/>
                </a:solidFill>
              </a:rPr>
              <a:t>Guled</a:t>
            </a:r>
            <a:endParaRPr lang="en-US" sz="2200" dirty="0"/>
          </a:p>
          <a:p>
            <a:pPr indent="0" marL="0">
              <a:buNone/>
            </a:pPr>
            <a:r>
              <a:rPr lang="en-US" sz="1400" dirty="0">
                <a:solidFill>
                  <a:srgbClr val="F26B1D"/>
                </a:solidFill>
              </a:rPr>
              <a:t>Computer engineering student</a:t>
            </a:r>
            <a:endParaRPr lang="en-US" sz="2200" dirty="0"/>
          </a:p>
          <a:p>
            <a:pPr indent="0" marL="0">
              <a:buNone/>
            </a:pPr>
            <a:r>
              <a:rPr lang="en-US" sz="1300" dirty="0">
                <a:solidFill>
                  <a:srgbClr val="E8EDF2"/>
                </a:solidFill>
              </a:rPr>
              <a:t>GPS-free navigation · jammer hunter · AI mission brain · slides</a:t>
            </a:r>
            <a:endParaRPr lang="en-US" sz="2200" dirty="0"/>
          </a:p>
        </p:txBody>
      </p:sp>
      <p:sp>
        <p:nvSpPr>
          <p:cNvPr id="14" name="Text 10"/>
          <p:cNvSpPr txBox="1"/>
          <p:nvPr/>
        </p:nvSpPr>
        <p:spPr>
          <a:xfrm>
            <a:off x="548640" y="3383280"/>
            <a:ext cx="11109960" cy="457200"/>
          </a:xfrm>
          <a:prstGeom prst="rect">
            <a:avLst/>
          </a:prstGeom>
          <a:noFill/>
          <a:ln/>
        </p:spPr>
        <p:txBody>
          <a:bodyPr wrap="square" lIns="0" tIns="0" rIns="0" bIns="0" rtlCol="0" anchor="ctr"/>
          <a:lstStyle/>
          <a:p>
            <a:pPr indent="0" marL="0">
              <a:buNone/>
            </a:pPr>
            <a:r>
              <a:rPr lang="en-US" sz="1400" b="1" dirty="0">
                <a:solidFill>
                  <a:srgbClr val="FFFFFF"/>
                </a:solidFill>
              </a:rPr>
              <a:t>Shaped by: </a:t>
            </a:r>
            <a:pPr indent="0" marL="0">
              <a:buNone/>
            </a:pPr>
            <a:r>
              <a:rPr lang="en-US" sz="1400" dirty="0">
                <a:solidFill>
                  <a:srgbClr val="E8EDF2"/>
                </a:solidFill>
              </a:rPr>
              <a:t>Swedish Air Force Helicopter Wing · military end-users · drone expert Isabella · a satellite company · fellow participants</a:t>
            </a:r>
            <a:endParaRPr lang="en-US" sz="1400" dirty="0"/>
          </a:p>
        </p:txBody>
      </p:sp>
      <p:sp>
        <p:nvSpPr>
          <p:cNvPr id="15" name="closing card"/>
          <p:cNvSpPr/>
          <p:nvPr/>
        </p:nvSpPr>
        <p:spPr>
          <a:xfrm>
            <a:off x="548640" y="4206240"/>
            <a:ext cx="11109960" cy="1828800"/>
          </a:xfrm>
          <a:prstGeom prst="roundRect">
            <a:avLst>
              <a:gd name="adj" fmla="val 7000"/>
            </a:avLst>
          </a:prstGeom>
          <a:solidFill>
            <a:srgbClr val="F26B1D"/>
          </a:solidFill>
          <a:ln w="12700">
            <a:solidFill>
              <a:srgbClr val="F26B1D"/>
            </a:solidFill>
            <a:prstDash val="solid"/>
          </a:ln>
        </p:spPr>
      </p:sp>
      <p:sp>
        <p:nvSpPr>
          <p:cNvPr id="16" name="Text 12"/>
          <p:cNvSpPr txBox="1"/>
          <p:nvPr/>
        </p:nvSpPr>
        <p:spPr>
          <a:xfrm>
            <a:off x="868680" y="4297680"/>
            <a:ext cx="10515600" cy="1645920"/>
          </a:xfrm>
          <a:prstGeom prst="rect">
            <a:avLst/>
          </a:prstGeom>
          <a:noFill/>
          <a:ln/>
        </p:spPr>
        <p:txBody>
          <a:bodyPr wrap="square" lIns="0" tIns="0" rIns="0" bIns="0" rtlCol="0" anchor="ctr"/>
          <a:lstStyle/>
          <a:p>
            <a:pPr indent="0" marL="0">
              <a:buNone/>
            </a:pPr>
            <a:r>
              <a:rPr lang="en-US" sz="2600" b="1" dirty="0">
                <a:solidFill>
                  <a:srgbClr val="FFFFFF"/>
                </a:solidFill>
              </a:rPr>
              <a:t>One drone gets jammed — the whole swarm learns.</a:t>
            </a:r>
            <a:endParaRPr lang="en-US" sz="2600" dirty="0"/>
          </a:p>
          <a:p>
            <a:pPr indent="0" marL="0">
              <a:buNone/>
            </a:pPr>
            <a:r>
              <a:rPr lang="en-US" sz="2600" b="1" dirty="0">
                <a:solidFill>
                  <a:srgbClr val="FFFFFF"/>
                </a:solidFill>
              </a:rPr>
              <a:t>If the enemy fakes the warnings, physics exposes the liar.</a:t>
            </a:r>
            <a:endParaRPr lang="en-US" sz="26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 Under Attack - EUDIS Defence Hackathon 2026</dc:title>
  <dc:subject>Pitch: GNSS-denied navigation, Challenge 1</dc:subject>
  <dc:creator>Den and Guled</dc:creator>
  <cp:lastModifiedBy>Den and Guled</cp:lastModifiedBy>
  <cp:revision>1</cp:revision>
  <dcterms:created xsi:type="dcterms:W3CDTF">2026-10-16T21:24:20Z</dcterms:created>
  <dcterms:modified xsi:type="dcterms:W3CDTF">2026-10-16T21:24:20Z</dcterms:modified>
</cp:coreProperties>
</file>
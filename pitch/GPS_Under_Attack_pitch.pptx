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ff4842-ceb9-14f4-6977-b8d1c4b1ad85}">
          <p14:sldIdLst>
            <p14:sldId id="256"/>
          </p14:sldIdLst>
        </p14:section>
        <p14:section name="Problem" id="{0125132a-ad14-da99-76d5-92feeec56011}">
          <p14:sldIdLst>
            <p14:sldId id="257"/>
            <p14:sldId id="258"/>
          </p14:sldIdLst>
        </p14:section>
        <p14:section name="Solution" id="{b5c279df-08e6-67eb-eeed-2ab0305ed7f3}">
          <p14:sldIdLst>
            <p14:sldId id="259"/>
            <p14:sldId id="260"/>
            <p14:sldId id="261"/>
            <p14:sldId id="262"/>
            <p14:sldId id="263"/>
          </p14:sldIdLst>
        </p14:section>
        <p14:section name="Proof" id="{a448ba3a-8e34-faf9-0f80-e3d5dc4d7dbb}">
          <p14:sldIdLst>
            <p14:sldId id="264"/>
            <p14:sldId id="265"/>
          </p14:sldIdLst>
        </p14:section>
        <p14:section name="Progress and team" id="{240c78cd-3d26-d1b9-9d9e-2114524a82c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Hi, we are Den and Guled. GPS is the single point of failure of today's drones. Our idea in one sentence: when one drone gets jammed, the whole swarm learns from it and still completes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0:15–0:45  We started by interviewing the Swedish Air Force Helicopter Wing. Jamming happens really often, it must be detected as soon as possible, and in winter snow hides the landmarks maps rely on. We tested the real PX4 autopilot: after GPS loss it needs 5 seconds, then lands blind wherever it is. It never comes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0:45–1:10  On Friday the military told us: detect-and-return already exists. What they want is that the jammed drone warns the others and the swarm still reaches the target. So we built this pipeline — six steps, split between the two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1:10–1:35  Detection is the foundation. Jamming: our monitor reacts in 1 second, PX4 in 5. Spoofing is the hard case: a slow 0.5 m/s drag keeps a perfect GPS fix. We compare GPS with the drone's own motion sensors — noise is random, a spoofer always pushes one way. Caught in 13 seconds; a PX4-style check never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1:35–2:05  Guled: without GPS the IMU drifts — almost 2 km after 8.8 km. A camera works on a normal day, but in snow it recognised 0 of 8 landmarks. Terrain matching with a laser altimeter compares the shape of the hills, which snow doesn't hide: 14.5 metres. And the jammed drones become sensors: two of them locate the jammer to about 120 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2:05–2:30  Guled: the military asked for a system that finds a solution on its own. Our AI mission brain assesses the situation, measures, plans and reports — but it can only act through four safe tools, and every action passes a safety check. The AI decides what, tested code decides how. Today's system aborts; ours completes the mission 8 metres from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2:30–3:00  Den: this is the core. Today all three drones fly into the jammer and are lost. Alone, each has to get jammed to learn. In our swarm the first drone is a scout: it detects the jamming, backs out, and shares where GPS died. The others plan around it. 24 out of 24 drones reach the target over 8 random setups, and only the scout ever loses GPS.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Guled: the enemy puts the jammer where it protects something — so the target is often inside. Drones waiting at the edge still have GPS and measure their radio distance to the drone inside: the swarm becomes its own GPS, 1 metre instead of 59. And over the sea, where hills disappear, the Earth's magnetic map still works and can't be jammed. (Limits: assumes the drones' own radio link survives; the magnetic map in the demo is fairly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3:00–3:30  Not just a Python model: three real PX4 autopilots in Gazebo, at a military base with a jammer on the battlefield. The scout gets jammed, backs out blind on its own breadcrumbs and warns the others; all three end on station next to the target, never inside the building. It took seven test runs to get here — every failure is in our process log. (The animation plays automatically; media/gazebo_mission.mp4 is the sharper video if you prefer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3:30–4:00  Den, cyber security: Guled asked — what if the enemy fakes the warnings? A captured drone with a valid key reports 'all quiet' over the jammer. Undefended, it lured 9 drones into the trap. Our rule: a warning is cheap to believe, an all-clear must be proven against places where a drone really lost GPS. Liar caught 6 out of 6, no honest drone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In 48 hours: four expert inputs, fifteen logged iterations, twenty-four commits — every failure is documented. Honest limits: it's simulation, the jammer model is simple, and the swarm needs its radio link. Next: real drones in Terra lab, real interference readings from u-blox receivers, and — on drone expert Isabella's advice — AquaGuard's satellite imagery as a backup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We are a cyber-security and a computer-engineering student, and every step was shaped by the people who'd use it. One drone gets jammed — the whole swarm learns. And if the enemy fakes the warnings, physics exposes the liar.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669280" cy="21031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657600"/>
            <a:ext cx="5486400" cy="109728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E162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548640" y="6446520"/>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EUDIS Defence Hackathon 2026 · Challenge 1 · GNSS-denied navigation · Den &amp; Guled</a:t>
            </a:r>
            <a:endParaRPr lang="en-US" sz="10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300" b="1" spc="200" kern="0" dirty="0">
                <a:solidFill>
                  <a:schemeClr val="accent1"/>
                </a:solidFill>
              </a:rPr>
              <a:t>EUDIS DEFENCE HACKATHON 2026 · CHALLENGE 1</a:t>
            </a:r>
            <a:endParaRPr lang="en-US" sz="1300" dirty="0"/>
          </a:p>
        </p:txBody>
      </p:sp>
      <p:sp>
        <p:nvSpPr>
          <p:cNvPr id="3" name="Text 0"/>
          <p:cNvSpPr/>
          <p:nvPr>
            <p:ph idx="100" type="title" hasCustomPrompt="1"/>
          </p:nvPr>
        </p:nvSpPr>
        <p:spPr>
          <a:xfrm>
            <a:off x="640080" y="1417320"/>
            <a:ext cx="5669280" cy="2103120"/>
          </a:xfrm>
          <a:prstGeom prst="rect">
            <a:avLst/>
          </a:prstGeom>
          <a:noFill/>
          <a:ln/>
        </p:spPr>
        <p:txBody>
          <a:bodyPr wrap="square" lIns="0" tIns="0" rIns="0" bIns="0" rtlCol="0" anchor="t"/>
          <a:lstStyle/>
          <a:p>
            <a:pPr algn="l" indent="0" marL="0">
              <a:buNone/>
            </a:pPr>
            <a:r>
              <a:rPr lang="en-US" sz="4000" b="1" dirty="0">
                <a:solidFill>
                  <a:schemeClr val="bg1"/>
                </a:solidFill>
              </a:rPr>
              <a:t>One drone gets jammed — the whole swarm learns</a:t>
            </a:r>
            <a:endParaRPr lang="en-US" sz="4000" dirty="0"/>
          </a:p>
        </p:txBody>
      </p:sp>
      <p:sp>
        <p:nvSpPr>
          <p:cNvPr id="4" name="Text 0"/>
          <p:cNvSpPr/>
          <p:nvPr>
            <p:ph idx="101" type="body" hasCustomPrompt="1"/>
          </p:nvPr>
        </p:nvSpPr>
        <p:spPr>
          <a:xfrm>
            <a:off x="640080" y="3657600"/>
            <a:ext cx="5486400" cy="1097280"/>
          </a:xfrm>
          <a:prstGeom prst="rect">
            <a:avLst/>
          </a:prstGeom>
          <a:noFill/>
          <a:ln/>
        </p:spPr>
        <p:txBody>
          <a:bodyPr wrap="square" lIns="0" tIns="0" rIns="0" bIns="0" rtlCol="0" anchor="t"/>
          <a:lstStyle/>
          <a:p>
            <a:pPr algn="l" indent="0" marL="0">
              <a:buNone/>
            </a:pPr>
            <a:r>
              <a:rPr lang="en-US" sz="1800" dirty="0">
                <a:solidFill>
                  <a:schemeClr val="bg2"/>
                </a:solidFill>
              </a:rPr>
              <a:t>GPS-denied navigation that detects the attack, shares it, and still completes the mission</a:t>
            </a:r>
            <a:endParaRPr lang="en-US" sz="1800" dirty="0"/>
          </a:p>
        </p:txBody>
      </p:sp>
      <p:sp>
        <p:nvSpPr>
          <p:cNvPr id="5" name="Text 3"/>
          <p:cNvSpPr txBox="1"/>
          <p:nvPr/>
        </p:nvSpPr>
        <p:spPr>
          <a:xfrm>
            <a:off x="640080" y="5120640"/>
            <a:ext cx="5669280" cy="365760"/>
          </a:xfrm>
          <a:prstGeom prst="rect">
            <a:avLst/>
          </a:prstGeom>
          <a:noFill/>
          <a:ln/>
        </p:spPr>
        <p:txBody>
          <a:bodyPr wrap="square" lIns="0" tIns="0" rIns="0" bIns="0" rtlCol="0" anchor="ctr"/>
          <a:lstStyle/>
          <a:p>
            <a:pPr indent="0" marL="0">
              <a:buNone/>
            </a:pPr>
            <a:r>
              <a:rPr lang="en-US" sz="1500" b="1" dirty="0">
                <a:solidFill>
                  <a:schemeClr val="bg1"/>
                </a:solidFill>
              </a:rPr>
              <a:t>Den</a:t>
            </a:r>
            <a:pPr indent="0" marL="0">
              <a:buNone/>
            </a:pPr>
            <a:r>
              <a:rPr lang="en-US" sz="1500" dirty="0">
                <a:solidFill>
                  <a:schemeClr val="accent5"/>
                </a:solidFill>
              </a:rPr>
              <a:t>  cyber security    </a:t>
            </a:r>
            <a:pPr indent="0" marL="0">
              <a:buNone/>
            </a:pPr>
            <a:r>
              <a:rPr lang="en-US" sz="1500" b="1" dirty="0">
                <a:solidFill>
                  <a:schemeClr val="bg1"/>
                </a:solidFill>
              </a:rPr>
              <a:t>Guled</a:t>
            </a:r>
            <a:pPr indent="0" marL="0">
              <a:buNone/>
            </a:pPr>
            <a:r>
              <a:rPr lang="en-US" sz="1500" dirty="0">
                <a:solidFill>
                  <a:schemeClr val="accent5"/>
                </a:solidFill>
              </a:rPr>
              <a:t>  computer engineering</a:t>
            </a:r>
            <a:endParaRPr lang="en-US" sz="1500" dirty="0"/>
          </a:p>
        </p:txBody>
      </p:sp>
      <p:sp>
        <p:nvSpPr>
          <p:cNvPr id="6" name="Animated swarm mission on a satellite map frame"/>
          <p:cNvSpPr/>
          <p:nvPr/>
        </p:nvSpPr>
        <p:spPr>
          <a:xfrm>
            <a:off x="6565392" y="1353312"/>
            <a:ext cx="5157216" cy="3176016"/>
          </a:xfrm>
          <a:prstGeom prst="roundRect">
            <a:avLst>
              <a:gd name="adj" fmla="val 2303"/>
            </a:avLst>
          </a:prstGeom>
          <a:solidFill>
            <a:schemeClr val="bg1"/>
          </a:solidFill>
          <a:ln w="12700">
            <a:solidFill>
              <a:schemeClr val="bg1"/>
            </a:solidFill>
            <a:prstDash val="solid"/>
          </a:ln>
        </p:spPr>
      </p:sp>
      <p:pic>
        <p:nvPicPr>
          <p:cNvPr id="7" name="Animated swarm mission on a satellite map" descr="Animated swarm mission on a satellite map">    </p:cNvPr>
          <p:cNvPicPr>
            <a:picLocks noChangeAspect="1"/>
          </p:cNvPicPr>
          <p:nvPr/>
        </p:nvPicPr>
        <p:blipFill>
          <a:blip r:embed="rId1"/>
          <a:stretch>
            <a:fillRect/>
          </a:stretch>
        </p:blipFill>
        <p:spPr>
          <a:xfrm>
            <a:off x="6629400" y="1417320"/>
            <a:ext cx="5029200" cy="3048000"/>
          </a:xfrm>
          <a:prstGeom prst="rect">
            <a:avLst/>
          </a:prstGeom>
        </p:spPr>
      </p:pic>
      <p:sp>
        <p:nvSpPr>
          <p:cNvPr id="8" name="caption"/>
          <p:cNvSpPr txBox="1"/>
          <p:nvPr/>
        </p:nvSpPr>
        <p:spPr>
          <a:xfrm>
            <a:off x="6629400" y="4602480"/>
            <a:ext cx="5029200" cy="457200"/>
          </a:xfrm>
          <a:prstGeom prst="rect">
            <a:avLst/>
          </a:prstGeom>
          <a:noFill/>
          <a:ln/>
        </p:spPr>
        <p:txBody>
          <a:bodyPr wrap="square" lIns="0" tIns="0" rIns="0" bIns="0" rtlCol="0" anchor="t"/>
          <a:lstStyle/>
          <a:p>
            <a:pPr indent="0" marL="0">
              <a:buNone/>
            </a:pPr>
            <a:r>
              <a:rPr lang="en-US" sz="1100" i="1" dirty="0">
                <a:solidFill>
                  <a:schemeClr val="accent5"/>
                </a:solidFill>
              </a:rPr>
              <a:t>Our swarm mission on a real satellite map (animated). Illustrative location: Gotland, Baltic Sea.</a:t>
            </a:r>
            <a:endParaRPr lang="en-US" sz="1100" dirty="0"/>
          </a:p>
        </p:txBody>
      </p:sp>
      <p:sp>
        <p:nvSpPr>
          <p:cNvPr id="9" name="imagery credit"/>
          <p:cNvSpPr txBox="1"/>
          <p:nvPr/>
        </p:nvSpPr>
        <p:spPr>
          <a:xfrm>
            <a:off x="6629400" y="5013960"/>
            <a:ext cx="5029200" cy="365760"/>
          </a:xfrm>
          <a:prstGeom prst="rect">
            <a:avLst/>
          </a:prstGeom>
          <a:noFill/>
          <a:ln/>
        </p:spPr>
        <p:txBody>
          <a:bodyPr wrap="square" lIns="0" tIns="0" rIns="0" bIns="0" rtlCol="0" anchor="ctr"/>
          <a:lstStyle/>
          <a:p>
            <a:pPr indent="0" marL="0">
              <a:buNone/>
            </a:pPr>
            <a:r>
              <a:rPr lang="en-US" sz="800" dirty="0">
                <a:solidFill>
                  <a:schemeClr val="accent5"/>
                </a:solidFill>
              </a:rPr>
              <a:t>Satellite: Sentinel-2 cloudless 2016 © EOX IT Services GmbH (CC BY 4.0), contains modified Copernicus Sentinel data</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GPS is attacked “really often” — drones land blind</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Text 3"/>
          <p:cNvSpPr txBox="1"/>
          <p:nvPr/>
        </p:nvSpPr>
        <p:spPr>
          <a:xfrm>
            <a:off x="548640" y="1371600"/>
            <a:ext cx="5760720" cy="365760"/>
          </a:xfrm>
          <a:prstGeom prst="rect">
            <a:avLst/>
          </a:prstGeom>
          <a:noFill/>
          <a:ln/>
        </p:spPr>
        <p:txBody>
          <a:bodyPr wrap="square" lIns="0" tIns="0" rIns="0" bIns="0" rtlCol="0" anchor="ctr"/>
          <a:lstStyle/>
          <a:p>
            <a:pPr indent="0" marL="0">
              <a:buNone/>
            </a:pPr>
            <a:r>
              <a:rPr lang="en-US" sz="1500" b="1" dirty="0">
                <a:solidFill>
                  <a:schemeClr val="accent1"/>
                </a:solidFill>
              </a:rPr>
              <a:t>What the Swedish Air Force (Helicopter Wing) told us</a:t>
            </a:r>
            <a:endParaRPr lang="en-US" sz="1500" dirty="0"/>
          </a:p>
        </p:txBody>
      </p:sp>
      <p:sp>
        <p:nvSpPr>
          <p:cNvPr id="6" name="icon circle “It happens really often”"/>
          <p:cNvSpPr/>
          <p:nvPr/>
        </p:nvSpPr>
        <p:spPr>
          <a:xfrm>
            <a:off x="548640" y="1920240"/>
            <a:ext cx="548640" cy="548640"/>
          </a:xfrm>
          <a:prstGeom prst="ellipse">
            <a:avLst/>
          </a:prstGeom>
          <a:solidFill>
            <a:schemeClr val="tx2"/>
          </a:solidFill>
          <a:ln w="19050">
            <a:solidFill>
              <a:srgbClr val="F26B1D"/>
            </a:solidFill>
            <a:prstDash val="solid"/>
          </a:ln>
        </p:spPr>
      </p:sp>
      <p:pic>
        <p:nvPicPr>
          <p:cNvPr id="7" name="Image 0" descr="“It happens really often”">    </p:cNvPr>
          <p:cNvPicPr>
            <a:picLocks noChangeAspect="1"/>
          </p:cNvPicPr>
          <p:nvPr/>
        </p:nvPicPr>
        <p:blipFill>
          <a:blip r:embed="rId1"/>
          <a:stretch>
            <a:fillRect/>
          </a:stretch>
        </p:blipFill>
        <p:spPr>
          <a:xfrm>
            <a:off x="685800" y="2057400"/>
            <a:ext cx="274320" cy="274320"/>
          </a:xfrm>
          <a:prstGeom prst="rect">
            <a:avLst/>
          </a:prstGeom>
        </p:spPr>
      </p:pic>
      <p:sp>
        <p:nvSpPr>
          <p:cNvPr id="8" name="row “It happens really often”"/>
          <p:cNvSpPr txBox="1"/>
          <p:nvPr/>
        </p:nvSpPr>
        <p:spPr>
          <a:xfrm>
            <a:off x="1280160" y="1874520"/>
            <a:ext cx="5120640" cy="868680"/>
          </a:xfrm>
          <a:prstGeom prst="rect">
            <a:avLst/>
          </a:prstGeom>
          <a:noFill/>
          <a:ln/>
        </p:spPr>
        <p:txBody>
          <a:bodyPr wrap="square" lIns="0" tIns="0" rIns="0" bIns="0" rtlCol="0" anchor="t"/>
          <a:lstStyle/>
          <a:p>
            <a:pPr indent="0" marL="0">
              <a:buNone/>
            </a:pPr>
            <a:r>
              <a:rPr lang="en-US" sz="1500" b="1" dirty="0">
                <a:solidFill>
                  <a:schemeClr val="bg1"/>
                </a:solidFill>
              </a:rPr>
              <a:t>“It happens really often”</a:t>
            </a:r>
            <a:endParaRPr lang="en-US" sz="1500" dirty="0"/>
          </a:p>
          <a:p>
            <a:pPr indent="0" marL="0">
              <a:buNone/>
            </a:pPr>
            <a:r>
              <a:rPr lang="en-US" sz="1300" dirty="0">
                <a:solidFill>
                  <a:schemeClr val="bg2"/>
                </a:solidFill>
              </a:rPr>
              <a:t>Jamming and spoofing — the Baltic sees it every day</a:t>
            </a:r>
            <a:endParaRPr lang="en-US" sz="1500" dirty="0"/>
          </a:p>
        </p:txBody>
      </p:sp>
      <p:sp>
        <p:nvSpPr>
          <p:cNvPr id="9" name="icon circle “Detect it as soon as possible”"/>
          <p:cNvSpPr/>
          <p:nvPr/>
        </p:nvSpPr>
        <p:spPr>
          <a:xfrm>
            <a:off x="548640" y="2880360"/>
            <a:ext cx="548640" cy="548640"/>
          </a:xfrm>
          <a:prstGeom prst="ellipse">
            <a:avLst/>
          </a:prstGeom>
          <a:solidFill>
            <a:schemeClr val="tx2"/>
          </a:solidFill>
          <a:ln w="19050">
            <a:solidFill>
              <a:srgbClr val="F26B1D"/>
            </a:solidFill>
            <a:prstDash val="solid"/>
          </a:ln>
        </p:spPr>
      </p:sp>
      <p:pic>
        <p:nvPicPr>
          <p:cNvPr id="10" name="Image 1" descr="“Detect it as soon as possible”">    </p:cNvPr>
          <p:cNvPicPr>
            <a:picLocks noChangeAspect="1"/>
          </p:cNvPicPr>
          <p:nvPr/>
        </p:nvPicPr>
        <p:blipFill>
          <a:blip r:embed="rId2"/>
          <a:stretch>
            <a:fillRect/>
          </a:stretch>
        </p:blipFill>
        <p:spPr>
          <a:xfrm>
            <a:off x="685800" y="3017520"/>
            <a:ext cx="274320" cy="274320"/>
          </a:xfrm>
          <a:prstGeom prst="rect">
            <a:avLst/>
          </a:prstGeom>
        </p:spPr>
      </p:pic>
      <p:sp>
        <p:nvSpPr>
          <p:cNvPr id="11" name="row “Detect it as soon as possible”"/>
          <p:cNvSpPr txBox="1"/>
          <p:nvPr/>
        </p:nvSpPr>
        <p:spPr>
          <a:xfrm>
            <a:off x="1280160" y="2834640"/>
            <a:ext cx="5120640" cy="868680"/>
          </a:xfrm>
          <a:prstGeom prst="rect">
            <a:avLst/>
          </a:prstGeom>
          <a:noFill/>
          <a:ln/>
        </p:spPr>
        <p:txBody>
          <a:bodyPr wrap="square" lIns="0" tIns="0" rIns="0" bIns="0" rtlCol="0" anchor="t"/>
          <a:lstStyle/>
          <a:p>
            <a:pPr indent="0" marL="0">
              <a:buNone/>
            </a:pPr>
            <a:r>
              <a:rPr lang="en-US" sz="1500" b="1" dirty="0">
                <a:solidFill>
                  <a:schemeClr val="bg1"/>
                </a:solidFill>
              </a:rPr>
              <a:t>“Detect it as soon as possible”</a:t>
            </a:r>
            <a:endParaRPr lang="en-US" sz="1500" dirty="0"/>
          </a:p>
          <a:p>
            <a:pPr indent="0" marL="0">
              <a:buNone/>
            </a:pPr>
            <a:r>
              <a:rPr lang="en-US" sz="1300" dirty="0">
                <a:solidFill>
                  <a:schemeClr val="bg2"/>
                </a:solidFill>
              </a:rPr>
              <a:t>Both jamming and spoofing, depending on the mission</a:t>
            </a:r>
            <a:endParaRPr lang="en-US" sz="1500" dirty="0"/>
          </a:p>
        </p:txBody>
      </p:sp>
      <p:sp>
        <p:nvSpPr>
          <p:cNvPr id="12" name="icon circle “Snow hides the landmarks”"/>
          <p:cNvSpPr/>
          <p:nvPr/>
        </p:nvSpPr>
        <p:spPr>
          <a:xfrm>
            <a:off x="548640" y="3840480"/>
            <a:ext cx="548640" cy="548640"/>
          </a:xfrm>
          <a:prstGeom prst="ellipse">
            <a:avLst/>
          </a:prstGeom>
          <a:solidFill>
            <a:schemeClr val="tx2"/>
          </a:solidFill>
          <a:ln w="19050">
            <a:solidFill>
              <a:srgbClr val="F26B1D"/>
            </a:solidFill>
            <a:prstDash val="solid"/>
          </a:ln>
        </p:spPr>
      </p:sp>
      <p:pic>
        <p:nvPicPr>
          <p:cNvPr id="13" name="Image 2" descr="“Snow hides the landmarks”">    </p:cNvPr>
          <p:cNvPicPr>
            <a:picLocks noChangeAspect="1"/>
          </p:cNvPicPr>
          <p:nvPr/>
        </p:nvPicPr>
        <p:blipFill>
          <a:blip r:embed="rId3"/>
          <a:stretch>
            <a:fillRect/>
          </a:stretch>
        </p:blipFill>
        <p:spPr>
          <a:xfrm>
            <a:off x="685800" y="3977640"/>
            <a:ext cx="274320" cy="274320"/>
          </a:xfrm>
          <a:prstGeom prst="rect">
            <a:avLst/>
          </a:prstGeom>
        </p:spPr>
      </p:pic>
      <p:sp>
        <p:nvSpPr>
          <p:cNvPr id="14" name="row “Snow hides the landmarks”"/>
          <p:cNvSpPr txBox="1"/>
          <p:nvPr/>
        </p:nvSpPr>
        <p:spPr>
          <a:xfrm>
            <a:off x="1280160" y="3794760"/>
            <a:ext cx="5120640" cy="868680"/>
          </a:xfrm>
          <a:prstGeom prst="rect">
            <a:avLst/>
          </a:prstGeom>
          <a:noFill/>
          <a:ln/>
        </p:spPr>
        <p:txBody>
          <a:bodyPr wrap="square" lIns="0" tIns="0" rIns="0" bIns="0" rtlCol="0" anchor="t"/>
          <a:lstStyle/>
          <a:p>
            <a:pPr indent="0" marL="0">
              <a:buNone/>
            </a:pPr>
            <a:r>
              <a:rPr lang="en-US" sz="1500" b="1" dirty="0">
                <a:solidFill>
                  <a:schemeClr val="bg1"/>
                </a:solidFill>
              </a:rPr>
              <a:t>“Snow hides the landmarks”</a:t>
            </a:r>
            <a:endParaRPr lang="en-US" sz="1500" dirty="0"/>
          </a:p>
          <a:p>
            <a:pPr indent="0" marL="0">
              <a:buNone/>
            </a:pPr>
            <a:r>
              <a:rPr lang="en-US" sz="1300" dirty="0">
                <a:solidFill>
                  <a:schemeClr val="bg2"/>
                </a:solidFill>
              </a:rPr>
              <a:t>Pre-made maps stop matching in winter</a:t>
            </a:r>
            <a:endParaRPr lang="en-US" sz="1500" dirty="0"/>
          </a:p>
        </p:txBody>
      </p:sp>
      <p:sp>
        <p:nvSpPr>
          <p:cNvPr id="15" name="icon circle “A drone once built its own map to get home”"/>
          <p:cNvSpPr/>
          <p:nvPr/>
        </p:nvSpPr>
        <p:spPr>
          <a:xfrm>
            <a:off x="548640" y="4800600"/>
            <a:ext cx="548640" cy="548640"/>
          </a:xfrm>
          <a:prstGeom prst="ellipse">
            <a:avLst/>
          </a:prstGeom>
          <a:solidFill>
            <a:schemeClr val="tx2"/>
          </a:solidFill>
          <a:ln w="19050">
            <a:solidFill>
              <a:srgbClr val="F26B1D"/>
            </a:solidFill>
            <a:prstDash val="solid"/>
          </a:ln>
        </p:spPr>
      </p:sp>
      <p:pic>
        <p:nvPicPr>
          <p:cNvPr id="16" name="Image 3" descr="“A drone once built its own map to get home”">    </p:cNvPr>
          <p:cNvPicPr>
            <a:picLocks noChangeAspect="1"/>
          </p:cNvPicPr>
          <p:nvPr/>
        </p:nvPicPr>
        <p:blipFill>
          <a:blip r:embed="rId4"/>
          <a:stretch>
            <a:fillRect/>
          </a:stretch>
        </p:blipFill>
        <p:spPr>
          <a:xfrm>
            <a:off x="685800" y="4937760"/>
            <a:ext cx="274320" cy="274320"/>
          </a:xfrm>
          <a:prstGeom prst="rect">
            <a:avLst/>
          </a:prstGeom>
        </p:spPr>
      </p:pic>
      <p:sp>
        <p:nvSpPr>
          <p:cNvPr id="17" name="row “A drone once built its own map to get home”"/>
          <p:cNvSpPr txBox="1"/>
          <p:nvPr/>
        </p:nvSpPr>
        <p:spPr>
          <a:xfrm>
            <a:off x="1280160" y="4754880"/>
            <a:ext cx="5120640" cy="868680"/>
          </a:xfrm>
          <a:prstGeom prst="rect">
            <a:avLst/>
          </a:prstGeom>
          <a:noFill/>
          <a:ln/>
        </p:spPr>
        <p:txBody>
          <a:bodyPr wrap="square" lIns="0" tIns="0" rIns="0" bIns="0" rtlCol="0" anchor="t"/>
          <a:lstStyle/>
          <a:p>
            <a:pPr indent="0" marL="0">
              <a:buNone/>
            </a:pPr>
            <a:r>
              <a:rPr lang="en-US" sz="1500" b="1" dirty="0">
                <a:solidFill>
                  <a:schemeClr val="bg1"/>
                </a:solidFill>
              </a:rPr>
              <a:t>“A drone once built its own map to get home”</a:t>
            </a:r>
            <a:endParaRPr lang="en-US" sz="1500" dirty="0"/>
          </a:p>
          <a:p>
            <a:pPr indent="0" marL="0">
              <a:buNone/>
            </a:pPr>
            <a:r>
              <a:rPr lang="en-US" sz="1300" dirty="0">
                <a:solidFill>
                  <a:schemeClr val="bg2"/>
                </a:solidFill>
              </a:rPr>
              <a:t>That real case is our starting point</a:t>
            </a:r>
            <a:endParaRPr lang="en-US" sz="1500" dirty="0"/>
          </a:p>
        </p:txBody>
      </p:sp>
      <p:sp>
        <p:nvSpPr>
          <p:cNvPr id="18" name="PX4 flight log during GPS jamming frame"/>
          <p:cNvSpPr/>
          <p:nvPr/>
        </p:nvSpPr>
        <p:spPr>
          <a:xfrm>
            <a:off x="6885432" y="1307592"/>
            <a:ext cx="4288536" cy="3910307"/>
          </a:xfrm>
          <a:prstGeom prst="roundRect">
            <a:avLst>
              <a:gd name="adj" fmla="val 1871"/>
            </a:avLst>
          </a:prstGeom>
          <a:solidFill>
            <a:schemeClr val="bg1"/>
          </a:solidFill>
          <a:ln w="12700">
            <a:solidFill>
              <a:schemeClr val="bg1"/>
            </a:solidFill>
            <a:prstDash val="solid"/>
          </a:ln>
        </p:spPr>
      </p:sp>
      <p:pic>
        <p:nvPicPr>
          <p:cNvPr id="19" name="PX4 flight log during GPS jamming" descr="PX4 flight log during GPS jamming">    </p:cNvPr>
          <p:cNvPicPr>
            <a:picLocks noChangeAspect="1"/>
          </p:cNvPicPr>
          <p:nvPr/>
        </p:nvPicPr>
        <p:blipFill>
          <a:blip r:embed="rId5"/>
          <a:stretch>
            <a:fillRect/>
          </a:stretch>
        </p:blipFill>
        <p:spPr>
          <a:xfrm>
            <a:off x="6949440" y="1371600"/>
            <a:ext cx="4160520" cy="3782291"/>
          </a:xfrm>
          <a:prstGeom prst="rect">
            <a:avLst/>
          </a:prstGeom>
        </p:spPr>
      </p:pic>
      <p:sp>
        <p:nvSpPr>
          <p:cNvPr id="20" name="stat card 5 s"/>
          <p:cNvSpPr/>
          <p:nvPr/>
        </p:nvSpPr>
        <p:spPr>
          <a:xfrm>
            <a:off x="6949440" y="5349240"/>
            <a:ext cx="2011680" cy="914400"/>
          </a:xfrm>
          <a:prstGeom prst="roundRect">
            <a:avLst>
              <a:gd name="adj" fmla="val 10000"/>
            </a:avLst>
          </a:prstGeom>
          <a:solidFill>
            <a:schemeClr val="tx2"/>
          </a:solidFill>
          <a:ln w="12700">
            <a:solidFill>
              <a:schemeClr val="tx2"/>
            </a:solidFill>
            <a:prstDash val="solid"/>
          </a:ln>
        </p:spPr>
      </p:sp>
      <p:sp>
        <p:nvSpPr>
          <p:cNvPr id="21" name="stat value 5 s"/>
          <p:cNvSpPr txBox="1"/>
          <p:nvPr/>
        </p:nvSpPr>
        <p:spPr>
          <a:xfrm>
            <a:off x="708660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5 s</a:t>
            </a:r>
            <a:endParaRPr lang="en-US" sz="2600" dirty="0"/>
          </a:p>
        </p:txBody>
      </p:sp>
      <p:sp>
        <p:nvSpPr>
          <p:cNvPr id="22" name="stat label 5 s"/>
          <p:cNvSpPr txBox="1"/>
          <p:nvPr/>
        </p:nvSpPr>
        <p:spPr>
          <a:xfrm>
            <a:off x="708660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autopilot reaction time</a:t>
            </a:r>
            <a:endParaRPr lang="en-US" sz="1200" dirty="0"/>
          </a:p>
        </p:txBody>
      </p:sp>
      <p:sp>
        <p:nvSpPr>
          <p:cNvPr id="23" name="stat card blind"/>
          <p:cNvSpPr/>
          <p:nvPr/>
        </p:nvSpPr>
        <p:spPr>
          <a:xfrm>
            <a:off x="9098280" y="5349240"/>
            <a:ext cx="2011680" cy="914400"/>
          </a:xfrm>
          <a:prstGeom prst="roundRect">
            <a:avLst>
              <a:gd name="adj" fmla="val 10000"/>
            </a:avLst>
          </a:prstGeom>
          <a:solidFill>
            <a:schemeClr val="tx2"/>
          </a:solidFill>
          <a:ln w="12700">
            <a:solidFill>
              <a:schemeClr val="tx2"/>
            </a:solidFill>
            <a:prstDash val="solid"/>
          </a:ln>
        </p:spPr>
      </p:sp>
      <p:sp>
        <p:nvSpPr>
          <p:cNvPr id="24" name="stat value blind"/>
          <p:cNvSpPr txBox="1"/>
          <p:nvPr/>
        </p:nvSpPr>
        <p:spPr>
          <a:xfrm>
            <a:off x="9235440" y="5422392"/>
            <a:ext cx="1737360" cy="502920"/>
          </a:xfrm>
          <a:prstGeom prst="rect">
            <a:avLst/>
          </a:prstGeom>
          <a:noFill/>
          <a:ln/>
        </p:spPr>
        <p:txBody>
          <a:bodyPr wrap="square" lIns="0" tIns="0" rIns="0" bIns="0" rtlCol="0" anchor="b">
            <a:normAutofit/>
          </a:bodyPr>
          <a:lstStyle/>
          <a:p>
            <a:pPr indent="0" marL="0">
              <a:buNone/>
            </a:pPr>
            <a:r>
              <a:rPr lang="en-US" sz="2600" b="1" dirty="0">
                <a:solidFill>
                  <a:schemeClr val="accent3"/>
                </a:solidFill>
              </a:rPr>
              <a:t>blind</a:t>
            </a:r>
            <a:endParaRPr lang="en-US" sz="2600" dirty="0"/>
          </a:p>
        </p:txBody>
      </p:sp>
      <p:sp>
        <p:nvSpPr>
          <p:cNvPr id="25" name="stat label blind"/>
          <p:cNvSpPr txBox="1"/>
          <p:nvPr/>
        </p:nvSpPr>
        <p:spPr>
          <a:xfrm>
            <a:off x="9235440" y="5943600"/>
            <a:ext cx="1737360" cy="256032"/>
          </a:xfrm>
          <a:prstGeom prst="rect">
            <a:avLst/>
          </a:prstGeom>
          <a:noFill/>
          <a:ln/>
        </p:spPr>
        <p:txBody>
          <a:bodyPr wrap="square" lIns="0" tIns="0" rIns="0" bIns="0" rtlCol="0" anchor="t"/>
          <a:lstStyle/>
          <a:p>
            <a:pPr indent="0" marL="0">
              <a:buNone/>
            </a:pPr>
            <a:r>
              <a:rPr lang="en-US" sz="1200" dirty="0">
                <a:solidFill>
                  <a:schemeClr val="bg2"/>
                </a:solidFill>
              </a:rPr>
              <a:t>landing — never flies home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The military told us what is really missing</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RELEVANCE</a:t>
            </a:r>
            <a:endParaRPr lang="en-US" sz="1100" dirty="0"/>
          </a:p>
        </p:txBody>
      </p:sp>
      <p:sp>
        <p:nvSpPr>
          <p:cNvPr id="5" name="military quote card"/>
          <p:cNvSpPr/>
          <p:nvPr/>
        </p:nvSpPr>
        <p:spPr>
          <a:xfrm>
            <a:off x="548640" y="1371600"/>
            <a:ext cx="11109960" cy="1417320"/>
          </a:xfrm>
          <a:prstGeom prst="roundRect">
            <a:avLst>
              <a:gd name="adj" fmla="val 7742"/>
            </a:avLst>
          </a:prstGeom>
          <a:solidFill>
            <a:schemeClr val="tx2"/>
          </a:solidFill>
          <a:ln w="15875">
            <a:solidFill>
              <a:schemeClr val="accent1"/>
            </a:solidFill>
            <a:prstDash val="solid"/>
          </a:ln>
        </p:spPr>
      </p:sp>
      <p:sp>
        <p:nvSpPr>
          <p:cNvPr id="6" name="Text 4"/>
          <p:cNvSpPr txBox="1"/>
          <p:nvPr/>
        </p:nvSpPr>
        <p:spPr>
          <a:xfrm>
            <a:off x="868680" y="1463040"/>
            <a:ext cx="10515600" cy="914400"/>
          </a:xfrm>
          <a:prstGeom prst="rect">
            <a:avLst/>
          </a:prstGeom>
          <a:noFill/>
          <a:ln/>
        </p:spPr>
        <p:txBody>
          <a:bodyPr wrap="square" lIns="0" tIns="0" rIns="0" bIns="0" rtlCol="0" anchor="ctr"/>
          <a:lstStyle/>
          <a:p>
            <a:pPr indent="0" marL="0">
              <a:buNone/>
            </a:pPr>
            <a:r>
              <a:rPr lang="en-US" sz="1900" i="1" dirty="0">
                <a:solidFill>
                  <a:schemeClr val="bg2"/>
                </a:solidFill>
              </a:rPr>
              <a:t>“Detect and return home — we already have that. </a:t>
            </a:r>
            <a:pPr indent="0" marL="0">
              <a:buNone/>
            </a:pPr>
            <a:r>
              <a:rPr lang="en-US" sz="1900" b="1" i="1" dirty="0">
                <a:solidFill>
                  <a:schemeClr val="bg1"/>
                </a:solidFill>
              </a:rPr>
              <a:t>We need the drone to tell the others, and the swarm to find its own way to the target.”</a:t>
            </a:r>
            <a:endParaRPr lang="en-US" sz="1900" dirty="0"/>
          </a:p>
        </p:txBody>
      </p:sp>
      <p:sp>
        <p:nvSpPr>
          <p:cNvPr id="7" name="Text 5"/>
          <p:cNvSpPr txBox="1"/>
          <p:nvPr/>
        </p:nvSpPr>
        <p:spPr>
          <a:xfrm>
            <a:off x="868680" y="2331720"/>
            <a:ext cx="10515600" cy="320040"/>
          </a:xfrm>
          <a:prstGeom prst="rect">
            <a:avLst/>
          </a:prstGeom>
          <a:noFill/>
          <a:ln/>
        </p:spPr>
        <p:txBody>
          <a:bodyPr wrap="square" lIns="0" tIns="0" rIns="0" bIns="0" rtlCol="0" anchor="ctr"/>
          <a:lstStyle/>
          <a:p>
            <a:pPr indent="0" marL="0">
              <a:buNone/>
            </a:pPr>
            <a:r>
              <a:rPr lang="en-US" sz="1200" dirty="0">
                <a:solidFill>
                  <a:schemeClr val="accent5"/>
                </a:solidFill>
              </a:rPr>
              <a:t>Military end-users, Friday — this changed our project</a:t>
            </a:r>
            <a:endParaRPr lang="en-US" sz="1200" dirty="0"/>
          </a:p>
        </p:txBody>
      </p:sp>
      <p:sp>
        <p:nvSpPr>
          <p:cNvPr id="8" name="step DETECT"/>
          <p:cNvSpPr/>
          <p:nvPr/>
        </p:nvSpPr>
        <p:spPr>
          <a:xfrm>
            <a:off x="548640" y="3246120"/>
            <a:ext cx="1664208" cy="2514600"/>
          </a:xfrm>
          <a:prstGeom prst="roundRect">
            <a:avLst>
              <a:gd name="adj" fmla="val 6593"/>
            </a:avLst>
          </a:prstGeom>
          <a:solidFill>
            <a:schemeClr val="tx2"/>
          </a:solidFill>
          <a:ln w="12700">
            <a:solidFill>
              <a:schemeClr val="tx2"/>
            </a:solidFill>
            <a:prstDash val="solid"/>
          </a:ln>
        </p:spPr>
      </p:sp>
      <p:sp>
        <p:nvSpPr>
          <p:cNvPr id="9" name="step icon circle DETECT"/>
          <p:cNvSpPr/>
          <p:nvPr/>
        </p:nvSpPr>
        <p:spPr>
          <a:xfrm>
            <a:off x="1014984" y="3474720"/>
            <a:ext cx="731520" cy="731520"/>
          </a:xfrm>
          <a:prstGeom prst="ellipse">
            <a:avLst/>
          </a:prstGeom>
          <a:solidFill>
            <a:schemeClr val="accent1"/>
          </a:solidFill>
          <a:ln w="12700">
            <a:solidFill>
              <a:schemeClr val="accent1"/>
            </a:solidFill>
            <a:prstDash val="solid"/>
          </a:ln>
        </p:spPr>
      </p:sp>
      <p:pic>
        <p:nvPicPr>
          <p:cNvPr id="10" name="Image 0" descr="DETECT">    </p:cNvPr>
          <p:cNvPicPr>
            <a:picLocks noChangeAspect="1"/>
          </p:cNvPicPr>
          <p:nvPr/>
        </p:nvPicPr>
        <p:blipFill>
          <a:blip r:embed="rId1"/>
          <a:stretch>
            <a:fillRect/>
          </a:stretch>
        </p:blipFill>
        <p:spPr>
          <a:xfrm>
            <a:off x="1197864" y="3657600"/>
            <a:ext cx="365760" cy="365760"/>
          </a:xfrm>
          <a:prstGeom prst="rect">
            <a:avLst/>
          </a:prstGeom>
        </p:spPr>
      </p:pic>
      <p:sp>
        <p:nvSpPr>
          <p:cNvPr id="11" name="Text 8"/>
          <p:cNvSpPr txBox="1"/>
          <p:nvPr/>
        </p:nvSpPr>
        <p:spPr>
          <a:xfrm>
            <a:off x="64008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DETECT</a:t>
            </a:r>
            <a:endParaRPr lang="en-US" sz="1400" dirty="0"/>
          </a:p>
        </p:txBody>
      </p:sp>
      <p:sp>
        <p:nvSpPr>
          <p:cNvPr id="12" name="Text 9"/>
          <p:cNvSpPr txBox="1"/>
          <p:nvPr/>
        </p:nvSpPr>
        <p:spPr>
          <a:xfrm>
            <a:off x="64008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jamming &amp; spoofing</a:t>
            </a:r>
            <a:endParaRPr lang="en-US" sz="1200" dirty="0"/>
          </a:p>
        </p:txBody>
      </p:sp>
      <p:sp>
        <p:nvSpPr>
          <p:cNvPr id="13" name="Text 10"/>
          <p:cNvSpPr txBox="1"/>
          <p:nvPr/>
        </p:nvSpPr>
        <p:spPr>
          <a:xfrm>
            <a:off x="64008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14" name="arrow 0"/>
          <p:cNvSpPr/>
          <p:nvPr/>
        </p:nvSpPr>
        <p:spPr>
          <a:xfrm>
            <a:off x="2240280" y="4434840"/>
            <a:ext cx="169164" cy="274320"/>
          </a:xfrm>
          <a:prstGeom prst="rightArrow">
            <a:avLst/>
          </a:prstGeom>
          <a:solidFill>
            <a:schemeClr val="accent5"/>
          </a:solidFill>
          <a:ln w="12700">
            <a:solidFill>
              <a:schemeClr val="accent5"/>
            </a:solidFill>
            <a:prstDash val="solid"/>
          </a:ln>
        </p:spPr>
      </p:sp>
      <p:sp>
        <p:nvSpPr>
          <p:cNvPr id="15" name="step NAVIGATE"/>
          <p:cNvSpPr/>
          <p:nvPr/>
        </p:nvSpPr>
        <p:spPr>
          <a:xfrm>
            <a:off x="2436876" y="3246120"/>
            <a:ext cx="1664208" cy="2514600"/>
          </a:xfrm>
          <a:prstGeom prst="roundRect">
            <a:avLst>
              <a:gd name="adj" fmla="val 6593"/>
            </a:avLst>
          </a:prstGeom>
          <a:solidFill>
            <a:schemeClr val="tx2"/>
          </a:solidFill>
          <a:ln w="12700">
            <a:solidFill>
              <a:schemeClr val="tx2"/>
            </a:solidFill>
            <a:prstDash val="solid"/>
          </a:ln>
        </p:spPr>
      </p:sp>
      <p:sp>
        <p:nvSpPr>
          <p:cNvPr id="16" name="step icon circle NAVIGATE"/>
          <p:cNvSpPr/>
          <p:nvPr/>
        </p:nvSpPr>
        <p:spPr>
          <a:xfrm>
            <a:off x="2903220" y="3474720"/>
            <a:ext cx="731520" cy="731520"/>
          </a:xfrm>
          <a:prstGeom prst="ellipse">
            <a:avLst/>
          </a:prstGeom>
          <a:solidFill>
            <a:schemeClr val="accent1"/>
          </a:solidFill>
          <a:ln w="12700">
            <a:solidFill>
              <a:schemeClr val="accent1"/>
            </a:solidFill>
            <a:prstDash val="solid"/>
          </a:ln>
        </p:spPr>
      </p:sp>
      <p:pic>
        <p:nvPicPr>
          <p:cNvPr id="17" name="Image 1" descr="NAVIGATE">    </p:cNvPr>
          <p:cNvPicPr>
            <a:picLocks noChangeAspect="1"/>
          </p:cNvPicPr>
          <p:nvPr/>
        </p:nvPicPr>
        <p:blipFill>
          <a:blip r:embed="rId2"/>
          <a:stretch>
            <a:fillRect/>
          </a:stretch>
        </p:blipFill>
        <p:spPr>
          <a:xfrm>
            <a:off x="3086100" y="3657600"/>
            <a:ext cx="365760" cy="365760"/>
          </a:xfrm>
          <a:prstGeom prst="rect">
            <a:avLst/>
          </a:prstGeom>
        </p:spPr>
      </p:pic>
      <p:sp>
        <p:nvSpPr>
          <p:cNvPr id="18" name="Text 14"/>
          <p:cNvSpPr txBox="1"/>
          <p:nvPr/>
        </p:nvSpPr>
        <p:spPr>
          <a:xfrm>
            <a:off x="2528316"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NAVIGATE</a:t>
            </a:r>
            <a:endParaRPr lang="en-US" sz="1400" dirty="0"/>
          </a:p>
        </p:txBody>
      </p:sp>
      <p:sp>
        <p:nvSpPr>
          <p:cNvPr id="19" name="Text 15"/>
          <p:cNvSpPr txBox="1"/>
          <p:nvPr/>
        </p:nvSpPr>
        <p:spPr>
          <a:xfrm>
            <a:off x="2528316"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without GPS, in snow</a:t>
            </a:r>
            <a:endParaRPr lang="en-US" sz="1200" dirty="0"/>
          </a:p>
        </p:txBody>
      </p:sp>
      <p:sp>
        <p:nvSpPr>
          <p:cNvPr id="20" name="Text 16"/>
          <p:cNvSpPr txBox="1"/>
          <p:nvPr/>
        </p:nvSpPr>
        <p:spPr>
          <a:xfrm>
            <a:off x="2528316"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1" name="arrow 1"/>
          <p:cNvSpPr/>
          <p:nvPr/>
        </p:nvSpPr>
        <p:spPr>
          <a:xfrm>
            <a:off x="4128516" y="4434840"/>
            <a:ext cx="169164" cy="274320"/>
          </a:xfrm>
          <a:prstGeom prst="rightArrow">
            <a:avLst/>
          </a:prstGeom>
          <a:solidFill>
            <a:schemeClr val="accent5"/>
          </a:solidFill>
          <a:ln w="12700">
            <a:solidFill>
              <a:schemeClr val="accent5"/>
            </a:solidFill>
            <a:prstDash val="solid"/>
          </a:ln>
        </p:spPr>
      </p:sp>
      <p:sp>
        <p:nvSpPr>
          <p:cNvPr id="22" name="step LOCATE"/>
          <p:cNvSpPr/>
          <p:nvPr/>
        </p:nvSpPr>
        <p:spPr>
          <a:xfrm>
            <a:off x="4325112" y="3246120"/>
            <a:ext cx="1664208" cy="2514600"/>
          </a:xfrm>
          <a:prstGeom prst="roundRect">
            <a:avLst>
              <a:gd name="adj" fmla="val 6593"/>
            </a:avLst>
          </a:prstGeom>
          <a:solidFill>
            <a:schemeClr val="tx2"/>
          </a:solidFill>
          <a:ln w="12700">
            <a:solidFill>
              <a:schemeClr val="tx2"/>
            </a:solidFill>
            <a:prstDash val="solid"/>
          </a:ln>
        </p:spPr>
      </p:sp>
      <p:sp>
        <p:nvSpPr>
          <p:cNvPr id="23" name="step icon circle LOCATE"/>
          <p:cNvSpPr/>
          <p:nvPr/>
        </p:nvSpPr>
        <p:spPr>
          <a:xfrm>
            <a:off x="4791456" y="3474720"/>
            <a:ext cx="731520" cy="731520"/>
          </a:xfrm>
          <a:prstGeom prst="ellipse">
            <a:avLst/>
          </a:prstGeom>
          <a:solidFill>
            <a:schemeClr val="accent1"/>
          </a:solidFill>
          <a:ln w="12700">
            <a:solidFill>
              <a:schemeClr val="accent1"/>
            </a:solidFill>
            <a:prstDash val="solid"/>
          </a:ln>
        </p:spPr>
      </p:sp>
      <p:pic>
        <p:nvPicPr>
          <p:cNvPr id="24" name="Image 2" descr="LOCATE">    </p:cNvPr>
          <p:cNvPicPr>
            <a:picLocks noChangeAspect="1"/>
          </p:cNvPicPr>
          <p:nvPr/>
        </p:nvPicPr>
        <p:blipFill>
          <a:blip r:embed="rId3"/>
          <a:stretch>
            <a:fillRect/>
          </a:stretch>
        </p:blipFill>
        <p:spPr>
          <a:xfrm>
            <a:off x="4974336" y="3657600"/>
            <a:ext cx="365760" cy="365760"/>
          </a:xfrm>
          <a:prstGeom prst="rect">
            <a:avLst/>
          </a:prstGeom>
        </p:spPr>
      </p:pic>
      <p:sp>
        <p:nvSpPr>
          <p:cNvPr id="25" name="Text 20"/>
          <p:cNvSpPr txBox="1"/>
          <p:nvPr/>
        </p:nvSpPr>
        <p:spPr>
          <a:xfrm>
            <a:off x="4416552"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LOCATE</a:t>
            </a:r>
            <a:endParaRPr lang="en-US" sz="1400" dirty="0"/>
          </a:p>
        </p:txBody>
      </p:sp>
      <p:sp>
        <p:nvSpPr>
          <p:cNvPr id="26" name="Text 21"/>
          <p:cNvSpPr txBox="1"/>
          <p:nvPr/>
        </p:nvSpPr>
        <p:spPr>
          <a:xfrm>
            <a:off x="4416552"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jammer</a:t>
            </a:r>
            <a:endParaRPr lang="en-US" sz="1200" dirty="0"/>
          </a:p>
        </p:txBody>
      </p:sp>
      <p:sp>
        <p:nvSpPr>
          <p:cNvPr id="27" name="Text 22"/>
          <p:cNvSpPr txBox="1"/>
          <p:nvPr/>
        </p:nvSpPr>
        <p:spPr>
          <a:xfrm>
            <a:off x="4416552"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28" name="arrow 2"/>
          <p:cNvSpPr/>
          <p:nvPr/>
        </p:nvSpPr>
        <p:spPr>
          <a:xfrm>
            <a:off x="6016752" y="4434840"/>
            <a:ext cx="169164" cy="274320"/>
          </a:xfrm>
          <a:prstGeom prst="rightArrow">
            <a:avLst/>
          </a:prstGeom>
          <a:solidFill>
            <a:schemeClr val="accent5"/>
          </a:solidFill>
          <a:ln w="12700">
            <a:solidFill>
              <a:schemeClr val="accent5"/>
            </a:solidFill>
            <a:prstDash val="solid"/>
          </a:ln>
        </p:spPr>
      </p:sp>
      <p:sp>
        <p:nvSpPr>
          <p:cNvPr id="29" name="step DECIDE"/>
          <p:cNvSpPr/>
          <p:nvPr/>
        </p:nvSpPr>
        <p:spPr>
          <a:xfrm>
            <a:off x="6213348" y="3246120"/>
            <a:ext cx="1664208" cy="2514600"/>
          </a:xfrm>
          <a:prstGeom prst="roundRect">
            <a:avLst>
              <a:gd name="adj" fmla="val 6593"/>
            </a:avLst>
          </a:prstGeom>
          <a:solidFill>
            <a:schemeClr val="tx2"/>
          </a:solidFill>
          <a:ln w="12700">
            <a:solidFill>
              <a:schemeClr val="tx2"/>
            </a:solidFill>
            <a:prstDash val="solid"/>
          </a:ln>
        </p:spPr>
      </p:sp>
      <p:sp>
        <p:nvSpPr>
          <p:cNvPr id="30" name="step icon circle DECIDE"/>
          <p:cNvSpPr/>
          <p:nvPr/>
        </p:nvSpPr>
        <p:spPr>
          <a:xfrm>
            <a:off x="6679692" y="3474720"/>
            <a:ext cx="731520" cy="731520"/>
          </a:xfrm>
          <a:prstGeom prst="ellipse">
            <a:avLst/>
          </a:prstGeom>
          <a:solidFill>
            <a:schemeClr val="accent1"/>
          </a:solidFill>
          <a:ln w="12700">
            <a:solidFill>
              <a:schemeClr val="accent1"/>
            </a:solidFill>
            <a:prstDash val="solid"/>
          </a:ln>
        </p:spPr>
      </p:sp>
      <p:pic>
        <p:nvPicPr>
          <p:cNvPr id="31" name="Image 3" descr="DECIDE">    </p:cNvPr>
          <p:cNvPicPr>
            <a:picLocks noChangeAspect="1"/>
          </p:cNvPicPr>
          <p:nvPr/>
        </p:nvPicPr>
        <p:blipFill>
          <a:blip r:embed="rId4"/>
          <a:stretch>
            <a:fillRect/>
          </a:stretch>
        </p:blipFill>
        <p:spPr>
          <a:xfrm>
            <a:off x="6862572" y="3657600"/>
            <a:ext cx="365760" cy="365760"/>
          </a:xfrm>
          <a:prstGeom prst="rect">
            <a:avLst/>
          </a:prstGeom>
        </p:spPr>
      </p:pic>
      <p:sp>
        <p:nvSpPr>
          <p:cNvPr id="32" name="Text 26"/>
          <p:cNvSpPr txBox="1"/>
          <p:nvPr/>
        </p:nvSpPr>
        <p:spPr>
          <a:xfrm>
            <a:off x="6304788"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DECIDE</a:t>
            </a:r>
            <a:endParaRPr lang="en-US" sz="1400" dirty="0"/>
          </a:p>
        </p:txBody>
      </p:sp>
      <p:sp>
        <p:nvSpPr>
          <p:cNvPr id="33" name="Text 27"/>
          <p:cNvSpPr txBox="1"/>
          <p:nvPr/>
        </p:nvSpPr>
        <p:spPr>
          <a:xfrm>
            <a:off x="6304788"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AI mission brain</a:t>
            </a:r>
            <a:endParaRPr lang="en-US" sz="1200" dirty="0"/>
          </a:p>
        </p:txBody>
      </p:sp>
      <p:sp>
        <p:nvSpPr>
          <p:cNvPr id="34" name="Text 28"/>
          <p:cNvSpPr txBox="1"/>
          <p:nvPr/>
        </p:nvSpPr>
        <p:spPr>
          <a:xfrm>
            <a:off x="6304788"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Guled</a:t>
            </a:r>
            <a:endParaRPr lang="en-US" sz="1200" dirty="0"/>
          </a:p>
        </p:txBody>
      </p:sp>
      <p:sp>
        <p:nvSpPr>
          <p:cNvPr id="35" name="arrow 3"/>
          <p:cNvSpPr/>
          <p:nvPr/>
        </p:nvSpPr>
        <p:spPr>
          <a:xfrm>
            <a:off x="7904988" y="4434840"/>
            <a:ext cx="169164" cy="274320"/>
          </a:xfrm>
          <a:prstGeom prst="rightArrow">
            <a:avLst/>
          </a:prstGeom>
          <a:solidFill>
            <a:schemeClr val="accent5"/>
          </a:solidFill>
          <a:ln w="12700">
            <a:solidFill>
              <a:schemeClr val="accent5"/>
            </a:solidFill>
            <a:prstDash val="solid"/>
          </a:ln>
        </p:spPr>
      </p:sp>
      <p:sp>
        <p:nvSpPr>
          <p:cNvPr id="36" name="step SHARE + REROUTE"/>
          <p:cNvSpPr/>
          <p:nvPr/>
        </p:nvSpPr>
        <p:spPr>
          <a:xfrm>
            <a:off x="8101584" y="3246120"/>
            <a:ext cx="1664208" cy="2514600"/>
          </a:xfrm>
          <a:prstGeom prst="roundRect">
            <a:avLst>
              <a:gd name="adj" fmla="val 6593"/>
            </a:avLst>
          </a:prstGeom>
          <a:solidFill>
            <a:schemeClr val="tx2"/>
          </a:solidFill>
          <a:ln w="12700">
            <a:solidFill>
              <a:schemeClr val="tx2"/>
            </a:solidFill>
            <a:prstDash val="solid"/>
          </a:ln>
        </p:spPr>
      </p:sp>
      <p:sp>
        <p:nvSpPr>
          <p:cNvPr id="37" name="step icon circle SHARE + REROUTE"/>
          <p:cNvSpPr/>
          <p:nvPr/>
        </p:nvSpPr>
        <p:spPr>
          <a:xfrm>
            <a:off x="8567928" y="3474720"/>
            <a:ext cx="731520" cy="731520"/>
          </a:xfrm>
          <a:prstGeom prst="ellipse">
            <a:avLst/>
          </a:prstGeom>
          <a:solidFill>
            <a:schemeClr val="accent1"/>
          </a:solidFill>
          <a:ln w="12700">
            <a:solidFill>
              <a:schemeClr val="accent1"/>
            </a:solidFill>
            <a:prstDash val="solid"/>
          </a:ln>
        </p:spPr>
      </p:sp>
      <p:pic>
        <p:nvPicPr>
          <p:cNvPr id="38" name="Image 4" descr="SHARE + REROUTE">    </p:cNvPr>
          <p:cNvPicPr>
            <a:picLocks noChangeAspect="1"/>
          </p:cNvPicPr>
          <p:nvPr/>
        </p:nvPicPr>
        <p:blipFill>
          <a:blip r:embed="rId5"/>
          <a:stretch>
            <a:fillRect/>
          </a:stretch>
        </p:blipFill>
        <p:spPr>
          <a:xfrm>
            <a:off x="8750808" y="3657600"/>
            <a:ext cx="365760" cy="365760"/>
          </a:xfrm>
          <a:prstGeom prst="rect">
            <a:avLst/>
          </a:prstGeom>
        </p:spPr>
      </p:pic>
      <p:sp>
        <p:nvSpPr>
          <p:cNvPr id="39" name="Text 32"/>
          <p:cNvSpPr txBox="1"/>
          <p:nvPr/>
        </p:nvSpPr>
        <p:spPr>
          <a:xfrm>
            <a:off x="8193024"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SHARE + REROUTE</a:t>
            </a:r>
            <a:endParaRPr lang="en-US" sz="1400" dirty="0"/>
          </a:p>
        </p:txBody>
      </p:sp>
      <p:sp>
        <p:nvSpPr>
          <p:cNvPr id="40" name="Text 33"/>
          <p:cNvSpPr txBox="1"/>
          <p:nvPr/>
        </p:nvSpPr>
        <p:spPr>
          <a:xfrm>
            <a:off x="8193024"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the whole swarm</a:t>
            </a:r>
            <a:endParaRPr lang="en-US" sz="1200" dirty="0"/>
          </a:p>
        </p:txBody>
      </p:sp>
      <p:sp>
        <p:nvSpPr>
          <p:cNvPr id="41" name="Text 34"/>
          <p:cNvSpPr txBox="1"/>
          <p:nvPr/>
        </p:nvSpPr>
        <p:spPr>
          <a:xfrm>
            <a:off x="8193024"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42" name="arrow 4"/>
          <p:cNvSpPr/>
          <p:nvPr/>
        </p:nvSpPr>
        <p:spPr>
          <a:xfrm>
            <a:off x="9793224" y="4434840"/>
            <a:ext cx="169164" cy="274320"/>
          </a:xfrm>
          <a:prstGeom prst="rightArrow">
            <a:avLst/>
          </a:prstGeom>
          <a:solidFill>
            <a:schemeClr val="accent5"/>
          </a:solidFill>
          <a:ln w="12700">
            <a:solidFill>
              <a:schemeClr val="accent5"/>
            </a:solidFill>
            <a:prstDash val="solid"/>
          </a:ln>
        </p:spPr>
      </p:sp>
      <p:sp>
        <p:nvSpPr>
          <p:cNvPr id="43" name="step SECURE"/>
          <p:cNvSpPr/>
          <p:nvPr/>
        </p:nvSpPr>
        <p:spPr>
          <a:xfrm>
            <a:off x="9989820" y="3246120"/>
            <a:ext cx="1664208" cy="2514600"/>
          </a:xfrm>
          <a:prstGeom prst="roundRect">
            <a:avLst>
              <a:gd name="adj" fmla="val 6593"/>
            </a:avLst>
          </a:prstGeom>
          <a:solidFill>
            <a:schemeClr val="tx2"/>
          </a:solidFill>
          <a:ln w="12700">
            <a:solidFill>
              <a:schemeClr val="tx2"/>
            </a:solidFill>
            <a:prstDash val="solid"/>
          </a:ln>
        </p:spPr>
      </p:sp>
      <p:sp>
        <p:nvSpPr>
          <p:cNvPr id="44" name="step icon circle SECURE"/>
          <p:cNvSpPr/>
          <p:nvPr/>
        </p:nvSpPr>
        <p:spPr>
          <a:xfrm>
            <a:off x="10456164" y="3474720"/>
            <a:ext cx="731520" cy="731520"/>
          </a:xfrm>
          <a:prstGeom prst="ellipse">
            <a:avLst/>
          </a:prstGeom>
          <a:solidFill>
            <a:schemeClr val="accent1"/>
          </a:solidFill>
          <a:ln w="12700">
            <a:solidFill>
              <a:schemeClr val="accent1"/>
            </a:solidFill>
            <a:prstDash val="solid"/>
          </a:ln>
        </p:spPr>
      </p:sp>
      <p:pic>
        <p:nvPicPr>
          <p:cNvPr id="45" name="Image 5" descr="SECURE">    </p:cNvPr>
          <p:cNvPicPr>
            <a:picLocks noChangeAspect="1"/>
          </p:cNvPicPr>
          <p:nvPr/>
        </p:nvPicPr>
        <p:blipFill>
          <a:blip r:embed="rId6"/>
          <a:stretch>
            <a:fillRect/>
          </a:stretch>
        </p:blipFill>
        <p:spPr>
          <a:xfrm>
            <a:off x="10639044" y="3657600"/>
            <a:ext cx="365760" cy="365760"/>
          </a:xfrm>
          <a:prstGeom prst="rect">
            <a:avLst/>
          </a:prstGeom>
        </p:spPr>
      </p:pic>
      <p:sp>
        <p:nvSpPr>
          <p:cNvPr id="46" name="Text 38"/>
          <p:cNvSpPr txBox="1"/>
          <p:nvPr/>
        </p:nvSpPr>
        <p:spPr>
          <a:xfrm>
            <a:off x="10081260" y="4343400"/>
            <a:ext cx="1481328" cy="457200"/>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SECURE</a:t>
            </a:r>
            <a:endParaRPr lang="en-US" sz="1400" dirty="0"/>
          </a:p>
        </p:txBody>
      </p:sp>
      <p:sp>
        <p:nvSpPr>
          <p:cNvPr id="47" name="Text 39"/>
          <p:cNvSpPr txBox="1"/>
          <p:nvPr/>
        </p:nvSpPr>
        <p:spPr>
          <a:xfrm>
            <a:off x="10081260" y="4800600"/>
            <a:ext cx="1481328" cy="457200"/>
          </a:xfrm>
          <a:prstGeom prst="rect">
            <a:avLst/>
          </a:prstGeom>
          <a:noFill/>
          <a:ln/>
        </p:spPr>
        <p:txBody>
          <a:bodyPr wrap="square" lIns="0" tIns="0" rIns="0" bIns="0" rtlCol="0" anchor="t"/>
          <a:lstStyle/>
          <a:p>
            <a:pPr algn="ctr" indent="0" marL="0">
              <a:buNone/>
            </a:pPr>
            <a:r>
              <a:rPr lang="en-US" sz="1200" dirty="0">
                <a:solidFill>
                  <a:schemeClr val="bg2"/>
                </a:solidFill>
              </a:rPr>
              <a:t>against fake warnings</a:t>
            </a:r>
            <a:endParaRPr lang="en-US" sz="1200" dirty="0"/>
          </a:p>
        </p:txBody>
      </p:sp>
      <p:sp>
        <p:nvSpPr>
          <p:cNvPr id="48" name="Text 40"/>
          <p:cNvSpPr txBox="1"/>
          <p:nvPr/>
        </p:nvSpPr>
        <p:spPr>
          <a:xfrm>
            <a:off x="10081260" y="5303520"/>
            <a:ext cx="1481328" cy="320040"/>
          </a:xfrm>
          <a:prstGeom prst="rect">
            <a:avLst/>
          </a:prstGeom>
          <a:noFill/>
          <a:ln/>
        </p:spPr>
        <p:txBody>
          <a:bodyPr wrap="square" lIns="0" tIns="0" rIns="0" bIns="0" rtlCol="0" anchor="ctr"/>
          <a:lstStyle/>
          <a:p>
            <a:pPr algn="ctr" indent="0" marL="0">
              <a:buNone/>
            </a:pPr>
            <a:r>
              <a:rPr lang="en-US" sz="1200" b="1" dirty="0">
                <a:solidFill>
                  <a:schemeClr val="accent1"/>
                </a:solidFill>
              </a:rPr>
              <a:t>Den</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Detect: jamming in 1 s, slow spoofing in 13 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stat card 1 s vs 5 s"/>
          <p:cNvSpPr/>
          <p:nvPr/>
        </p:nvSpPr>
        <p:spPr>
          <a:xfrm>
            <a:off x="548640" y="1325880"/>
            <a:ext cx="2606040" cy="1051560"/>
          </a:xfrm>
          <a:prstGeom prst="roundRect">
            <a:avLst>
              <a:gd name="adj" fmla="val 8696"/>
            </a:avLst>
          </a:prstGeom>
          <a:solidFill>
            <a:schemeClr val="tx2"/>
          </a:solidFill>
          <a:ln w="12700">
            <a:solidFill>
              <a:schemeClr val="tx2"/>
            </a:solidFill>
            <a:prstDash val="solid"/>
          </a:ln>
        </p:spPr>
      </p:sp>
      <p:sp>
        <p:nvSpPr>
          <p:cNvPr id="6" name="stat value 1 s vs 5 s"/>
          <p:cNvSpPr txBox="1"/>
          <p:nvPr/>
        </p:nvSpPr>
        <p:spPr>
          <a:xfrm>
            <a:off x="68580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 s vs 5 s</a:t>
            </a:r>
            <a:endParaRPr lang="en-US" sz="2600" dirty="0"/>
          </a:p>
        </p:txBody>
      </p:sp>
      <p:sp>
        <p:nvSpPr>
          <p:cNvPr id="7" name="stat label 1 s vs 5 s"/>
          <p:cNvSpPr txBox="1"/>
          <p:nvPr/>
        </p:nvSpPr>
        <p:spPr>
          <a:xfrm>
            <a:off x="68580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jamming: our monitor vs PX4 (live)</a:t>
            </a:r>
            <a:endParaRPr lang="en-US" sz="1200" dirty="0"/>
          </a:p>
        </p:txBody>
      </p:sp>
      <p:sp>
        <p:nvSpPr>
          <p:cNvPr id="8" name="stat card 13 s"/>
          <p:cNvSpPr/>
          <p:nvPr/>
        </p:nvSpPr>
        <p:spPr>
          <a:xfrm>
            <a:off x="3383280" y="1325880"/>
            <a:ext cx="2606040" cy="1051560"/>
          </a:xfrm>
          <a:prstGeom prst="roundRect">
            <a:avLst>
              <a:gd name="adj" fmla="val 8696"/>
            </a:avLst>
          </a:prstGeom>
          <a:solidFill>
            <a:schemeClr val="tx2"/>
          </a:solidFill>
          <a:ln w="12700">
            <a:solidFill>
              <a:schemeClr val="tx2"/>
            </a:solidFill>
            <a:prstDash val="solid"/>
          </a:ln>
        </p:spPr>
      </p:sp>
      <p:sp>
        <p:nvSpPr>
          <p:cNvPr id="9" name="stat value 13 s"/>
          <p:cNvSpPr txBox="1"/>
          <p:nvPr/>
        </p:nvSpPr>
        <p:spPr>
          <a:xfrm>
            <a:off x="352044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2"/>
                </a:solidFill>
              </a:rPr>
              <a:t>13 s</a:t>
            </a:r>
            <a:endParaRPr lang="en-US" sz="2600" dirty="0"/>
          </a:p>
        </p:txBody>
      </p:sp>
      <p:sp>
        <p:nvSpPr>
          <p:cNvPr id="10" name="stat label 13 s"/>
          <p:cNvSpPr txBox="1"/>
          <p:nvPr/>
        </p:nvSpPr>
        <p:spPr>
          <a:xfrm>
            <a:off x="352044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0.5 m/s spoof caught (real flight data)</a:t>
            </a:r>
            <a:endParaRPr lang="en-US" sz="1200" dirty="0"/>
          </a:p>
        </p:txBody>
      </p:sp>
      <p:sp>
        <p:nvSpPr>
          <p:cNvPr id="11" name="stat card never"/>
          <p:cNvSpPr/>
          <p:nvPr/>
        </p:nvSpPr>
        <p:spPr>
          <a:xfrm>
            <a:off x="6217920" y="1325880"/>
            <a:ext cx="2606040" cy="1051560"/>
          </a:xfrm>
          <a:prstGeom prst="roundRect">
            <a:avLst>
              <a:gd name="adj" fmla="val 8696"/>
            </a:avLst>
          </a:prstGeom>
          <a:solidFill>
            <a:schemeClr val="tx2"/>
          </a:solidFill>
          <a:ln w="12700">
            <a:solidFill>
              <a:schemeClr val="tx2"/>
            </a:solidFill>
            <a:prstDash val="solid"/>
          </a:ln>
        </p:spPr>
      </p:sp>
      <p:sp>
        <p:nvSpPr>
          <p:cNvPr id="12" name="stat value never"/>
          <p:cNvSpPr txBox="1"/>
          <p:nvPr/>
        </p:nvSpPr>
        <p:spPr>
          <a:xfrm>
            <a:off x="635508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3"/>
                </a:solidFill>
              </a:rPr>
              <a:t>never</a:t>
            </a:r>
            <a:endParaRPr lang="en-US" sz="2600" dirty="0"/>
          </a:p>
        </p:txBody>
      </p:sp>
      <p:sp>
        <p:nvSpPr>
          <p:cNvPr id="13" name="stat label never"/>
          <p:cNvSpPr txBox="1"/>
          <p:nvPr/>
        </p:nvSpPr>
        <p:spPr>
          <a:xfrm>
            <a:off x="635508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PX4-style check notices that spoof</a:t>
            </a:r>
            <a:endParaRPr lang="en-US" sz="1200" dirty="0"/>
          </a:p>
        </p:txBody>
      </p:sp>
      <p:sp>
        <p:nvSpPr>
          <p:cNvPr id="14" name="stat card 2 / 50"/>
          <p:cNvSpPr/>
          <p:nvPr/>
        </p:nvSpPr>
        <p:spPr>
          <a:xfrm>
            <a:off x="9052560" y="1325880"/>
            <a:ext cx="2606040" cy="1051560"/>
          </a:xfrm>
          <a:prstGeom prst="roundRect">
            <a:avLst>
              <a:gd name="adj" fmla="val 8696"/>
            </a:avLst>
          </a:prstGeom>
          <a:solidFill>
            <a:schemeClr val="tx2"/>
          </a:solidFill>
          <a:ln w="12700">
            <a:solidFill>
              <a:schemeClr val="tx2"/>
            </a:solidFill>
            <a:prstDash val="solid"/>
          </a:ln>
        </p:spPr>
      </p:sp>
      <p:sp>
        <p:nvSpPr>
          <p:cNvPr id="15" name="stat value 2 / 50"/>
          <p:cNvSpPr txBox="1"/>
          <p:nvPr/>
        </p:nvSpPr>
        <p:spPr>
          <a:xfrm>
            <a:off x="9189720" y="1399032"/>
            <a:ext cx="2331720" cy="578358"/>
          </a:xfrm>
          <a:prstGeom prst="rect">
            <a:avLst/>
          </a:prstGeom>
          <a:noFill/>
          <a:ln/>
        </p:spPr>
        <p:txBody>
          <a:bodyPr wrap="square" lIns="0" tIns="0" rIns="0" bIns="0" rtlCol="0" anchor="b">
            <a:normAutofit/>
          </a:bodyPr>
          <a:lstStyle/>
          <a:p>
            <a:pPr indent="0" marL="0">
              <a:buNone/>
            </a:pPr>
            <a:r>
              <a:rPr lang="en-US" sz="2600" b="1" dirty="0">
                <a:solidFill>
                  <a:schemeClr val="accent4"/>
                </a:solidFill>
              </a:rPr>
              <a:t>2 / 50</a:t>
            </a:r>
            <a:endParaRPr lang="en-US" sz="2600" dirty="0"/>
          </a:p>
        </p:txBody>
      </p:sp>
      <p:sp>
        <p:nvSpPr>
          <p:cNvPr id="16" name="stat label 2 / 50"/>
          <p:cNvSpPr txBox="1"/>
          <p:nvPr/>
        </p:nvSpPr>
        <p:spPr>
          <a:xfrm>
            <a:off x="9189720" y="1995678"/>
            <a:ext cx="2331720" cy="310896"/>
          </a:xfrm>
          <a:prstGeom prst="rect">
            <a:avLst/>
          </a:prstGeom>
          <a:noFill/>
          <a:ln/>
        </p:spPr>
        <p:txBody>
          <a:bodyPr wrap="square" lIns="0" tIns="0" rIns="0" bIns="0" rtlCol="0" anchor="t"/>
          <a:lstStyle/>
          <a:p>
            <a:pPr indent="0" marL="0">
              <a:buNone/>
            </a:pPr>
            <a:r>
              <a:rPr lang="en-US" sz="1200" dirty="0">
                <a:solidFill>
                  <a:schemeClr val="bg2"/>
                </a:solidFill>
              </a:rPr>
              <a:t>false alarms without attack</a:t>
            </a:r>
            <a:endParaRPr lang="en-US" sz="1200" dirty="0"/>
          </a:p>
        </p:txBody>
      </p:sp>
      <p:sp>
        <p:nvSpPr>
          <p:cNvPr id="17" name="Text 15"/>
          <p:cNvSpPr txBox="1"/>
          <p:nvPr/>
        </p:nvSpPr>
        <p:spPr>
          <a:xfrm>
            <a:off x="548640" y="2560320"/>
            <a:ext cx="11109960" cy="457200"/>
          </a:xfrm>
          <a:prstGeom prst="rect">
            <a:avLst/>
          </a:prstGeom>
          <a:noFill/>
          <a:ln/>
        </p:spPr>
        <p:txBody>
          <a:bodyPr wrap="square" lIns="0" tIns="0" rIns="0" bIns="0" rtlCol="0" anchor="ctr"/>
          <a:lstStyle/>
          <a:p>
            <a:pPr indent="0" marL="0">
              <a:buNone/>
            </a:pPr>
            <a:r>
              <a:rPr lang="en-US" sz="1500" b="1" dirty="0">
                <a:solidFill>
                  <a:schemeClr val="bg1"/>
                </a:solidFill>
              </a:rPr>
              <a:t>GPS noise is random — a spoofer always pushes the same way. </a:t>
            </a:r>
            <a:pPr indent="0" marL="0">
              <a:buNone/>
            </a:pPr>
            <a:r>
              <a:rPr lang="en-US" sz="1500" dirty="0">
                <a:solidFill>
                  <a:schemeClr val="bg2"/>
                </a:solidFill>
              </a:rPr>
              <a:t>We compare GPS with the drone's own motion sensors (IMU) over a 20 s window and catch the push.</a:t>
            </a:r>
            <a:endParaRPr lang="en-US" sz="1500" dirty="0"/>
          </a:p>
        </p:txBody>
      </p:sp>
      <p:sp>
        <p:nvSpPr>
          <p:cNvPr id="18" name="Spoofing detection on real PX4 data frame"/>
          <p:cNvSpPr/>
          <p:nvPr/>
        </p:nvSpPr>
        <p:spPr>
          <a:xfrm>
            <a:off x="530352" y="3136392"/>
            <a:ext cx="11146536" cy="3368757"/>
          </a:xfrm>
          <a:prstGeom prst="roundRect">
            <a:avLst>
              <a:gd name="adj" fmla="val 2171"/>
            </a:avLst>
          </a:prstGeom>
          <a:solidFill>
            <a:schemeClr val="bg1"/>
          </a:solidFill>
          <a:ln w="12700">
            <a:solidFill>
              <a:schemeClr val="bg1"/>
            </a:solidFill>
            <a:prstDash val="solid"/>
          </a:ln>
        </p:spPr>
      </p:sp>
      <p:pic>
        <p:nvPicPr>
          <p:cNvPr id="19" name="Spoofing detection on real PX4 data" descr="Spoofing detection on real PX4 data">    </p:cNvPr>
          <p:cNvPicPr>
            <a:picLocks noChangeAspect="1"/>
          </p:cNvPicPr>
          <p:nvPr/>
        </p:nvPicPr>
        <p:blipFill>
          <a:blip r:embed="rId1"/>
          <a:stretch>
            <a:fillRect/>
          </a:stretch>
        </p:blipFill>
        <p:spPr>
          <a:xfrm>
            <a:off x="594360" y="3200400"/>
            <a:ext cx="11018520" cy="3240741"/>
          </a:xfrm>
          <a:prstGeom prst="rect">
            <a:avLst/>
          </a:prstGeom>
        </p:spPr>
      </p:pic>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Navigate in snow — then find the jammer</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NAVIGATE  ·  8.8 km without GPS, snowy day</a:t>
            </a:r>
            <a:endParaRPr lang="en-US" sz="1400" dirty="0"/>
          </a:p>
        </p:txBody>
      </p:sp>
      <p:sp>
        <p:nvSpPr>
          <p:cNvPr id="6" name="Long-range navigation in snow frame"/>
          <p:cNvSpPr/>
          <p:nvPr/>
        </p:nvSpPr>
        <p:spPr>
          <a:xfrm>
            <a:off x="530352" y="1719072"/>
            <a:ext cx="5522976" cy="2319719"/>
          </a:xfrm>
          <a:prstGeom prst="roundRect">
            <a:avLst>
              <a:gd name="adj" fmla="val 3153"/>
            </a:avLst>
          </a:prstGeom>
          <a:solidFill>
            <a:schemeClr val="bg1"/>
          </a:solidFill>
          <a:ln w="12700">
            <a:solidFill>
              <a:schemeClr val="bg1"/>
            </a:solidFill>
            <a:prstDash val="solid"/>
          </a:ln>
        </p:spPr>
      </p:sp>
      <p:pic>
        <p:nvPicPr>
          <p:cNvPr id="7" name="Long-range navigation in snow" descr="Long-range navigation in snow">    </p:cNvPr>
          <p:cNvPicPr>
            <a:picLocks noChangeAspect="1"/>
          </p:cNvPicPr>
          <p:nvPr/>
        </p:nvPicPr>
        <p:blipFill>
          <a:blip r:embed="rId1"/>
          <a:stretch>
            <a:fillRect/>
          </a:stretch>
        </p:blipFill>
        <p:spPr>
          <a:xfrm>
            <a:off x="594360" y="1783080"/>
            <a:ext cx="5394960" cy="2191703"/>
          </a:xfrm>
          <a:prstGeom prst="rect">
            <a:avLst/>
          </a:prstGeom>
        </p:spPr>
      </p:pic>
      <p:sp>
        <p:nvSpPr>
          <p:cNvPr id="8" name="stat card 1 974 m"/>
          <p:cNvSpPr/>
          <p:nvPr/>
        </p:nvSpPr>
        <p:spPr>
          <a:xfrm>
            <a:off x="548640" y="4249103"/>
            <a:ext cx="1737360" cy="1051560"/>
          </a:xfrm>
          <a:prstGeom prst="roundRect">
            <a:avLst>
              <a:gd name="adj" fmla="val 8696"/>
            </a:avLst>
          </a:prstGeom>
          <a:solidFill>
            <a:schemeClr val="tx2"/>
          </a:solidFill>
          <a:ln w="12700">
            <a:solidFill>
              <a:schemeClr val="tx2"/>
            </a:solidFill>
            <a:prstDash val="solid"/>
          </a:ln>
        </p:spPr>
      </p:sp>
      <p:sp>
        <p:nvSpPr>
          <p:cNvPr id="9" name="stat value 1 974 m"/>
          <p:cNvSpPr txBox="1"/>
          <p:nvPr/>
        </p:nvSpPr>
        <p:spPr>
          <a:xfrm>
            <a:off x="6858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1 974 m</a:t>
            </a:r>
            <a:endParaRPr lang="en-US" sz="2200" dirty="0"/>
          </a:p>
        </p:txBody>
      </p:sp>
      <p:sp>
        <p:nvSpPr>
          <p:cNvPr id="10" name="stat label 1 974 m"/>
          <p:cNvSpPr txBox="1"/>
          <p:nvPr/>
        </p:nvSpPr>
        <p:spPr>
          <a:xfrm>
            <a:off x="6858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IMU only</a:t>
            </a:r>
            <a:endParaRPr lang="en-US" sz="1200" dirty="0"/>
          </a:p>
        </p:txBody>
      </p:sp>
      <p:sp>
        <p:nvSpPr>
          <p:cNvPr id="11" name="stat card 1 874 m"/>
          <p:cNvSpPr/>
          <p:nvPr/>
        </p:nvSpPr>
        <p:spPr>
          <a:xfrm>
            <a:off x="2377440" y="4249103"/>
            <a:ext cx="1737360" cy="1051560"/>
          </a:xfrm>
          <a:prstGeom prst="roundRect">
            <a:avLst>
              <a:gd name="adj" fmla="val 8696"/>
            </a:avLst>
          </a:prstGeom>
          <a:solidFill>
            <a:schemeClr val="tx2"/>
          </a:solidFill>
          <a:ln w="12700">
            <a:solidFill>
              <a:schemeClr val="tx2"/>
            </a:solidFill>
            <a:prstDash val="solid"/>
          </a:ln>
        </p:spPr>
      </p:sp>
      <p:sp>
        <p:nvSpPr>
          <p:cNvPr id="12" name="stat value 1 874 m"/>
          <p:cNvSpPr txBox="1"/>
          <p:nvPr/>
        </p:nvSpPr>
        <p:spPr>
          <a:xfrm>
            <a:off x="2514600" y="4322255"/>
            <a:ext cx="146304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1 874 m</a:t>
            </a:r>
            <a:endParaRPr lang="en-US" sz="2200" dirty="0"/>
          </a:p>
        </p:txBody>
      </p:sp>
      <p:sp>
        <p:nvSpPr>
          <p:cNvPr id="13" name="stat label 1 874 m"/>
          <p:cNvSpPr txBox="1"/>
          <p:nvPr/>
        </p:nvSpPr>
        <p:spPr>
          <a:xfrm>
            <a:off x="2514600" y="4918901"/>
            <a:ext cx="1463040" cy="310896"/>
          </a:xfrm>
          <a:prstGeom prst="rect">
            <a:avLst/>
          </a:prstGeom>
          <a:noFill/>
          <a:ln/>
        </p:spPr>
        <p:txBody>
          <a:bodyPr wrap="square" lIns="0" tIns="0" rIns="0" bIns="0" rtlCol="0" anchor="t"/>
          <a:lstStyle/>
          <a:p>
            <a:pPr indent="0" marL="0">
              <a:buNone/>
            </a:pPr>
            <a:r>
              <a:rPr lang="en-US" sz="1200" dirty="0">
                <a:solidFill>
                  <a:schemeClr val="bg2"/>
                </a:solidFill>
              </a:rPr>
              <a:t>off: camera in snow (0/8 landmarks)</a:t>
            </a:r>
            <a:endParaRPr lang="en-US" sz="1200" dirty="0"/>
          </a:p>
        </p:txBody>
      </p:sp>
      <p:sp>
        <p:nvSpPr>
          <p:cNvPr id="14" name="stat card 14.5 m"/>
          <p:cNvSpPr/>
          <p:nvPr/>
        </p:nvSpPr>
        <p:spPr>
          <a:xfrm>
            <a:off x="4206240" y="4249103"/>
            <a:ext cx="1828800" cy="1051560"/>
          </a:xfrm>
          <a:prstGeom prst="roundRect">
            <a:avLst>
              <a:gd name="adj" fmla="val 8696"/>
            </a:avLst>
          </a:prstGeom>
          <a:solidFill>
            <a:schemeClr val="tx2"/>
          </a:solidFill>
          <a:ln w="12700">
            <a:solidFill>
              <a:schemeClr val="tx2"/>
            </a:solidFill>
            <a:prstDash val="solid"/>
          </a:ln>
        </p:spPr>
      </p:sp>
      <p:sp>
        <p:nvSpPr>
          <p:cNvPr id="15" name="stat value 14.5 m"/>
          <p:cNvSpPr txBox="1"/>
          <p:nvPr/>
        </p:nvSpPr>
        <p:spPr>
          <a:xfrm>
            <a:off x="4343400" y="4322255"/>
            <a:ext cx="155448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14.5 m</a:t>
            </a:r>
            <a:endParaRPr lang="en-US" sz="2200" dirty="0"/>
          </a:p>
        </p:txBody>
      </p:sp>
      <p:sp>
        <p:nvSpPr>
          <p:cNvPr id="16" name="stat label 14.5 m"/>
          <p:cNvSpPr txBox="1"/>
          <p:nvPr/>
        </p:nvSpPr>
        <p:spPr>
          <a:xfrm>
            <a:off x="4343400" y="4918901"/>
            <a:ext cx="1554480" cy="310896"/>
          </a:xfrm>
          <a:prstGeom prst="rect">
            <a:avLst/>
          </a:prstGeom>
          <a:noFill/>
          <a:ln/>
        </p:spPr>
        <p:txBody>
          <a:bodyPr wrap="square" lIns="0" tIns="0" rIns="0" bIns="0" rtlCol="0" anchor="t"/>
          <a:lstStyle/>
          <a:p>
            <a:pPr indent="0" marL="0">
              <a:buNone/>
            </a:pPr>
            <a:r>
              <a:rPr lang="en-US" sz="1200" dirty="0">
                <a:solidFill>
                  <a:schemeClr val="bg2"/>
                </a:solidFill>
              </a:rPr>
              <a:t>off: terrain matching</a:t>
            </a:r>
            <a:endParaRPr lang="en-US" sz="1200" dirty="0"/>
          </a:p>
        </p:txBody>
      </p:sp>
      <p:sp>
        <p:nvSpPr>
          <p:cNvPr id="17" name="caption"/>
          <p:cNvSpPr txBox="1"/>
          <p:nvPr/>
        </p:nvSpPr>
        <p:spPr>
          <a:xfrm>
            <a:off x="548640" y="5392103"/>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Laser altimeter vs height map: the shape of the hills survives snow.</a:t>
            </a:r>
            <a:endParaRPr lang="en-US" sz="1100" dirty="0"/>
          </a:p>
        </p:txBody>
      </p:sp>
      <p:sp>
        <p:nvSpPr>
          <p:cNvPr id="18" name="Text 15"/>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LOCATE  ·  every jammer gives itself away</a:t>
            </a:r>
            <a:endParaRPr lang="en-US" sz="1400" dirty="0"/>
          </a:p>
        </p:txBody>
      </p:sp>
      <p:sp>
        <p:nvSpPr>
          <p:cNvPr id="19" name="Jammer localisation with two drones frame"/>
          <p:cNvSpPr/>
          <p:nvPr/>
        </p:nvSpPr>
        <p:spPr>
          <a:xfrm>
            <a:off x="6245352" y="1719072"/>
            <a:ext cx="5431536" cy="2249424"/>
          </a:xfrm>
          <a:prstGeom prst="roundRect">
            <a:avLst>
              <a:gd name="adj" fmla="val 3252"/>
            </a:avLst>
          </a:prstGeom>
          <a:solidFill>
            <a:schemeClr val="bg1"/>
          </a:solidFill>
          <a:ln w="12700">
            <a:solidFill>
              <a:schemeClr val="bg1"/>
            </a:solidFill>
            <a:prstDash val="solid"/>
          </a:ln>
        </p:spPr>
      </p:sp>
      <p:pic>
        <p:nvPicPr>
          <p:cNvPr id="20" name="Jammer localisation with two drones" descr="Jammer localisation with two drones">    </p:cNvPr>
          <p:cNvPicPr>
            <a:picLocks noChangeAspect="1"/>
          </p:cNvPicPr>
          <p:nvPr/>
        </p:nvPicPr>
        <p:blipFill>
          <a:blip r:embed="rId2"/>
          <a:stretch>
            <a:fillRect/>
          </a:stretch>
        </p:blipFill>
        <p:spPr>
          <a:xfrm>
            <a:off x="6309360" y="1783080"/>
            <a:ext cx="5303520" cy="2121408"/>
          </a:xfrm>
          <a:prstGeom prst="rect">
            <a:avLst/>
          </a:prstGeom>
        </p:spPr>
      </p:pic>
      <p:sp>
        <p:nvSpPr>
          <p:cNvPr id="21" name="stat card ~300 m"/>
          <p:cNvSpPr/>
          <p:nvPr/>
        </p:nvSpPr>
        <p:spPr>
          <a:xfrm>
            <a:off x="6263640" y="4178808"/>
            <a:ext cx="2606040" cy="1051560"/>
          </a:xfrm>
          <a:prstGeom prst="roundRect">
            <a:avLst>
              <a:gd name="adj" fmla="val 8696"/>
            </a:avLst>
          </a:prstGeom>
          <a:solidFill>
            <a:schemeClr val="tx2"/>
          </a:solidFill>
          <a:ln w="12700">
            <a:solidFill>
              <a:schemeClr val="tx2"/>
            </a:solidFill>
            <a:prstDash val="solid"/>
          </a:ln>
        </p:spPr>
      </p:sp>
      <p:sp>
        <p:nvSpPr>
          <p:cNvPr id="22" name="stat value ~300 m"/>
          <p:cNvSpPr txBox="1"/>
          <p:nvPr/>
        </p:nvSpPr>
        <p:spPr>
          <a:xfrm>
            <a:off x="640080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6"/>
                </a:solidFill>
              </a:rPr>
              <a:t>~300 m</a:t>
            </a:r>
            <a:endParaRPr lang="en-US" sz="2200" dirty="0"/>
          </a:p>
        </p:txBody>
      </p:sp>
      <p:sp>
        <p:nvSpPr>
          <p:cNvPr id="23" name="stat label ~300 m"/>
          <p:cNvSpPr txBox="1"/>
          <p:nvPr/>
        </p:nvSpPr>
        <p:spPr>
          <a:xfrm>
            <a:off x="640080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one drone (typical)</a:t>
            </a:r>
            <a:endParaRPr lang="en-US" sz="1200" dirty="0"/>
          </a:p>
        </p:txBody>
      </p:sp>
      <p:sp>
        <p:nvSpPr>
          <p:cNvPr id="24" name="stat card ~120 m"/>
          <p:cNvSpPr/>
          <p:nvPr/>
        </p:nvSpPr>
        <p:spPr>
          <a:xfrm>
            <a:off x="9052560" y="4178808"/>
            <a:ext cx="2606040" cy="1051560"/>
          </a:xfrm>
          <a:prstGeom prst="roundRect">
            <a:avLst>
              <a:gd name="adj" fmla="val 8696"/>
            </a:avLst>
          </a:prstGeom>
          <a:solidFill>
            <a:schemeClr val="tx2"/>
          </a:solidFill>
          <a:ln w="12700">
            <a:solidFill>
              <a:schemeClr val="tx2"/>
            </a:solidFill>
            <a:prstDash val="solid"/>
          </a:ln>
        </p:spPr>
      </p:sp>
      <p:sp>
        <p:nvSpPr>
          <p:cNvPr id="25" name="stat value ~120 m"/>
          <p:cNvSpPr txBox="1"/>
          <p:nvPr/>
        </p:nvSpPr>
        <p:spPr>
          <a:xfrm>
            <a:off x="9189720" y="4251960"/>
            <a:ext cx="233172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~120 m</a:t>
            </a:r>
            <a:endParaRPr lang="en-US" sz="2200" dirty="0"/>
          </a:p>
        </p:txBody>
      </p:sp>
      <p:sp>
        <p:nvSpPr>
          <p:cNvPr id="26" name="stat label ~120 m"/>
          <p:cNvSpPr txBox="1"/>
          <p:nvPr/>
        </p:nvSpPr>
        <p:spPr>
          <a:xfrm>
            <a:off x="9189720" y="4848606"/>
            <a:ext cx="2331720" cy="310896"/>
          </a:xfrm>
          <a:prstGeom prst="rect">
            <a:avLst/>
          </a:prstGeom>
          <a:noFill/>
          <a:ln/>
        </p:spPr>
        <p:txBody>
          <a:bodyPr wrap="square" lIns="0" tIns="0" rIns="0" bIns="0" rtlCol="0" anchor="t"/>
          <a:lstStyle/>
          <a:p>
            <a:pPr indent="0" marL="0">
              <a:buNone/>
            </a:pPr>
            <a:r>
              <a:rPr lang="en-US" sz="1200" dirty="0">
                <a:solidFill>
                  <a:schemeClr val="bg2"/>
                </a:solidFill>
              </a:rPr>
              <a:t>two drones (typical, 10 runs)</a:t>
            </a:r>
            <a:endParaRPr lang="en-US" sz="1200" dirty="0"/>
          </a:p>
        </p:txBody>
      </p:sp>
      <p:sp>
        <p:nvSpPr>
          <p:cNvPr id="27" name="caption"/>
          <p:cNvSpPr txBox="1"/>
          <p:nvPr/>
        </p:nvSpPr>
        <p:spPr>
          <a:xfrm>
            <a:off x="6263640" y="5321808"/>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GPS receivers measure interference — louder means closer.</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Decide: an AI mission brain that can't break the rules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AI mission brain run frame"/>
          <p:cNvSpPr/>
          <p:nvPr/>
        </p:nvSpPr>
        <p:spPr>
          <a:xfrm>
            <a:off x="530352" y="1353312"/>
            <a:ext cx="6803136" cy="3131820"/>
          </a:xfrm>
          <a:prstGeom prst="roundRect">
            <a:avLst>
              <a:gd name="adj" fmla="val 2336"/>
            </a:avLst>
          </a:prstGeom>
          <a:solidFill>
            <a:schemeClr val="bg1"/>
          </a:solidFill>
          <a:ln w="12700">
            <a:solidFill>
              <a:schemeClr val="bg1"/>
            </a:solidFill>
            <a:prstDash val="solid"/>
          </a:ln>
        </p:spPr>
      </p:sp>
      <p:pic>
        <p:nvPicPr>
          <p:cNvPr id="6" name="AI mission brain run" descr="AI mission brain run">    </p:cNvPr>
          <p:cNvPicPr>
            <a:picLocks noChangeAspect="1"/>
          </p:cNvPicPr>
          <p:nvPr/>
        </p:nvPicPr>
        <p:blipFill>
          <a:blip r:embed="rId1"/>
          <a:stretch>
            <a:fillRect/>
          </a:stretch>
        </p:blipFill>
        <p:spPr>
          <a:xfrm>
            <a:off x="594360" y="1417320"/>
            <a:ext cx="6675120" cy="3003804"/>
          </a:xfrm>
          <a:prstGeom prst="rect">
            <a:avLst/>
          </a:prstGeom>
        </p:spPr>
      </p:pic>
      <p:sp>
        <p:nvSpPr>
          <p:cNvPr id="7" name="caption"/>
          <p:cNvSpPr txBox="1"/>
          <p:nvPr/>
        </p:nvSpPr>
        <p:spPr>
          <a:xfrm>
            <a:off x="548640" y="4604004"/>
            <a:ext cx="6766560" cy="320040"/>
          </a:xfrm>
          <a:prstGeom prst="rect">
            <a:avLst/>
          </a:prstGeom>
          <a:noFill/>
          <a:ln/>
        </p:spPr>
        <p:txBody>
          <a:bodyPr wrap="square" lIns="0" tIns="0" rIns="0" bIns="0" rtlCol="0" anchor="t"/>
          <a:lstStyle/>
          <a:p>
            <a:pPr indent="0" marL="0">
              <a:buNone/>
            </a:pPr>
            <a:r>
              <a:rPr lang="en-US" sz="1100" i="1" dirty="0">
                <a:solidFill>
                  <a:schemeClr val="accent5"/>
                </a:solidFill>
              </a:rPr>
              <a:t>Shown: offline rule-based mode. Claude mode uses the same tools and safety checks.</a:t>
            </a:r>
            <a:endParaRPr lang="en-US" sz="1100" dirty="0"/>
          </a:p>
        </p:txBody>
      </p:sp>
      <p:sp>
        <p:nvSpPr>
          <p:cNvPr id="8" name="icon circle AI decides what"/>
          <p:cNvSpPr/>
          <p:nvPr/>
        </p:nvSpPr>
        <p:spPr>
          <a:xfrm>
            <a:off x="7680960" y="1463040"/>
            <a:ext cx="548640" cy="548640"/>
          </a:xfrm>
          <a:prstGeom prst="ellipse">
            <a:avLst/>
          </a:prstGeom>
          <a:solidFill>
            <a:schemeClr val="tx2"/>
          </a:solidFill>
          <a:ln w="19050">
            <a:solidFill>
              <a:srgbClr val="F26B1D"/>
            </a:solidFill>
            <a:prstDash val="solid"/>
          </a:ln>
        </p:spPr>
      </p:sp>
      <p:pic>
        <p:nvPicPr>
          <p:cNvPr id="9" name="Image 1" descr="AI decides what">    </p:cNvPr>
          <p:cNvPicPr>
            <a:picLocks noChangeAspect="1"/>
          </p:cNvPicPr>
          <p:nvPr/>
        </p:nvPicPr>
        <p:blipFill>
          <a:blip r:embed="rId2"/>
          <a:stretch>
            <a:fillRect/>
          </a:stretch>
        </p:blipFill>
        <p:spPr>
          <a:xfrm>
            <a:off x="7818120" y="1600200"/>
            <a:ext cx="274320" cy="274320"/>
          </a:xfrm>
          <a:prstGeom prst="rect">
            <a:avLst/>
          </a:prstGeom>
        </p:spPr>
      </p:pic>
      <p:sp>
        <p:nvSpPr>
          <p:cNvPr id="10" name="row AI decides what"/>
          <p:cNvSpPr txBox="1"/>
          <p:nvPr/>
        </p:nvSpPr>
        <p:spPr>
          <a:xfrm>
            <a:off x="8412480" y="1417320"/>
            <a:ext cx="3246120" cy="868680"/>
          </a:xfrm>
          <a:prstGeom prst="rect">
            <a:avLst/>
          </a:prstGeom>
          <a:noFill/>
          <a:ln/>
        </p:spPr>
        <p:txBody>
          <a:bodyPr wrap="square" lIns="0" tIns="0" rIns="0" bIns="0" rtlCol="0" anchor="t"/>
          <a:lstStyle/>
          <a:p>
            <a:pPr indent="0" marL="0">
              <a:buNone/>
            </a:pPr>
            <a:r>
              <a:rPr lang="en-US" sz="1500" b="1" dirty="0">
                <a:solidFill>
                  <a:schemeClr val="bg1"/>
                </a:solidFill>
              </a:rPr>
              <a:t>AI decides what</a:t>
            </a:r>
            <a:endParaRPr lang="en-US" sz="1500" dirty="0"/>
          </a:p>
          <a:p>
            <a:pPr indent="0" marL="0">
              <a:buNone/>
            </a:pPr>
            <a:r>
              <a:rPr lang="en-US" sz="1300" dirty="0">
                <a:solidFill>
                  <a:schemeClr val="bg2"/>
                </a:solidFill>
              </a:rPr>
              <a:t>Assess, measure, plan — explains each decision in plain language</a:t>
            </a:r>
            <a:endParaRPr lang="en-US" sz="1500" dirty="0"/>
          </a:p>
        </p:txBody>
      </p:sp>
      <p:sp>
        <p:nvSpPr>
          <p:cNvPr id="11" name="icon circle Tested code decides how"/>
          <p:cNvSpPr/>
          <p:nvPr/>
        </p:nvSpPr>
        <p:spPr>
          <a:xfrm>
            <a:off x="7680960" y="2514600"/>
            <a:ext cx="548640" cy="548640"/>
          </a:xfrm>
          <a:prstGeom prst="ellipse">
            <a:avLst/>
          </a:prstGeom>
          <a:solidFill>
            <a:schemeClr val="tx2"/>
          </a:solidFill>
          <a:ln w="19050">
            <a:solidFill>
              <a:srgbClr val="F26B1D"/>
            </a:solidFill>
            <a:prstDash val="solid"/>
          </a:ln>
        </p:spPr>
      </p:sp>
      <p:pic>
        <p:nvPicPr>
          <p:cNvPr id="12" name="Image 2" descr="Tested code decides how">    </p:cNvPr>
          <p:cNvPicPr>
            <a:picLocks noChangeAspect="1"/>
          </p:cNvPicPr>
          <p:nvPr/>
        </p:nvPicPr>
        <p:blipFill>
          <a:blip r:embed="rId3"/>
          <a:stretch>
            <a:fillRect/>
          </a:stretch>
        </p:blipFill>
        <p:spPr>
          <a:xfrm>
            <a:off x="7818120" y="2651760"/>
            <a:ext cx="274320" cy="274320"/>
          </a:xfrm>
          <a:prstGeom prst="rect">
            <a:avLst/>
          </a:prstGeom>
        </p:spPr>
      </p:pic>
      <p:sp>
        <p:nvSpPr>
          <p:cNvPr id="13" name="row Tested code decides how"/>
          <p:cNvSpPr txBox="1"/>
          <p:nvPr/>
        </p:nvSpPr>
        <p:spPr>
          <a:xfrm>
            <a:off x="8412480" y="2468880"/>
            <a:ext cx="3246120" cy="868680"/>
          </a:xfrm>
          <a:prstGeom prst="rect">
            <a:avLst/>
          </a:prstGeom>
          <a:noFill/>
          <a:ln/>
        </p:spPr>
        <p:txBody>
          <a:bodyPr wrap="square" lIns="0" tIns="0" rIns="0" bIns="0" rtlCol="0" anchor="t"/>
          <a:lstStyle/>
          <a:p>
            <a:pPr indent="0" marL="0">
              <a:buNone/>
            </a:pPr>
            <a:r>
              <a:rPr lang="en-US" sz="1500" b="1" dirty="0">
                <a:solidFill>
                  <a:schemeClr val="bg1"/>
                </a:solidFill>
              </a:rPr>
              <a:t>Tested code decides how</a:t>
            </a:r>
            <a:endParaRPr lang="en-US" sz="1500" dirty="0"/>
          </a:p>
          <a:p>
            <a:pPr indent="0" marL="0">
              <a:buNone/>
            </a:pPr>
            <a:r>
              <a:rPr lang="en-US" sz="1300" dirty="0">
                <a:solidFill>
                  <a:schemeClr val="bg2"/>
                </a:solidFill>
              </a:rPr>
              <a:t>4 safe tools: measure, plan route, fly, broadcast</a:t>
            </a:r>
            <a:endParaRPr lang="en-US" sz="1500" dirty="0"/>
          </a:p>
        </p:txBody>
      </p:sp>
      <p:sp>
        <p:nvSpPr>
          <p:cNvPr id="14" name="icon circle Safety check on every action"/>
          <p:cNvSpPr/>
          <p:nvPr/>
        </p:nvSpPr>
        <p:spPr>
          <a:xfrm>
            <a:off x="7680960" y="3566160"/>
            <a:ext cx="548640" cy="548640"/>
          </a:xfrm>
          <a:prstGeom prst="ellipse">
            <a:avLst/>
          </a:prstGeom>
          <a:solidFill>
            <a:schemeClr val="tx2"/>
          </a:solidFill>
          <a:ln w="19050">
            <a:solidFill>
              <a:srgbClr val="F26B1D"/>
            </a:solidFill>
            <a:prstDash val="solid"/>
          </a:ln>
        </p:spPr>
      </p:sp>
      <p:pic>
        <p:nvPicPr>
          <p:cNvPr id="15" name="Image 3" descr="Safety check on every action">    </p:cNvPr>
          <p:cNvPicPr>
            <a:picLocks noChangeAspect="1"/>
          </p:cNvPicPr>
          <p:nvPr/>
        </p:nvPicPr>
        <p:blipFill>
          <a:blip r:embed="rId4"/>
          <a:stretch>
            <a:fillRect/>
          </a:stretch>
        </p:blipFill>
        <p:spPr>
          <a:xfrm>
            <a:off x="7818120" y="3703320"/>
            <a:ext cx="274320" cy="274320"/>
          </a:xfrm>
          <a:prstGeom prst="rect">
            <a:avLst/>
          </a:prstGeom>
        </p:spPr>
      </p:pic>
      <p:sp>
        <p:nvSpPr>
          <p:cNvPr id="16" name="row Safety check on every action"/>
          <p:cNvSpPr txBox="1"/>
          <p:nvPr/>
        </p:nvSpPr>
        <p:spPr>
          <a:xfrm>
            <a:off x="8412480" y="3520440"/>
            <a:ext cx="3246120" cy="868680"/>
          </a:xfrm>
          <a:prstGeom prst="rect">
            <a:avLst/>
          </a:prstGeom>
          <a:noFill/>
          <a:ln/>
        </p:spPr>
        <p:txBody>
          <a:bodyPr wrap="square" lIns="0" tIns="0" rIns="0" bIns="0" rtlCol="0" anchor="t"/>
          <a:lstStyle/>
          <a:p>
            <a:pPr indent="0" marL="0">
              <a:buNone/>
            </a:pPr>
            <a:r>
              <a:rPr lang="en-US" sz="1500" b="1" dirty="0">
                <a:solidFill>
                  <a:schemeClr val="bg1"/>
                </a:solidFill>
              </a:rPr>
              <a:t>Safety check on every action</a:t>
            </a:r>
            <a:endParaRPr lang="en-US" sz="1500" dirty="0"/>
          </a:p>
          <a:p>
            <a:pPr indent="0" marL="0">
              <a:buNone/>
            </a:pPr>
            <a:r>
              <a:rPr lang="en-US" sz="1300" dirty="0">
                <a:solidFill>
                  <a:schemeClr val="bg2"/>
                </a:solidFill>
              </a:rPr>
              <a:t>Battery reserve and limits — the AI never flies the drone</a:t>
            </a:r>
            <a:endParaRPr lang="en-US" sz="1500" dirty="0"/>
          </a:p>
        </p:txBody>
      </p:sp>
      <p:sp>
        <p:nvSpPr>
          <p:cNvPr id="17" name="stat card aborted"/>
          <p:cNvSpPr/>
          <p:nvPr/>
        </p:nvSpPr>
        <p:spPr>
          <a:xfrm>
            <a:off x="7680960" y="4754880"/>
            <a:ext cx="1874520" cy="1051560"/>
          </a:xfrm>
          <a:prstGeom prst="roundRect">
            <a:avLst>
              <a:gd name="adj" fmla="val 8696"/>
            </a:avLst>
          </a:prstGeom>
          <a:solidFill>
            <a:schemeClr val="tx2"/>
          </a:solidFill>
          <a:ln w="12700">
            <a:solidFill>
              <a:schemeClr val="tx2"/>
            </a:solidFill>
            <a:prstDash val="solid"/>
          </a:ln>
        </p:spPr>
      </p:sp>
      <p:sp>
        <p:nvSpPr>
          <p:cNvPr id="18" name="stat value aborted"/>
          <p:cNvSpPr txBox="1"/>
          <p:nvPr/>
        </p:nvSpPr>
        <p:spPr>
          <a:xfrm>
            <a:off x="7818120" y="4828032"/>
            <a:ext cx="1600200" cy="578358"/>
          </a:xfrm>
          <a:prstGeom prst="rect">
            <a:avLst/>
          </a:prstGeom>
          <a:noFill/>
          <a:ln/>
        </p:spPr>
        <p:txBody>
          <a:bodyPr wrap="square" lIns="0" tIns="0" rIns="0" bIns="0" rtlCol="0" anchor="b">
            <a:normAutofit/>
          </a:bodyPr>
          <a:lstStyle/>
          <a:p>
            <a:pPr indent="0" marL="0">
              <a:buNone/>
            </a:pPr>
            <a:r>
              <a:rPr lang="en-US" sz="2200" b="1" dirty="0">
                <a:solidFill>
                  <a:schemeClr val="accent3"/>
                </a:solidFill>
              </a:rPr>
              <a:t>aborted</a:t>
            </a:r>
            <a:endParaRPr lang="en-US" sz="2200" dirty="0"/>
          </a:p>
        </p:txBody>
      </p:sp>
      <p:sp>
        <p:nvSpPr>
          <p:cNvPr id="19" name="stat label aborted"/>
          <p:cNvSpPr txBox="1"/>
          <p:nvPr/>
        </p:nvSpPr>
        <p:spPr>
          <a:xfrm>
            <a:off x="7818120" y="5424678"/>
            <a:ext cx="1600200" cy="310896"/>
          </a:xfrm>
          <a:prstGeom prst="rect">
            <a:avLst/>
          </a:prstGeom>
          <a:noFill/>
          <a:ln/>
        </p:spPr>
        <p:txBody>
          <a:bodyPr wrap="square" lIns="0" tIns="0" rIns="0" bIns="0" rtlCol="0" anchor="t"/>
          <a:lstStyle/>
          <a:p>
            <a:pPr indent="0" marL="0">
              <a:buNone/>
            </a:pPr>
            <a:r>
              <a:rPr lang="en-US" sz="1200" dirty="0">
                <a:solidFill>
                  <a:schemeClr val="bg2"/>
                </a:solidFill>
              </a:rPr>
              <a:t>today: GPS lost → flies home</a:t>
            </a:r>
            <a:endParaRPr lang="en-US" sz="1200" dirty="0"/>
          </a:p>
        </p:txBody>
      </p:sp>
      <p:sp>
        <p:nvSpPr>
          <p:cNvPr id="20" name="stat card 8 m"/>
          <p:cNvSpPr/>
          <p:nvPr/>
        </p:nvSpPr>
        <p:spPr>
          <a:xfrm>
            <a:off x="9692640" y="4754880"/>
            <a:ext cx="1965960" cy="1051560"/>
          </a:xfrm>
          <a:prstGeom prst="roundRect">
            <a:avLst>
              <a:gd name="adj" fmla="val 8696"/>
            </a:avLst>
          </a:prstGeom>
          <a:solidFill>
            <a:schemeClr val="tx2"/>
          </a:solidFill>
          <a:ln w="12700">
            <a:solidFill>
              <a:schemeClr val="tx2"/>
            </a:solidFill>
            <a:prstDash val="solid"/>
          </a:ln>
        </p:spPr>
      </p:sp>
      <p:sp>
        <p:nvSpPr>
          <p:cNvPr id="21" name="stat value 8 m"/>
          <p:cNvSpPr txBox="1"/>
          <p:nvPr/>
        </p:nvSpPr>
        <p:spPr>
          <a:xfrm>
            <a:off x="9829800" y="4828032"/>
            <a:ext cx="1691640" cy="578358"/>
          </a:xfrm>
          <a:prstGeom prst="rect">
            <a:avLst/>
          </a:prstGeom>
          <a:noFill/>
          <a:ln/>
        </p:spPr>
        <p:txBody>
          <a:bodyPr wrap="square" lIns="0" tIns="0" rIns="0" bIns="0" rtlCol="0" anchor="b">
            <a:normAutofit/>
          </a:bodyPr>
          <a:lstStyle/>
          <a:p>
            <a:pPr indent="0" marL="0">
              <a:buNone/>
            </a:pPr>
            <a:r>
              <a:rPr lang="en-US" sz="2200" b="1" dirty="0">
                <a:solidFill>
                  <a:schemeClr val="accent2"/>
                </a:solidFill>
              </a:rPr>
              <a:t>8 m</a:t>
            </a:r>
            <a:endParaRPr lang="en-US" sz="2200" dirty="0"/>
          </a:p>
        </p:txBody>
      </p:sp>
      <p:sp>
        <p:nvSpPr>
          <p:cNvPr id="22" name="stat label 8 m"/>
          <p:cNvSpPr txBox="1"/>
          <p:nvPr/>
        </p:nvSpPr>
        <p:spPr>
          <a:xfrm>
            <a:off x="9829800" y="5424678"/>
            <a:ext cx="1691640" cy="310896"/>
          </a:xfrm>
          <a:prstGeom prst="rect">
            <a:avLst/>
          </a:prstGeom>
          <a:noFill/>
          <a:ln/>
        </p:spPr>
        <p:txBody>
          <a:bodyPr wrap="square" lIns="0" tIns="0" rIns="0" bIns="0" rtlCol="0" anchor="t"/>
          <a:lstStyle/>
          <a:p>
            <a:pPr indent="0" marL="0">
              <a:buNone/>
            </a:pPr>
            <a:r>
              <a:rPr lang="en-US" sz="1200" dirty="0">
                <a:solidFill>
                  <a:schemeClr val="bg2"/>
                </a:solidFill>
              </a:rPr>
              <a:t>from target: mission completed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One scout gets jammed — the swarm gets through</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Jamming radar: animated swarm reroute replay frame"/>
          <p:cNvSpPr/>
          <p:nvPr/>
        </p:nvSpPr>
        <p:spPr>
          <a:xfrm>
            <a:off x="530352" y="1307592"/>
            <a:ext cx="7443216" cy="4600956"/>
          </a:xfrm>
          <a:prstGeom prst="roundRect">
            <a:avLst>
              <a:gd name="adj" fmla="val 1590"/>
            </a:avLst>
          </a:prstGeom>
          <a:solidFill>
            <a:schemeClr val="bg1"/>
          </a:solidFill>
          <a:ln w="12700">
            <a:solidFill>
              <a:schemeClr val="bg1"/>
            </a:solidFill>
            <a:prstDash val="solid"/>
          </a:ln>
        </p:spPr>
      </p:sp>
      <p:pic>
        <p:nvPicPr>
          <p:cNvPr id="6" name="Jamming radar: animated swarm reroute replay" descr="Jamming radar: animated swarm reroute replay">    </p:cNvPr>
          <p:cNvPicPr>
            <a:picLocks noChangeAspect="1"/>
          </p:cNvPicPr>
          <p:nvPr/>
        </p:nvPicPr>
        <p:blipFill>
          <a:blip r:embed="rId1"/>
          <a:stretch>
            <a:fillRect/>
          </a:stretch>
        </p:blipFill>
        <p:spPr>
          <a:xfrm>
            <a:off x="594360" y="1371600"/>
            <a:ext cx="7315200" cy="4472940"/>
          </a:xfrm>
          <a:prstGeom prst="rect">
            <a:avLst/>
          </a:prstGeom>
        </p:spPr>
      </p:pic>
      <p:sp>
        <p:nvSpPr>
          <p:cNvPr id="7" name="caption"/>
          <p:cNvSpPr txBox="1"/>
          <p:nvPr/>
        </p:nvSpPr>
        <p:spPr>
          <a:xfrm>
            <a:off x="548640" y="5981700"/>
            <a:ext cx="7406640" cy="320040"/>
          </a:xfrm>
          <a:prstGeom prst="rect">
            <a:avLst/>
          </a:prstGeom>
          <a:noFill/>
          <a:ln/>
        </p:spPr>
        <p:txBody>
          <a:bodyPr wrap="square" lIns="0" tIns="0" rIns="0" bIns="0" rtlCol="0" anchor="t"/>
          <a:lstStyle/>
          <a:p>
            <a:pPr indent="0" marL="0">
              <a:buNone/>
            </a:pPr>
            <a:r>
              <a:rPr lang="en-US" sz="1100" i="1" dirty="0">
                <a:solidFill>
                  <a:schemeClr val="accent5"/>
                </a:solidFill>
              </a:rPr>
              <a:t>Flight-radar replay of our swarm simulation — drone expert Isabella's idea, built by Guled</a:t>
            </a:r>
            <a:endParaRPr lang="en-US" sz="1100" dirty="0"/>
          </a:p>
        </p:txBody>
      </p:sp>
      <p:sp>
        <p:nvSpPr>
          <p:cNvPr id="8" name="stat card 0 / 3"/>
          <p:cNvSpPr/>
          <p:nvPr/>
        </p:nvSpPr>
        <p:spPr>
          <a:xfrm>
            <a:off x="8412480" y="1371600"/>
            <a:ext cx="3246120" cy="960120"/>
          </a:xfrm>
          <a:prstGeom prst="roundRect">
            <a:avLst>
              <a:gd name="adj" fmla="val 9524"/>
            </a:avLst>
          </a:prstGeom>
          <a:solidFill>
            <a:schemeClr val="tx2"/>
          </a:solidFill>
          <a:ln w="12700">
            <a:solidFill>
              <a:schemeClr val="tx2"/>
            </a:solidFill>
            <a:prstDash val="solid"/>
          </a:ln>
        </p:spPr>
      </p:sp>
      <p:sp>
        <p:nvSpPr>
          <p:cNvPr id="9" name="stat value 0 / 3"/>
          <p:cNvSpPr txBox="1"/>
          <p:nvPr/>
        </p:nvSpPr>
        <p:spPr>
          <a:xfrm>
            <a:off x="8549640" y="144475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3"/>
                </a:solidFill>
              </a:rPr>
              <a:t>0 / 3</a:t>
            </a:r>
            <a:endParaRPr lang="en-US" sz="2400" dirty="0"/>
          </a:p>
        </p:txBody>
      </p:sp>
      <p:sp>
        <p:nvSpPr>
          <p:cNvPr id="10" name="stat label 0 / 3"/>
          <p:cNvSpPr txBox="1"/>
          <p:nvPr/>
        </p:nvSpPr>
        <p:spPr>
          <a:xfrm>
            <a:off x="8549640" y="1991106"/>
            <a:ext cx="2971800" cy="274320"/>
          </a:xfrm>
          <a:prstGeom prst="rect">
            <a:avLst/>
          </a:prstGeom>
          <a:noFill/>
          <a:ln/>
        </p:spPr>
        <p:txBody>
          <a:bodyPr wrap="square" lIns="0" tIns="0" rIns="0" bIns="0" rtlCol="0" anchor="t"/>
          <a:lstStyle/>
          <a:p>
            <a:pPr indent="0" marL="0">
              <a:buNone/>
            </a:pPr>
            <a:r>
              <a:rPr lang="en-US" sz="1200" dirty="0">
                <a:solidFill>
                  <a:schemeClr val="bg2"/>
                </a:solidFill>
              </a:rPr>
              <a:t>reach the target today</a:t>
            </a:r>
            <a:endParaRPr lang="en-US" sz="1200" dirty="0"/>
          </a:p>
        </p:txBody>
      </p:sp>
      <p:sp>
        <p:nvSpPr>
          <p:cNvPr id="11" name="stat card 24 / 24"/>
          <p:cNvSpPr/>
          <p:nvPr/>
        </p:nvSpPr>
        <p:spPr>
          <a:xfrm>
            <a:off x="8412480" y="2468880"/>
            <a:ext cx="3246120" cy="960120"/>
          </a:xfrm>
          <a:prstGeom prst="roundRect">
            <a:avLst>
              <a:gd name="adj" fmla="val 9524"/>
            </a:avLst>
          </a:prstGeom>
          <a:solidFill>
            <a:schemeClr val="tx2"/>
          </a:solidFill>
          <a:ln w="12700">
            <a:solidFill>
              <a:schemeClr val="tx2"/>
            </a:solidFill>
            <a:prstDash val="solid"/>
          </a:ln>
        </p:spPr>
      </p:sp>
      <p:sp>
        <p:nvSpPr>
          <p:cNvPr id="12" name="stat value 24 / 24"/>
          <p:cNvSpPr txBox="1"/>
          <p:nvPr/>
        </p:nvSpPr>
        <p:spPr>
          <a:xfrm>
            <a:off x="8549640" y="254203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24 / 24</a:t>
            </a:r>
            <a:endParaRPr lang="en-US" sz="2400" dirty="0"/>
          </a:p>
        </p:txBody>
      </p:sp>
      <p:sp>
        <p:nvSpPr>
          <p:cNvPr id="13" name="stat label 24 / 24"/>
          <p:cNvSpPr txBox="1"/>
          <p:nvPr/>
        </p:nvSpPr>
        <p:spPr>
          <a:xfrm>
            <a:off x="8549640" y="308838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 our swarm (8 random runs)</a:t>
            </a:r>
            <a:endParaRPr lang="en-US" sz="1200" dirty="0"/>
          </a:p>
        </p:txBody>
      </p:sp>
      <p:sp>
        <p:nvSpPr>
          <p:cNvPr id="14" name="stat card 16 s vs 68 s"/>
          <p:cNvSpPr/>
          <p:nvPr/>
        </p:nvSpPr>
        <p:spPr>
          <a:xfrm>
            <a:off x="8412480" y="3566160"/>
            <a:ext cx="3246120" cy="960120"/>
          </a:xfrm>
          <a:prstGeom prst="roundRect">
            <a:avLst>
              <a:gd name="adj" fmla="val 9524"/>
            </a:avLst>
          </a:prstGeom>
          <a:solidFill>
            <a:schemeClr val="tx2"/>
          </a:solidFill>
          <a:ln w="12700">
            <a:solidFill>
              <a:schemeClr val="tx2"/>
            </a:solidFill>
            <a:prstDash val="solid"/>
          </a:ln>
        </p:spPr>
      </p:sp>
      <p:sp>
        <p:nvSpPr>
          <p:cNvPr id="15" name="stat value 16 s vs 68 s"/>
          <p:cNvSpPr txBox="1"/>
          <p:nvPr/>
        </p:nvSpPr>
        <p:spPr>
          <a:xfrm>
            <a:off x="8549640" y="363931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2"/>
                </a:solidFill>
              </a:rPr>
              <a:t>16 s vs 68 s</a:t>
            </a:r>
            <a:endParaRPr lang="en-US" sz="2400" dirty="0"/>
          </a:p>
        </p:txBody>
      </p:sp>
      <p:sp>
        <p:nvSpPr>
          <p:cNvPr id="16" name="stat label 16 s vs 68 s"/>
          <p:cNvSpPr txBox="1"/>
          <p:nvPr/>
        </p:nvSpPr>
        <p:spPr>
          <a:xfrm>
            <a:off x="8549640" y="4185666"/>
            <a:ext cx="2971800" cy="274320"/>
          </a:xfrm>
          <a:prstGeom prst="rect">
            <a:avLst/>
          </a:prstGeom>
          <a:noFill/>
          <a:ln/>
        </p:spPr>
        <p:txBody>
          <a:bodyPr wrap="square" lIns="0" tIns="0" rIns="0" bIns="0" rtlCol="0" anchor="t"/>
          <a:lstStyle/>
          <a:p>
            <a:pPr indent="0" marL="0">
              <a:buNone/>
            </a:pPr>
            <a:r>
              <a:rPr lang="en-US" sz="1200" dirty="0">
                <a:solidFill>
                  <a:schemeClr val="bg2"/>
                </a:solidFill>
              </a:rPr>
              <a:t>without GPS: swarm vs each alone</a:t>
            </a:r>
            <a:endParaRPr lang="en-US" sz="1200" dirty="0"/>
          </a:p>
        </p:txBody>
      </p:sp>
      <p:sp>
        <p:nvSpPr>
          <p:cNvPr id="17" name="stat card −16 %"/>
          <p:cNvSpPr/>
          <p:nvPr/>
        </p:nvSpPr>
        <p:spPr>
          <a:xfrm>
            <a:off x="8412480" y="4663440"/>
            <a:ext cx="3246120" cy="960120"/>
          </a:xfrm>
          <a:prstGeom prst="roundRect">
            <a:avLst>
              <a:gd name="adj" fmla="val 9524"/>
            </a:avLst>
          </a:prstGeom>
          <a:solidFill>
            <a:schemeClr val="tx2"/>
          </a:solidFill>
          <a:ln w="12700">
            <a:solidFill>
              <a:schemeClr val="tx2"/>
            </a:solidFill>
            <a:prstDash val="solid"/>
          </a:ln>
        </p:spPr>
      </p:sp>
      <p:sp>
        <p:nvSpPr>
          <p:cNvPr id="18" name="stat value −16 %"/>
          <p:cNvSpPr txBox="1"/>
          <p:nvPr/>
        </p:nvSpPr>
        <p:spPr>
          <a:xfrm>
            <a:off x="8549640" y="4736592"/>
            <a:ext cx="2971800" cy="528066"/>
          </a:xfrm>
          <a:prstGeom prst="rect">
            <a:avLst/>
          </a:prstGeom>
          <a:noFill/>
          <a:ln/>
        </p:spPr>
        <p:txBody>
          <a:bodyPr wrap="square" lIns="0" tIns="0" rIns="0" bIns="0" rtlCol="0" anchor="b">
            <a:normAutofit/>
          </a:bodyPr>
          <a:lstStyle/>
          <a:p>
            <a:pPr indent="0" marL="0">
              <a:buNone/>
            </a:pPr>
            <a:r>
              <a:rPr lang="en-US" sz="2400" b="1" dirty="0">
                <a:solidFill>
                  <a:schemeClr val="accent4"/>
                </a:solidFill>
              </a:rPr>
              <a:t>−16 %</a:t>
            </a:r>
            <a:endParaRPr lang="en-US" sz="2400" dirty="0"/>
          </a:p>
        </p:txBody>
      </p:sp>
      <p:sp>
        <p:nvSpPr>
          <p:cNvPr id="19" name="stat label −16 %"/>
          <p:cNvSpPr txBox="1"/>
          <p:nvPr/>
        </p:nvSpPr>
        <p:spPr>
          <a:xfrm>
            <a:off x="8549640" y="5282946"/>
            <a:ext cx="2971800" cy="274320"/>
          </a:xfrm>
          <a:prstGeom prst="rect">
            <a:avLst/>
          </a:prstGeom>
          <a:noFill/>
          <a:ln/>
        </p:spPr>
        <p:txBody>
          <a:bodyPr wrap="square" lIns="0" tIns="0" rIns="0" bIns="0" rtlCol="0" anchor="t"/>
          <a:lstStyle/>
          <a:p>
            <a:pPr indent="0" marL="0">
              <a:buNone/>
            </a:pPr>
            <a:r>
              <a:rPr lang="en-US" sz="1200" dirty="0">
                <a:solidFill>
                  <a:schemeClr val="bg2"/>
                </a:solidFill>
              </a:rPr>
              <a:t>mission time</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Target inside the zone? The swarm is its own GPS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Text 3"/>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400" b="1" dirty="0">
                <a:solidFill>
                  <a:schemeClr val="accent1"/>
                </a:solidFill>
              </a:rPr>
              <a:t>SWARM GPS  ·  edge drones keep GPS and range the drone inside</a:t>
            </a:r>
            <a:endParaRPr lang="en-US" sz="1400" dirty="0"/>
          </a:p>
        </p:txBody>
      </p:sp>
      <p:sp>
        <p:nvSpPr>
          <p:cNvPr id="6" name="Swarm GPS inside the jammed zone frame"/>
          <p:cNvSpPr/>
          <p:nvPr/>
        </p:nvSpPr>
        <p:spPr>
          <a:xfrm>
            <a:off x="530352" y="1719072"/>
            <a:ext cx="5522976" cy="2399578"/>
          </a:xfrm>
          <a:prstGeom prst="roundRect">
            <a:avLst>
              <a:gd name="adj" fmla="val 3049"/>
            </a:avLst>
          </a:prstGeom>
          <a:solidFill>
            <a:schemeClr val="bg1"/>
          </a:solidFill>
          <a:ln w="12700">
            <a:solidFill>
              <a:schemeClr val="bg1"/>
            </a:solidFill>
            <a:prstDash val="solid"/>
          </a:ln>
        </p:spPr>
      </p:sp>
      <p:pic>
        <p:nvPicPr>
          <p:cNvPr id="7" name="Swarm GPS inside the jammed zone" descr="Swarm GPS inside the jammed zone">    </p:cNvPr>
          <p:cNvPicPr>
            <a:picLocks noChangeAspect="1"/>
          </p:cNvPicPr>
          <p:nvPr/>
        </p:nvPicPr>
        <p:blipFill>
          <a:blip r:embed="rId1"/>
          <a:stretch>
            <a:fillRect/>
          </a:stretch>
        </p:blipFill>
        <p:spPr>
          <a:xfrm>
            <a:off x="594360" y="1783080"/>
            <a:ext cx="5394960" cy="2271562"/>
          </a:xfrm>
          <a:prstGeom prst="rect">
            <a:avLst/>
          </a:prstGeom>
        </p:spPr>
      </p:pic>
      <p:sp>
        <p:nvSpPr>
          <p:cNvPr id="8" name="stat card 59 m → 1 m"/>
          <p:cNvSpPr/>
          <p:nvPr/>
        </p:nvSpPr>
        <p:spPr>
          <a:xfrm>
            <a:off x="548640" y="4328962"/>
            <a:ext cx="2651760" cy="1051560"/>
          </a:xfrm>
          <a:prstGeom prst="roundRect">
            <a:avLst>
              <a:gd name="adj" fmla="val 8696"/>
            </a:avLst>
          </a:prstGeom>
          <a:solidFill>
            <a:schemeClr val="tx2"/>
          </a:solidFill>
          <a:ln w="12700">
            <a:solidFill>
              <a:schemeClr val="tx2"/>
            </a:solidFill>
            <a:prstDash val="solid"/>
          </a:ln>
        </p:spPr>
      </p:sp>
      <p:sp>
        <p:nvSpPr>
          <p:cNvPr id="9" name="stat value 59 m → 1 m"/>
          <p:cNvSpPr txBox="1"/>
          <p:nvPr/>
        </p:nvSpPr>
        <p:spPr>
          <a:xfrm>
            <a:off x="685800" y="4402114"/>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59 m → 1 m</a:t>
            </a:r>
            <a:endParaRPr lang="en-US" sz="2400" dirty="0"/>
          </a:p>
        </p:txBody>
      </p:sp>
      <p:sp>
        <p:nvSpPr>
          <p:cNvPr id="10" name="stat label 59 m → 1 m"/>
          <p:cNvSpPr txBox="1"/>
          <p:nvPr/>
        </p:nvSpPr>
        <p:spPr>
          <a:xfrm>
            <a:off x="685800" y="4998760"/>
            <a:ext cx="2377440" cy="310896"/>
          </a:xfrm>
          <a:prstGeom prst="rect">
            <a:avLst/>
          </a:prstGeom>
          <a:noFill/>
          <a:ln/>
        </p:spPr>
        <p:txBody>
          <a:bodyPr wrap="square" lIns="0" tIns="0" rIns="0" bIns="0" rtlCol="0" anchor="t"/>
          <a:lstStyle/>
          <a:p>
            <a:pPr indent="0" marL="0">
              <a:buNone/>
            </a:pPr>
            <a:r>
              <a:rPr lang="en-US" sz="1200" dirty="0">
                <a:solidFill>
                  <a:schemeClr val="bg2"/>
                </a:solidFill>
              </a:rPr>
              <a:t>error while observing the target (20 runs)</a:t>
            </a:r>
            <a:endParaRPr lang="en-US" sz="1200" dirty="0"/>
          </a:p>
        </p:txBody>
      </p:sp>
      <p:sp>
        <p:nvSpPr>
          <p:cNvPr id="11" name="stat card 2 m"/>
          <p:cNvSpPr/>
          <p:nvPr/>
        </p:nvSpPr>
        <p:spPr>
          <a:xfrm>
            <a:off x="3337560" y="4328962"/>
            <a:ext cx="2697480" cy="1051560"/>
          </a:xfrm>
          <a:prstGeom prst="roundRect">
            <a:avLst>
              <a:gd name="adj" fmla="val 8696"/>
            </a:avLst>
          </a:prstGeom>
          <a:solidFill>
            <a:schemeClr val="tx2"/>
          </a:solidFill>
          <a:ln w="12700">
            <a:solidFill>
              <a:schemeClr val="tx2"/>
            </a:solidFill>
            <a:prstDash val="solid"/>
          </a:ln>
        </p:spPr>
      </p:sp>
      <p:sp>
        <p:nvSpPr>
          <p:cNvPr id="12" name="stat value 2 m"/>
          <p:cNvSpPr txBox="1"/>
          <p:nvPr/>
        </p:nvSpPr>
        <p:spPr>
          <a:xfrm>
            <a:off x="3474720" y="4402114"/>
            <a:ext cx="242316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 m</a:t>
            </a:r>
            <a:endParaRPr lang="en-US" sz="2400" dirty="0"/>
          </a:p>
        </p:txBody>
      </p:sp>
      <p:sp>
        <p:nvSpPr>
          <p:cNvPr id="13" name="stat label 2 m"/>
          <p:cNvSpPr txBox="1"/>
          <p:nvPr/>
        </p:nvSpPr>
        <p:spPr>
          <a:xfrm>
            <a:off x="3474720" y="4998760"/>
            <a:ext cx="2423160" cy="310896"/>
          </a:xfrm>
          <a:prstGeom prst="rect">
            <a:avLst/>
          </a:prstGeom>
          <a:noFill/>
          <a:ln/>
        </p:spPr>
        <p:txBody>
          <a:bodyPr wrap="square" lIns="0" tIns="0" rIns="0" bIns="0" rtlCol="0" anchor="t"/>
          <a:lstStyle/>
          <a:p>
            <a:pPr indent="0" marL="0">
              <a:buNone/>
            </a:pPr>
            <a:r>
              <a:rPr lang="en-US" sz="1200" dirty="0">
                <a:solidFill>
                  <a:schemeClr val="bg2"/>
                </a:solidFill>
              </a:rPr>
              <a:t>still, if one edge drone is lost</a:t>
            </a:r>
            <a:endParaRPr lang="en-US" sz="1200" dirty="0"/>
          </a:p>
        </p:txBody>
      </p:sp>
      <p:sp>
        <p:nvSpPr>
          <p:cNvPr id="14" name="caption"/>
          <p:cNvSpPr txBox="1"/>
          <p:nvPr/>
        </p:nvSpPr>
        <p:spPr>
          <a:xfrm>
            <a:off x="548640" y="5471962"/>
            <a:ext cx="5486400" cy="320040"/>
          </a:xfrm>
          <a:prstGeom prst="rect">
            <a:avLst/>
          </a:prstGeom>
          <a:noFill/>
          <a:ln/>
        </p:spPr>
        <p:txBody>
          <a:bodyPr wrap="square" lIns="0" tIns="0" rIns="0" bIns="0" rtlCol="0" anchor="t"/>
          <a:lstStyle/>
          <a:p>
            <a:pPr indent="0" marL="0">
              <a:buNone/>
            </a:pPr>
            <a:r>
              <a:rPr lang="en-US" sz="1100" i="1" dirty="0">
                <a:solidFill>
                  <a:schemeClr val="accent5"/>
                </a:solidFill>
              </a:rPr>
              <a:t>Radio ranging on the drones' own link — not the band a GPS jammer hits.</a:t>
            </a:r>
            <a:endParaRPr lang="en-US" sz="1100" dirty="0"/>
          </a:p>
        </p:txBody>
      </p:sp>
      <p:sp>
        <p:nvSpPr>
          <p:cNvPr id="15" name="Text 12"/>
          <p:cNvSpPr txBox="1"/>
          <p:nvPr/>
        </p:nvSpPr>
        <p:spPr>
          <a:xfrm>
            <a:off x="6263640" y="1325880"/>
            <a:ext cx="5394960" cy="320040"/>
          </a:xfrm>
          <a:prstGeom prst="rect">
            <a:avLst/>
          </a:prstGeom>
          <a:noFill/>
          <a:ln/>
        </p:spPr>
        <p:txBody>
          <a:bodyPr wrap="square" lIns="0" tIns="0" rIns="0" bIns="0" rtlCol="0" anchor="ctr"/>
          <a:lstStyle/>
          <a:p>
            <a:pPr indent="0" marL="0">
              <a:buNone/>
            </a:pPr>
            <a:r>
              <a:rPr lang="en-US" sz="1400" b="1" dirty="0">
                <a:solidFill>
                  <a:schemeClr val="accent1"/>
                </a:solidFill>
              </a:rPr>
              <a:t>MAGNAV  ·  the Earth's magnetic map can't be jammed</a:t>
            </a:r>
            <a:endParaRPr lang="en-US" sz="1400" dirty="0"/>
          </a:p>
        </p:txBody>
      </p:sp>
      <p:sp>
        <p:nvSpPr>
          <p:cNvPr id="16" name="MagNav over land and sea frame"/>
          <p:cNvSpPr/>
          <p:nvPr/>
        </p:nvSpPr>
        <p:spPr>
          <a:xfrm>
            <a:off x="6245352" y="1719072"/>
            <a:ext cx="5431536" cy="2220182"/>
          </a:xfrm>
          <a:prstGeom prst="roundRect">
            <a:avLst>
              <a:gd name="adj" fmla="val 3295"/>
            </a:avLst>
          </a:prstGeom>
          <a:solidFill>
            <a:schemeClr val="bg1"/>
          </a:solidFill>
          <a:ln w="12700">
            <a:solidFill>
              <a:schemeClr val="bg1"/>
            </a:solidFill>
            <a:prstDash val="solid"/>
          </a:ln>
        </p:spPr>
      </p:sp>
      <p:pic>
        <p:nvPicPr>
          <p:cNvPr id="17" name="MagNav over land and sea" descr="MagNav over land and sea">    </p:cNvPr>
          <p:cNvPicPr>
            <a:picLocks noChangeAspect="1"/>
          </p:cNvPicPr>
          <p:nvPr/>
        </p:nvPicPr>
        <p:blipFill>
          <a:blip r:embed="rId2"/>
          <a:stretch>
            <a:fillRect/>
          </a:stretch>
        </p:blipFill>
        <p:spPr>
          <a:xfrm>
            <a:off x="6309360" y="1783080"/>
            <a:ext cx="5303520" cy="2092166"/>
          </a:xfrm>
          <a:prstGeom prst="rect">
            <a:avLst/>
          </a:prstGeom>
        </p:spPr>
      </p:pic>
      <p:sp>
        <p:nvSpPr>
          <p:cNvPr id="18" name="stat card 202 m"/>
          <p:cNvSpPr/>
          <p:nvPr/>
        </p:nvSpPr>
        <p:spPr>
          <a:xfrm>
            <a:off x="6263640" y="4149566"/>
            <a:ext cx="2606040" cy="1051560"/>
          </a:xfrm>
          <a:prstGeom prst="roundRect">
            <a:avLst>
              <a:gd name="adj" fmla="val 8696"/>
            </a:avLst>
          </a:prstGeom>
          <a:solidFill>
            <a:schemeClr val="tx2"/>
          </a:solidFill>
          <a:ln w="12700">
            <a:solidFill>
              <a:schemeClr val="tx2"/>
            </a:solidFill>
            <a:prstDash val="solid"/>
          </a:ln>
        </p:spPr>
      </p:sp>
      <p:sp>
        <p:nvSpPr>
          <p:cNvPr id="19" name="stat value 202 m"/>
          <p:cNvSpPr txBox="1"/>
          <p:nvPr/>
        </p:nvSpPr>
        <p:spPr>
          <a:xfrm>
            <a:off x="640080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202 m</a:t>
            </a:r>
            <a:endParaRPr lang="en-US" sz="2400" dirty="0"/>
          </a:p>
        </p:txBody>
      </p:sp>
      <p:sp>
        <p:nvSpPr>
          <p:cNvPr id="20" name="stat label 202 m"/>
          <p:cNvSpPr txBox="1"/>
          <p:nvPr/>
        </p:nvSpPr>
        <p:spPr>
          <a:xfrm>
            <a:off x="640080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matching — blind over the sea</a:t>
            </a:r>
            <a:endParaRPr lang="en-US" sz="1200" dirty="0"/>
          </a:p>
        </p:txBody>
      </p:sp>
      <p:sp>
        <p:nvSpPr>
          <p:cNvPr id="21" name="stat card 38 m"/>
          <p:cNvSpPr/>
          <p:nvPr/>
        </p:nvSpPr>
        <p:spPr>
          <a:xfrm>
            <a:off x="9052560" y="4149566"/>
            <a:ext cx="2606040" cy="1051560"/>
          </a:xfrm>
          <a:prstGeom prst="roundRect">
            <a:avLst>
              <a:gd name="adj" fmla="val 8696"/>
            </a:avLst>
          </a:prstGeom>
          <a:solidFill>
            <a:schemeClr val="tx2"/>
          </a:solidFill>
          <a:ln w="12700">
            <a:solidFill>
              <a:schemeClr val="tx2"/>
            </a:solidFill>
            <a:prstDash val="solid"/>
          </a:ln>
        </p:spPr>
      </p:sp>
      <p:sp>
        <p:nvSpPr>
          <p:cNvPr id="22" name="stat value 38 m"/>
          <p:cNvSpPr txBox="1"/>
          <p:nvPr/>
        </p:nvSpPr>
        <p:spPr>
          <a:xfrm>
            <a:off x="9189720" y="4222718"/>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38 m</a:t>
            </a:r>
            <a:endParaRPr lang="en-US" sz="2400" dirty="0"/>
          </a:p>
        </p:txBody>
      </p:sp>
      <p:sp>
        <p:nvSpPr>
          <p:cNvPr id="23" name="stat label 38 m"/>
          <p:cNvSpPr txBox="1"/>
          <p:nvPr/>
        </p:nvSpPr>
        <p:spPr>
          <a:xfrm>
            <a:off x="9189720" y="4819364"/>
            <a:ext cx="2331720" cy="310896"/>
          </a:xfrm>
          <a:prstGeom prst="rect">
            <a:avLst/>
          </a:prstGeom>
          <a:noFill/>
          <a:ln/>
        </p:spPr>
        <p:txBody>
          <a:bodyPr wrap="square" lIns="0" tIns="0" rIns="0" bIns="0" rtlCol="0" anchor="t"/>
          <a:lstStyle/>
          <a:p>
            <a:pPr indent="0" marL="0">
              <a:buNone/>
            </a:pPr>
            <a:r>
              <a:rPr lang="en-US" sz="1200" dirty="0">
                <a:solidFill>
                  <a:schemeClr val="bg2"/>
                </a:solidFill>
              </a:rPr>
              <a:t>terrain + MagNav (typical, 20 km)</a:t>
            </a:r>
            <a:endParaRPr lang="en-US" sz="1200" dirty="0"/>
          </a:p>
        </p:txBody>
      </p:sp>
      <p:sp>
        <p:nvSpPr>
          <p:cNvPr id="24" name="caption"/>
          <p:cNvSpPr txBox="1"/>
          <p:nvPr/>
        </p:nvSpPr>
        <p:spPr>
          <a:xfrm>
            <a:off x="6263640" y="5292566"/>
            <a:ext cx="5394960" cy="320040"/>
          </a:xfrm>
          <a:prstGeom prst="rect">
            <a:avLst/>
          </a:prstGeom>
          <a:noFill/>
          <a:ln/>
        </p:spPr>
        <p:txBody>
          <a:bodyPr wrap="square" lIns="0" tIns="0" rIns="0" bIns="0" rtlCol="0" anchor="t"/>
          <a:lstStyle/>
          <a:p>
            <a:pPr indent="0" marL="0">
              <a:buNone/>
            </a:pPr>
            <a:r>
              <a:rPr lang="en-US" sz="1100" i="1" dirty="0">
                <a:solidFill>
                  <a:schemeClr val="accent5"/>
                </a:solidFill>
              </a:rPr>
              <a:t>It only listens — nothing to jam or spoof. Works over the Baltic, at night, in snow.</a:t>
            </a:r>
            <a:endParaRPr lang="en-US" sz="11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Live: 3 real PX4 autopilots fly the mission in Gazebo</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Animated time-lapse of the live PX4 mission in Gazebo frame"/>
          <p:cNvSpPr/>
          <p:nvPr/>
        </p:nvSpPr>
        <p:spPr>
          <a:xfrm>
            <a:off x="530352" y="1307592"/>
            <a:ext cx="5020056" cy="3445431"/>
          </a:xfrm>
          <a:prstGeom prst="roundRect">
            <a:avLst>
              <a:gd name="adj" fmla="val 2123"/>
            </a:avLst>
          </a:prstGeom>
          <a:solidFill>
            <a:schemeClr val="bg1"/>
          </a:solidFill>
          <a:ln w="12700">
            <a:solidFill>
              <a:schemeClr val="bg1"/>
            </a:solidFill>
            <a:prstDash val="solid"/>
          </a:ln>
        </p:spPr>
      </p:sp>
      <p:pic>
        <p:nvPicPr>
          <p:cNvPr id="6" name="Animated time-lapse of the live PX4 mission in Gazebo" descr="Animated time-lapse of the live PX4 mission in Gazebo">    </p:cNvPr>
          <p:cNvPicPr>
            <a:picLocks noChangeAspect="1"/>
          </p:cNvPicPr>
          <p:nvPr/>
        </p:nvPicPr>
        <p:blipFill>
          <a:blip r:embed="rId1"/>
          <a:stretch>
            <a:fillRect/>
          </a:stretch>
        </p:blipFill>
        <p:spPr>
          <a:xfrm>
            <a:off x="594360" y="1371600"/>
            <a:ext cx="4892040" cy="3317415"/>
          </a:xfrm>
          <a:prstGeom prst="rect">
            <a:avLst/>
          </a:prstGeom>
        </p:spPr>
      </p:pic>
      <p:sp>
        <p:nvSpPr>
          <p:cNvPr id="7" name="caption"/>
          <p:cNvSpPr txBox="1"/>
          <p:nvPr/>
        </p:nvSpPr>
        <p:spPr>
          <a:xfrm>
            <a:off x="548640" y="4798743"/>
            <a:ext cx="5349240" cy="320040"/>
          </a:xfrm>
          <a:prstGeom prst="rect">
            <a:avLst/>
          </a:prstGeom>
          <a:noFill/>
          <a:ln/>
        </p:spPr>
        <p:txBody>
          <a:bodyPr wrap="square" lIns="0" tIns="0" rIns="0" bIns="0" rtlCol="0" anchor="t"/>
          <a:lstStyle/>
          <a:p>
            <a:pPr indent="0" marL="0">
              <a:buNone/>
            </a:pPr>
            <a:r>
              <a:rPr lang="en-US" sz="1100" i="1" dirty="0">
                <a:solidFill>
                  <a:schemeClr val="accent5"/>
                </a:solidFill>
              </a:rPr>
              <a:t>Recorded live from Gazebo (time-lapse). Sharper video: media/gazebo_mission.mp4</a:t>
            </a:r>
            <a:endParaRPr lang="en-US" sz="1100" dirty="0"/>
          </a:p>
        </p:txBody>
      </p:sp>
      <p:sp>
        <p:nvSpPr>
          <p:cNvPr id="8" name="Mission app after a live run frame"/>
          <p:cNvSpPr/>
          <p:nvPr/>
        </p:nvSpPr>
        <p:spPr>
          <a:xfrm>
            <a:off x="5833872" y="1307592"/>
            <a:ext cx="5843016" cy="3593887"/>
          </a:xfrm>
          <a:prstGeom prst="roundRect">
            <a:avLst>
              <a:gd name="adj" fmla="val 2035"/>
            </a:avLst>
          </a:prstGeom>
          <a:solidFill>
            <a:schemeClr val="bg1"/>
          </a:solidFill>
          <a:ln w="12700">
            <a:solidFill>
              <a:schemeClr val="bg1"/>
            </a:solidFill>
            <a:prstDash val="solid"/>
          </a:ln>
        </p:spPr>
      </p:sp>
      <p:pic>
        <p:nvPicPr>
          <p:cNvPr id="9" name="Mission app after a live run" descr="Mission app after a live run">    </p:cNvPr>
          <p:cNvPicPr>
            <a:picLocks noChangeAspect="1"/>
          </p:cNvPicPr>
          <p:nvPr/>
        </p:nvPicPr>
        <p:blipFill>
          <a:blip r:embed="rId2"/>
          <a:stretch>
            <a:fillRect/>
          </a:stretch>
        </p:blipFill>
        <p:spPr>
          <a:xfrm>
            <a:off x="5897880" y="1371600"/>
            <a:ext cx="5715000" cy="3465871"/>
          </a:xfrm>
          <a:prstGeom prst="rect">
            <a:avLst/>
          </a:prstGeom>
        </p:spPr>
      </p:pic>
      <p:sp>
        <p:nvSpPr>
          <p:cNvPr id="10" name="caption"/>
          <p:cNvSpPr txBox="1"/>
          <p:nvPr/>
        </p:nvSpPr>
        <p:spPr>
          <a:xfrm>
            <a:off x="5852160" y="4947199"/>
            <a:ext cx="5806440" cy="320040"/>
          </a:xfrm>
          <a:prstGeom prst="rect">
            <a:avLst/>
          </a:prstGeom>
          <a:noFill/>
          <a:ln/>
        </p:spPr>
        <p:txBody>
          <a:bodyPr wrap="square" lIns="0" tIns="0" rIns="0" bIns="0" rtlCol="0" anchor="t"/>
          <a:lstStyle/>
          <a:p>
            <a:pPr indent="0" marL="0">
              <a:buNone/>
            </a:pPr>
            <a:r>
              <a:rPr lang="en-US" sz="1100" i="1" dirty="0">
                <a:solidFill>
                  <a:schemeClr val="accent5"/>
                </a:solidFill>
              </a:rPr>
              <a:t>Our mission app: every drone's position, GPS state and the shared danger zone</a:t>
            </a:r>
            <a:endParaRPr lang="en-US" sz="1100" dirty="0"/>
          </a:p>
        </p:txBody>
      </p:sp>
      <p:sp>
        <p:nvSpPr>
          <p:cNvPr id="11" name="stat card 1 / 3"/>
          <p:cNvSpPr/>
          <p:nvPr/>
        </p:nvSpPr>
        <p:spPr>
          <a:xfrm>
            <a:off x="548640" y="5166360"/>
            <a:ext cx="2743200" cy="1051560"/>
          </a:xfrm>
          <a:prstGeom prst="roundRect">
            <a:avLst>
              <a:gd name="adj" fmla="val 8696"/>
            </a:avLst>
          </a:prstGeom>
          <a:solidFill>
            <a:schemeClr val="tx2"/>
          </a:solidFill>
          <a:ln w="12700">
            <a:solidFill>
              <a:schemeClr val="tx2"/>
            </a:solidFill>
            <a:prstDash val="solid"/>
          </a:ln>
        </p:spPr>
      </p:sp>
      <p:sp>
        <p:nvSpPr>
          <p:cNvPr id="12" name="stat value 1 / 3"/>
          <p:cNvSpPr txBox="1"/>
          <p:nvPr/>
        </p:nvSpPr>
        <p:spPr>
          <a:xfrm>
            <a:off x="68580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6"/>
                </a:solidFill>
              </a:rPr>
              <a:t>1 / 3</a:t>
            </a:r>
            <a:endParaRPr lang="en-US" sz="2400" dirty="0"/>
          </a:p>
        </p:txBody>
      </p:sp>
      <p:sp>
        <p:nvSpPr>
          <p:cNvPr id="13" name="stat label 1 / 3"/>
          <p:cNvSpPr txBox="1"/>
          <p:nvPr/>
        </p:nvSpPr>
        <p:spPr>
          <a:xfrm>
            <a:off x="68580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drones ever jammed (the scout)</a:t>
            </a:r>
            <a:endParaRPr lang="en-US" sz="1200" dirty="0"/>
          </a:p>
        </p:txBody>
      </p:sp>
      <p:sp>
        <p:nvSpPr>
          <p:cNvPr id="14" name="stat card 3 / 3"/>
          <p:cNvSpPr/>
          <p:nvPr/>
        </p:nvSpPr>
        <p:spPr>
          <a:xfrm>
            <a:off x="3429000" y="5166360"/>
            <a:ext cx="2743200" cy="1051560"/>
          </a:xfrm>
          <a:prstGeom prst="roundRect">
            <a:avLst>
              <a:gd name="adj" fmla="val 8696"/>
            </a:avLst>
          </a:prstGeom>
          <a:solidFill>
            <a:schemeClr val="tx2"/>
          </a:solidFill>
          <a:ln w="12700">
            <a:solidFill>
              <a:schemeClr val="tx2"/>
            </a:solidFill>
            <a:prstDash val="solid"/>
          </a:ln>
        </p:spPr>
      </p:sp>
      <p:sp>
        <p:nvSpPr>
          <p:cNvPr id="15" name="stat value 3 / 3"/>
          <p:cNvSpPr txBox="1"/>
          <p:nvPr/>
        </p:nvSpPr>
        <p:spPr>
          <a:xfrm>
            <a:off x="3566160" y="5239512"/>
            <a:ext cx="246888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3 / 3</a:t>
            </a:r>
            <a:endParaRPr lang="en-US" sz="2400" dirty="0"/>
          </a:p>
        </p:txBody>
      </p:sp>
      <p:sp>
        <p:nvSpPr>
          <p:cNvPr id="16" name="stat label 3 / 3"/>
          <p:cNvSpPr txBox="1"/>
          <p:nvPr/>
        </p:nvSpPr>
        <p:spPr>
          <a:xfrm>
            <a:off x="3566160" y="5836158"/>
            <a:ext cx="2468880" cy="310896"/>
          </a:xfrm>
          <a:prstGeom prst="rect">
            <a:avLst/>
          </a:prstGeom>
          <a:noFill/>
          <a:ln/>
        </p:spPr>
        <p:txBody>
          <a:bodyPr wrap="square" lIns="0" tIns="0" rIns="0" bIns="0" rtlCol="0" anchor="t"/>
          <a:lstStyle/>
          <a:p>
            <a:pPr indent="0" marL="0">
              <a:buNone/>
            </a:pPr>
            <a:r>
              <a:rPr lang="en-US" sz="1200" dirty="0">
                <a:solidFill>
                  <a:schemeClr val="bg2"/>
                </a:solidFill>
              </a:rPr>
              <a:t>on station at the target</a:t>
            </a:r>
            <a:endParaRPr lang="en-US" sz="1200" dirty="0"/>
          </a:p>
        </p:txBody>
      </p:sp>
      <p:sp>
        <p:nvSpPr>
          <p:cNvPr id="17" name="stat card 33–38 m"/>
          <p:cNvSpPr/>
          <p:nvPr/>
        </p:nvSpPr>
        <p:spPr>
          <a:xfrm>
            <a:off x="6263640" y="5166360"/>
            <a:ext cx="2606040" cy="1051560"/>
          </a:xfrm>
          <a:prstGeom prst="roundRect">
            <a:avLst>
              <a:gd name="adj" fmla="val 8696"/>
            </a:avLst>
          </a:prstGeom>
          <a:solidFill>
            <a:schemeClr val="tx2"/>
          </a:solidFill>
          <a:ln w="12700">
            <a:solidFill>
              <a:schemeClr val="tx2"/>
            </a:solidFill>
            <a:prstDash val="solid"/>
          </a:ln>
        </p:spPr>
      </p:sp>
      <p:sp>
        <p:nvSpPr>
          <p:cNvPr id="18" name="stat value 33–38 m"/>
          <p:cNvSpPr txBox="1"/>
          <p:nvPr/>
        </p:nvSpPr>
        <p:spPr>
          <a:xfrm>
            <a:off x="6400800" y="5239512"/>
            <a:ext cx="2331720" cy="578358"/>
          </a:xfrm>
          <a:prstGeom prst="rect">
            <a:avLst/>
          </a:prstGeom>
          <a:noFill/>
          <a:ln/>
        </p:spPr>
        <p:txBody>
          <a:bodyPr wrap="square" lIns="0" tIns="0" rIns="0" bIns="0" rtlCol="0" anchor="b">
            <a:normAutofit/>
          </a:bodyPr>
          <a:lstStyle/>
          <a:p>
            <a:pPr indent="0" marL="0">
              <a:buNone/>
            </a:pPr>
            <a:r>
              <a:rPr lang="en-US" sz="2400" b="1" dirty="0">
                <a:solidFill>
                  <a:schemeClr val="accent4"/>
                </a:solidFill>
              </a:rPr>
              <a:t>33–38 m</a:t>
            </a:r>
            <a:endParaRPr lang="en-US" sz="2400" dirty="0"/>
          </a:p>
        </p:txBody>
      </p:sp>
      <p:sp>
        <p:nvSpPr>
          <p:cNvPr id="19" name="stat label 33–38 m"/>
          <p:cNvSpPr txBox="1"/>
          <p:nvPr/>
        </p:nvSpPr>
        <p:spPr>
          <a:xfrm>
            <a:off x="6400800" y="5836158"/>
            <a:ext cx="2331720" cy="310896"/>
          </a:xfrm>
          <a:prstGeom prst="rect">
            <a:avLst/>
          </a:prstGeom>
          <a:noFill/>
          <a:ln/>
        </p:spPr>
        <p:txBody>
          <a:bodyPr wrap="square" lIns="0" tIns="0" rIns="0" bIns="0" rtlCol="0" anchor="t"/>
          <a:lstStyle/>
          <a:p>
            <a:pPr indent="0" marL="0">
              <a:buNone/>
            </a:pPr>
            <a:r>
              <a:rPr lang="en-US" sz="1200" dirty="0">
                <a:solidFill>
                  <a:schemeClr val="bg2"/>
                </a:solidFill>
              </a:rPr>
              <a:t>stand-off, never inside the building</a:t>
            </a:r>
            <a:endParaRPr lang="en-US" sz="1200" dirty="0"/>
          </a:p>
        </p:txBody>
      </p:sp>
      <p:sp>
        <p:nvSpPr>
          <p:cNvPr id="20" name="stat card 2 / 2"/>
          <p:cNvSpPr/>
          <p:nvPr/>
        </p:nvSpPr>
        <p:spPr>
          <a:xfrm>
            <a:off x="9006840" y="5166360"/>
            <a:ext cx="2651760" cy="1051560"/>
          </a:xfrm>
          <a:prstGeom prst="roundRect">
            <a:avLst>
              <a:gd name="adj" fmla="val 8696"/>
            </a:avLst>
          </a:prstGeom>
          <a:solidFill>
            <a:schemeClr val="tx2"/>
          </a:solidFill>
          <a:ln w="12700">
            <a:solidFill>
              <a:schemeClr val="tx2"/>
            </a:solidFill>
            <a:prstDash val="solid"/>
          </a:ln>
        </p:spPr>
      </p:sp>
      <p:sp>
        <p:nvSpPr>
          <p:cNvPr id="21" name="stat value 2 / 2"/>
          <p:cNvSpPr txBox="1"/>
          <p:nvPr/>
        </p:nvSpPr>
        <p:spPr>
          <a:xfrm>
            <a:off x="9144000" y="5239512"/>
            <a:ext cx="2377440" cy="578358"/>
          </a:xfrm>
          <a:prstGeom prst="rect">
            <a:avLst/>
          </a:prstGeom>
          <a:noFill/>
          <a:ln/>
        </p:spPr>
        <p:txBody>
          <a:bodyPr wrap="square" lIns="0" tIns="0" rIns="0" bIns="0" rtlCol="0" anchor="b">
            <a:normAutofit/>
          </a:bodyPr>
          <a:lstStyle/>
          <a:p>
            <a:pPr indent="0" marL="0">
              <a:buNone/>
            </a:pPr>
            <a:r>
              <a:rPr lang="en-US" sz="2400" b="1" dirty="0">
                <a:solidFill>
                  <a:schemeClr val="accent2"/>
                </a:solidFill>
              </a:rPr>
              <a:t>2 / 2</a:t>
            </a:r>
            <a:endParaRPr lang="en-US" sz="2400" dirty="0"/>
          </a:p>
        </p:txBody>
      </p:sp>
      <p:sp>
        <p:nvSpPr>
          <p:cNvPr id="22" name="stat label 2 / 2"/>
          <p:cNvSpPr txBox="1"/>
          <p:nvPr/>
        </p:nvSpPr>
        <p:spPr>
          <a:xfrm>
            <a:off x="9144000" y="5836158"/>
            <a:ext cx="2377440" cy="310896"/>
          </a:xfrm>
          <a:prstGeom prst="rect">
            <a:avLst/>
          </a:prstGeom>
          <a:noFill/>
          <a:ln/>
        </p:spPr>
        <p:txBody>
          <a:bodyPr wrap="square" lIns="0" tIns="0" rIns="0" bIns="0" rtlCol="0" anchor="t"/>
          <a:lstStyle/>
          <a:p>
            <a:pPr indent="0" marL="0">
              <a:buNone/>
            </a:pPr>
            <a:r>
              <a:rPr lang="en-US" sz="1200" dirty="0">
                <a:solidFill>
                  <a:schemeClr val="bg2"/>
                </a:solidFill>
              </a:rPr>
              <a:t>full live runs succeeded after fixes</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We attacked our own system: fake warnings</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INNOVATION</a:t>
            </a:r>
            <a:endParaRPr lang="en-US" sz="1100" dirty="0"/>
          </a:p>
        </p:txBody>
      </p:sp>
      <p:sp>
        <p:nvSpPr>
          <p:cNvPr id="5" name="Fake-report attack and defence frame"/>
          <p:cNvSpPr/>
          <p:nvPr/>
        </p:nvSpPr>
        <p:spPr>
          <a:xfrm>
            <a:off x="530352" y="1353312"/>
            <a:ext cx="8129016" cy="2947416"/>
          </a:xfrm>
          <a:prstGeom prst="roundRect">
            <a:avLst>
              <a:gd name="adj" fmla="val 2482"/>
            </a:avLst>
          </a:prstGeom>
          <a:solidFill>
            <a:schemeClr val="bg1"/>
          </a:solidFill>
          <a:ln w="12700">
            <a:solidFill>
              <a:schemeClr val="bg1"/>
            </a:solidFill>
            <a:prstDash val="solid"/>
          </a:ln>
        </p:spPr>
      </p:sp>
      <p:pic>
        <p:nvPicPr>
          <p:cNvPr id="6" name="Fake-report attack and defence" descr="Fake-report attack and defence">    </p:cNvPr>
          <p:cNvPicPr>
            <a:picLocks noChangeAspect="1"/>
          </p:cNvPicPr>
          <p:nvPr/>
        </p:nvPicPr>
        <p:blipFill>
          <a:blip r:embed="rId1"/>
          <a:stretch>
            <a:fillRect/>
          </a:stretch>
        </p:blipFill>
        <p:spPr>
          <a:xfrm>
            <a:off x="594360" y="1417320"/>
            <a:ext cx="8001000" cy="2819400"/>
          </a:xfrm>
          <a:prstGeom prst="rect">
            <a:avLst/>
          </a:prstGeom>
        </p:spPr>
      </p:pic>
      <p:sp>
        <p:nvSpPr>
          <p:cNvPr id="7" name="Text 4"/>
          <p:cNvSpPr txBox="1"/>
          <p:nvPr/>
        </p:nvSpPr>
        <p:spPr>
          <a:xfrm>
            <a:off x="548640" y="4556760"/>
            <a:ext cx="8046720" cy="914400"/>
          </a:xfrm>
          <a:prstGeom prst="rect">
            <a:avLst/>
          </a:prstGeom>
          <a:noFill/>
          <a:ln/>
        </p:spPr>
        <p:txBody>
          <a:bodyPr wrap="square" lIns="0" tIns="0" rIns="0" bIns="0" rtlCol="0" anchor="t"/>
          <a:lstStyle/>
          <a:p>
            <a:pPr indent="0" marL="0">
              <a:buNone/>
            </a:pPr>
            <a:r>
              <a:rPr lang="en-US" sz="2200" b="1" i="1" dirty="0">
                <a:solidFill>
                  <a:schemeClr val="accent1"/>
                </a:solidFill>
              </a:rPr>
              <a:t>“A warning is cheap to believe.</a:t>
            </a:r>
            <a:endParaRPr lang="en-US" sz="2200" dirty="0"/>
          </a:p>
          <a:p>
            <a:pPr indent="0" marL="0">
              <a:buNone/>
            </a:pPr>
            <a:r>
              <a:rPr lang="en-US" sz="2200" b="1" i="1" dirty="0">
                <a:solidFill>
                  <a:schemeClr val="accent1"/>
                </a:solidFill>
              </a:rPr>
              <a:t>An all-clear must be proven.”</a:t>
            </a:r>
            <a:endParaRPr lang="en-US" sz="2200" dirty="0"/>
          </a:p>
        </p:txBody>
      </p:sp>
      <p:sp>
        <p:nvSpPr>
          <p:cNvPr id="8" name="Text 5"/>
          <p:cNvSpPr txBox="1"/>
          <p:nvPr/>
        </p:nvSpPr>
        <p:spPr>
          <a:xfrm>
            <a:off x="548640" y="5516880"/>
            <a:ext cx="8046720" cy="411480"/>
          </a:xfrm>
          <a:prstGeom prst="rect">
            <a:avLst/>
          </a:prstGeom>
          <a:noFill/>
          <a:ln/>
        </p:spPr>
        <p:txBody>
          <a:bodyPr wrap="square" lIns="0" tIns="0" rIns="0" bIns="0" rtlCol="0" anchor="ctr"/>
          <a:lstStyle/>
          <a:p>
            <a:pPr indent="0" marL="0">
              <a:buNone/>
            </a:pPr>
            <a:r>
              <a:rPr lang="en-US" sz="1300" dirty="0">
                <a:solidFill>
                  <a:schemeClr val="bg2"/>
                </a:solidFill>
              </a:rPr>
              <a:t>Share measurements, never commands · check every report against physics and real GPS-loss evidence</a:t>
            </a:r>
            <a:endParaRPr lang="en-US" sz="1300" dirty="0"/>
          </a:p>
        </p:txBody>
      </p:sp>
      <p:sp>
        <p:nvSpPr>
          <p:cNvPr id="9" name="stat card 9 → 1"/>
          <p:cNvSpPr/>
          <p:nvPr/>
        </p:nvSpPr>
        <p:spPr>
          <a:xfrm>
            <a:off x="9006840" y="1417320"/>
            <a:ext cx="2651760" cy="1143000"/>
          </a:xfrm>
          <a:prstGeom prst="roundRect">
            <a:avLst>
              <a:gd name="adj" fmla="val 8000"/>
            </a:avLst>
          </a:prstGeom>
          <a:solidFill>
            <a:schemeClr val="tx2"/>
          </a:solidFill>
          <a:ln w="12700">
            <a:solidFill>
              <a:schemeClr val="tx2"/>
            </a:solidFill>
            <a:prstDash val="solid"/>
          </a:ln>
        </p:spPr>
      </p:sp>
      <p:sp>
        <p:nvSpPr>
          <p:cNvPr id="10" name="stat value 9 → 1"/>
          <p:cNvSpPr txBox="1"/>
          <p:nvPr/>
        </p:nvSpPr>
        <p:spPr>
          <a:xfrm>
            <a:off x="9144000" y="149047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9 → 1</a:t>
            </a:r>
            <a:endParaRPr lang="en-US" sz="2800" dirty="0"/>
          </a:p>
        </p:txBody>
      </p:sp>
      <p:sp>
        <p:nvSpPr>
          <p:cNvPr id="11" name="stat label 9 → 1"/>
          <p:cNvSpPr txBox="1"/>
          <p:nvPr/>
        </p:nvSpPr>
        <p:spPr>
          <a:xfrm>
            <a:off x="9144000" y="2137410"/>
            <a:ext cx="2377440" cy="347472"/>
          </a:xfrm>
          <a:prstGeom prst="rect">
            <a:avLst/>
          </a:prstGeom>
          <a:noFill/>
          <a:ln/>
        </p:spPr>
        <p:txBody>
          <a:bodyPr wrap="square" lIns="0" tIns="0" rIns="0" bIns="0" rtlCol="0" anchor="t"/>
          <a:lstStyle/>
          <a:p>
            <a:pPr indent="0" marL="0">
              <a:buNone/>
            </a:pPr>
            <a:r>
              <a:rPr lang="en-US" sz="1200" dirty="0">
                <a:solidFill>
                  <a:schemeClr val="bg2"/>
                </a:solidFill>
              </a:rPr>
              <a:t>drones lured into the jammer: no defence vs ours (6 runs)</a:t>
            </a:r>
            <a:endParaRPr lang="en-US" sz="1200" dirty="0"/>
          </a:p>
        </p:txBody>
      </p:sp>
      <p:sp>
        <p:nvSpPr>
          <p:cNvPr id="12" name="stat card 6 / 6"/>
          <p:cNvSpPr/>
          <p:nvPr/>
        </p:nvSpPr>
        <p:spPr>
          <a:xfrm>
            <a:off x="9006840" y="2743200"/>
            <a:ext cx="2651760" cy="1143000"/>
          </a:xfrm>
          <a:prstGeom prst="roundRect">
            <a:avLst>
              <a:gd name="adj" fmla="val 8000"/>
            </a:avLst>
          </a:prstGeom>
          <a:solidFill>
            <a:schemeClr val="tx2"/>
          </a:solidFill>
          <a:ln w="12700">
            <a:solidFill>
              <a:schemeClr val="tx2"/>
            </a:solidFill>
            <a:prstDash val="solid"/>
          </a:ln>
        </p:spPr>
      </p:sp>
      <p:sp>
        <p:nvSpPr>
          <p:cNvPr id="13" name="stat value 6 / 6"/>
          <p:cNvSpPr txBox="1"/>
          <p:nvPr/>
        </p:nvSpPr>
        <p:spPr>
          <a:xfrm>
            <a:off x="9144000" y="281635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6 / 6</a:t>
            </a:r>
            <a:endParaRPr lang="en-US" sz="2800" dirty="0"/>
          </a:p>
        </p:txBody>
      </p:sp>
      <p:sp>
        <p:nvSpPr>
          <p:cNvPr id="14" name="stat label 6 / 6"/>
          <p:cNvSpPr txBox="1"/>
          <p:nvPr/>
        </p:nvSpPr>
        <p:spPr>
          <a:xfrm>
            <a:off x="9144000" y="3463290"/>
            <a:ext cx="2377440" cy="347472"/>
          </a:xfrm>
          <a:prstGeom prst="rect">
            <a:avLst/>
          </a:prstGeom>
          <a:noFill/>
          <a:ln/>
        </p:spPr>
        <p:txBody>
          <a:bodyPr wrap="square" lIns="0" tIns="0" rIns="0" bIns="0" rtlCol="0" anchor="t"/>
          <a:lstStyle/>
          <a:p>
            <a:pPr indent="0" marL="0">
              <a:buNone/>
            </a:pPr>
            <a:r>
              <a:rPr lang="en-US" sz="1200" dirty="0">
                <a:solidFill>
                  <a:schemeClr val="bg2"/>
                </a:solidFill>
              </a:rPr>
              <a:t>times the liar was caught</a:t>
            </a:r>
            <a:endParaRPr lang="en-US" sz="1200" dirty="0"/>
          </a:p>
        </p:txBody>
      </p:sp>
      <p:sp>
        <p:nvSpPr>
          <p:cNvPr id="15" name="stat card 0"/>
          <p:cNvSpPr/>
          <p:nvPr/>
        </p:nvSpPr>
        <p:spPr>
          <a:xfrm>
            <a:off x="9006840" y="4069080"/>
            <a:ext cx="2651760" cy="1143000"/>
          </a:xfrm>
          <a:prstGeom prst="roundRect">
            <a:avLst>
              <a:gd name="adj" fmla="val 8000"/>
            </a:avLst>
          </a:prstGeom>
          <a:solidFill>
            <a:schemeClr val="tx2"/>
          </a:solidFill>
          <a:ln w="12700">
            <a:solidFill>
              <a:schemeClr val="tx2"/>
            </a:solidFill>
            <a:prstDash val="solid"/>
          </a:ln>
        </p:spPr>
      </p:sp>
      <p:sp>
        <p:nvSpPr>
          <p:cNvPr id="16" name="stat value 0"/>
          <p:cNvSpPr txBox="1"/>
          <p:nvPr/>
        </p:nvSpPr>
        <p:spPr>
          <a:xfrm>
            <a:off x="9144000" y="4142232"/>
            <a:ext cx="2377440" cy="628650"/>
          </a:xfrm>
          <a:prstGeom prst="rect">
            <a:avLst/>
          </a:prstGeom>
          <a:noFill/>
          <a:ln/>
        </p:spPr>
        <p:txBody>
          <a:bodyPr wrap="square" lIns="0" tIns="0" rIns="0" bIns="0" rtlCol="0" anchor="b">
            <a:normAutofit/>
          </a:bodyPr>
          <a:lstStyle/>
          <a:p>
            <a:pPr indent="0" marL="0">
              <a:buNone/>
            </a:pPr>
            <a:r>
              <a:rPr lang="en-US" sz="2800" b="1" dirty="0">
                <a:solidFill>
                  <a:schemeClr val="accent2"/>
                </a:solidFill>
              </a:rPr>
              <a:t>0</a:t>
            </a:r>
            <a:endParaRPr lang="en-US" sz="2800" dirty="0"/>
          </a:p>
        </p:txBody>
      </p:sp>
      <p:sp>
        <p:nvSpPr>
          <p:cNvPr id="17" name="stat label 0"/>
          <p:cNvSpPr txBox="1"/>
          <p:nvPr/>
        </p:nvSpPr>
        <p:spPr>
          <a:xfrm>
            <a:off x="9144000" y="4789170"/>
            <a:ext cx="2377440" cy="347472"/>
          </a:xfrm>
          <a:prstGeom prst="rect">
            <a:avLst/>
          </a:prstGeom>
          <a:noFill/>
          <a:ln/>
        </p:spPr>
        <p:txBody>
          <a:bodyPr wrap="square" lIns="0" tIns="0" rIns="0" bIns="0" rtlCol="0" anchor="t"/>
          <a:lstStyle/>
          <a:p>
            <a:pPr indent="0" marL="0">
              <a:buNone/>
            </a:pPr>
            <a:r>
              <a:rPr lang="en-US" sz="1200" dirty="0">
                <a:solidFill>
                  <a:schemeClr val="bg2"/>
                </a:solidFill>
              </a:rPr>
              <a:t>honest drones wrongly rejected</a:t>
            </a:r>
            <a:endParaRPr lang="en-US" sz="12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48 hours of progress — and what's next</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PROGRESS</a:t>
            </a:r>
            <a:endParaRPr lang="en-US" sz="1100" dirty="0"/>
          </a:p>
        </p:txBody>
      </p:sp>
      <p:sp>
        <p:nvSpPr>
          <p:cNvPr id="5" name="stat card 4"/>
          <p:cNvSpPr/>
          <p:nvPr/>
        </p:nvSpPr>
        <p:spPr>
          <a:xfrm>
            <a:off x="548640" y="1371600"/>
            <a:ext cx="1737360" cy="960120"/>
          </a:xfrm>
          <a:prstGeom prst="roundRect">
            <a:avLst>
              <a:gd name="adj" fmla="val 9524"/>
            </a:avLst>
          </a:prstGeom>
          <a:solidFill>
            <a:schemeClr val="tx2"/>
          </a:solidFill>
          <a:ln w="12700">
            <a:solidFill>
              <a:schemeClr val="tx2"/>
            </a:solidFill>
            <a:prstDash val="solid"/>
          </a:ln>
        </p:spPr>
      </p:sp>
      <p:sp>
        <p:nvSpPr>
          <p:cNvPr id="6" name="stat value 4"/>
          <p:cNvSpPr txBox="1"/>
          <p:nvPr/>
        </p:nvSpPr>
        <p:spPr>
          <a:xfrm>
            <a:off x="68580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4</a:t>
            </a:r>
            <a:endParaRPr lang="en-US" sz="2600" dirty="0"/>
          </a:p>
        </p:txBody>
      </p:sp>
      <p:sp>
        <p:nvSpPr>
          <p:cNvPr id="7" name="stat label 4"/>
          <p:cNvSpPr txBox="1"/>
          <p:nvPr/>
        </p:nvSpPr>
        <p:spPr>
          <a:xfrm>
            <a:off x="68580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expert inputs</a:t>
            </a:r>
            <a:endParaRPr lang="en-US" sz="1200" dirty="0"/>
          </a:p>
        </p:txBody>
      </p:sp>
      <p:sp>
        <p:nvSpPr>
          <p:cNvPr id="8" name="stat card 15"/>
          <p:cNvSpPr/>
          <p:nvPr/>
        </p:nvSpPr>
        <p:spPr>
          <a:xfrm>
            <a:off x="2423160" y="1371600"/>
            <a:ext cx="1737360" cy="960120"/>
          </a:xfrm>
          <a:prstGeom prst="roundRect">
            <a:avLst>
              <a:gd name="adj" fmla="val 9524"/>
            </a:avLst>
          </a:prstGeom>
          <a:solidFill>
            <a:schemeClr val="tx2"/>
          </a:solidFill>
          <a:ln w="12700">
            <a:solidFill>
              <a:schemeClr val="tx2"/>
            </a:solidFill>
            <a:prstDash val="solid"/>
          </a:ln>
        </p:spPr>
      </p:sp>
      <p:sp>
        <p:nvSpPr>
          <p:cNvPr id="9" name="stat value 15"/>
          <p:cNvSpPr txBox="1"/>
          <p:nvPr/>
        </p:nvSpPr>
        <p:spPr>
          <a:xfrm>
            <a:off x="256032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15</a:t>
            </a:r>
            <a:endParaRPr lang="en-US" sz="2600" dirty="0"/>
          </a:p>
        </p:txBody>
      </p:sp>
      <p:sp>
        <p:nvSpPr>
          <p:cNvPr id="10" name="stat label 15"/>
          <p:cNvSpPr txBox="1"/>
          <p:nvPr/>
        </p:nvSpPr>
        <p:spPr>
          <a:xfrm>
            <a:off x="256032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logged iterations</a:t>
            </a:r>
            <a:endParaRPr lang="en-US" sz="1200" dirty="0"/>
          </a:p>
        </p:txBody>
      </p:sp>
      <p:sp>
        <p:nvSpPr>
          <p:cNvPr id="11" name="stat card 24"/>
          <p:cNvSpPr/>
          <p:nvPr/>
        </p:nvSpPr>
        <p:spPr>
          <a:xfrm>
            <a:off x="4297680" y="1371600"/>
            <a:ext cx="1737360" cy="960120"/>
          </a:xfrm>
          <a:prstGeom prst="roundRect">
            <a:avLst>
              <a:gd name="adj" fmla="val 9524"/>
            </a:avLst>
          </a:prstGeom>
          <a:solidFill>
            <a:schemeClr val="tx2"/>
          </a:solidFill>
          <a:ln w="12700">
            <a:solidFill>
              <a:schemeClr val="tx2"/>
            </a:solidFill>
            <a:prstDash val="solid"/>
          </a:ln>
        </p:spPr>
      </p:sp>
      <p:sp>
        <p:nvSpPr>
          <p:cNvPr id="12" name="stat value 24"/>
          <p:cNvSpPr txBox="1"/>
          <p:nvPr/>
        </p:nvSpPr>
        <p:spPr>
          <a:xfrm>
            <a:off x="4434840" y="1444752"/>
            <a:ext cx="1463040" cy="528066"/>
          </a:xfrm>
          <a:prstGeom prst="rect">
            <a:avLst/>
          </a:prstGeom>
          <a:noFill/>
          <a:ln/>
        </p:spPr>
        <p:txBody>
          <a:bodyPr wrap="square" lIns="0" tIns="0" rIns="0" bIns="0" rtlCol="0" anchor="b">
            <a:normAutofit/>
          </a:bodyPr>
          <a:lstStyle/>
          <a:p>
            <a:pPr indent="0" marL="0">
              <a:buNone/>
            </a:pPr>
            <a:r>
              <a:rPr lang="en-US" sz="2600" b="1" dirty="0">
                <a:solidFill>
                  <a:schemeClr val="accent1"/>
                </a:solidFill>
              </a:rPr>
              <a:t>24</a:t>
            </a:r>
            <a:endParaRPr lang="en-US" sz="2600" dirty="0"/>
          </a:p>
        </p:txBody>
      </p:sp>
      <p:sp>
        <p:nvSpPr>
          <p:cNvPr id="13" name="stat label 24"/>
          <p:cNvSpPr txBox="1"/>
          <p:nvPr/>
        </p:nvSpPr>
        <p:spPr>
          <a:xfrm>
            <a:off x="4434840" y="1991106"/>
            <a:ext cx="1463040" cy="274320"/>
          </a:xfrm>
          <a:prstGeom prst="rect">
            <a:avLst/>
          </a:prstGeom>
          <a:noFill/>
          <a:ln/>
        </p:spPr>
        <p:txBody>
          <a:bodyPr wrap="square" lIns="0" tIns="0" rIns="0" bIns="0" rtlCol="0" anchor="t"/>
          <a:lstStyle/>
          <a:p>
            <a:pPr indent="0" marL="0">
              <a:buNone/>
            </a:pPr>
            <a:r>
              <a:rPr lang="en-US" sz="1200" dirty="0">
                <a:solidFill>
                  <a:schemeClr val="bg2"/>
                </a:solidFill>
              </a:rPr>
              <a:t>commits on GitHub</a:t>
            </a:r>
            <a:endParaRPr lang="en-US" sz="1200" dirty="0"/>
          </a:p>
        </p:txBody>
      </p:sp>
      <p:sp>
        <p:nvSpPr>
          <p:cNvPr id="14" name="Text 12"/>
          <p:cNvSpPr txBox="1"/>
          <p:nvPr/>
        </p:nvSpPr>
        <p:spPr>
          <a:xfrm>
            <a:off x="548640" y="2560320"/>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2"/>
                </a:solidFill>
              </a:rPr>
              <a:t>Thu: Air Force interview → tested real PX4 → spoof detector on real flight data</a:t>
            </a:r>
            <a:endParaRPr lang="en-US" sz="1400" dirty="0"/>
          </a:p>
          <a:p>
            <a:pPr marL="342900" indent="-342900">
              <a:spcAft>
                <a:spcPts val="600"/>
              </a:spcAft>
              <a:buSzPct val="100000"/>
              <a:buChar char="•"/>
            </a:pPr>
            <a:r>
              <a:rPr lang="en-US" sz="1400" dirty="0">
                <a:solidFill>
                  <a:schemeClr val="bg2"/>
                </a:solidFill>
              </a:rPr>
              <a:t>Fri: live demo, navigation in snow, jammer hunter</a:t>
            </a:r>
            <a:endParaRPr lang="en-US" sz="1400" dirty="0"/>
          </a:p>
          <a:p>
            <a:pPr marL="342900" indent="-342900">
              <a:spcAft>
                <a:spcPts val="600"/>
              </a:spcAft>
              <a:buSzPct val="100000"/>
              <a:buChar char="•"/>
            </a:pPr>
            <a:r>
              <a:rPr lang="en-US" sz="1400" dirty="0">
                <a:solidFill>
                  <a:schemeClr val="bg2"/>
                </a:solidFill>
              </a:rPr>
              <a:t>Fri: military feedback → swarm sharing, AI brain, attack defence</a:t>
            </a:r>
            <a:endParaRPr lang="en-US" sz="1400" dirty="0"/>
          </a:p>
          <a:p>
            <a:pPr marL="342900" indent="-342900">
              <a:spcAft>
                <a:spcPts val="600"/>
              </a:spcAft>
              <a:buSzPct val="100000"/>
              <a:buChar char="•"/>
            </a:pPr>
            <a:r>
              <a:rPr lang="en-US" sz="1400" dirty="0">
                <a:solidFill>
                  <a:schemeClr val="bg2"/>
                </a:solidFill>
              </a:rPr>
              <a:t>Fri night: 3 PX4 drones live at a military base</a:t>
            </a:r>
            <a:endParaRPr lang="en-US" sz="1400" dirty="0"/>
          </a:p>
        </p:txBody>
      </p:sp>
      <p:sp>
        <p:nvSpPr>
          <p:cNvPr id="15" name="honest limits card"/>
          <p:cNvSpPr/>
          <p:nvPr/>
        </p:nvSpPr>
        <p:spPr>
          <a:xfrm>
            <a:off x="548640" y="4983480"/>
            <a:ext cx="5486400" cy="1051560"/>
          </a:xfrm>
          <a:prstGeom prst="roundRect">
            <a:avLst>
              <a:gd name="adj" fmla="val 8696"/>
            </a:avLst>
          </a:prstGeom>
          <a:solidFill>
            <a:schemeClr val="tx2"/>
          </a:solidFill>
          <a:ln w="9525">
            <a:solidFill>
              <a:schemeClr val="accent5"/>
            </a:solidFill>
            <a:prstDash val="solid"/>
          </a:ln>
        </p:spPr>
      </p:sp>
      <p:sp>
        <p:nvSpPr>
          <p:cNvPr id="16" name="Text 14"/>
          <p:cNvSpPr txBox="1"/>
          <p:nvPr/>
        </p:nvSpPr>
        <p:spPr>
          <a:xfrm>
            <a:off x="731520" y="5074920"/>
            <a:ext cx="5120640" cy="868680"/>
          </a:xfrm>
          <a:prstGeom prst="rect">
            <a:avLst/>
          </a:prstGeom>
          <a:noFill/>
          <a:ln/>
        </p:spPr>
        <p:txBody>
          <a:bodyPr wrap="square" lIns="0" tIns="0" rIns="0" bIns="0" rtlCol="0" anchor="t"/>
          <a:lstStyle/>
          <a:p>
            <a:pPr indent="0" marL="0">
              <a:buNone/>
            </a:pPr>
            <a:r>
              <a:rPr lang="en-US" sz="1300" b="1" dirty="0">
                <a:solidFill>
                  <a:schemeClr val="accent6"/>
                </a:solidFill>
              </a:rPr>
              <a:t>Honest limits</a:t>
            </a:r>
            <a:endParaRPr lang="en-US" sz="1300" dirty="0"/>
          </a:p>
          <a:p>
            <a:pPr indent="0" marL="0">
              <a:buNone/>
            </a:pPr>
            <a:r>
              <a:rPr lang="en-US" sz="1300" dirty="0">
                <a:solidFill>
                  <a:schemeClr val="bg2"/>
                </a:solidFill>
              </a:rPr>
              <a:t>Simulation only so far · jammer model is free-space · the swarm assumes its radio link survives · very slow spoofs (&lt; 0.1 m/s) are not caught</a:t>
            </a:r>
            <a:endParaRPr lang="en-US" sz="1300" dirty="0"/>
          </a:p>
        </p:txBody>
      </p:sp>
      <p:sp>
        <p:nvSpPr>
          <p:cNvPr id="17" name="Text 15"/>
          <p:cNvSpPr txBox="1"/>
          <p:nvPr/>
        </p:nvSpPr>
        <p:spPr>
          <a:xfrm>
            <a:off x="6400800" y="1371600"/>
            <a:ext cx="5212080" cy="365760"/>
          </a:xfrm>
          <a:prstGeom prst="rect">
            <a:avLst/>
          </a:prstGeom>
          <a:noFill/>
          <a:ln/>
        </p:spPr>
        <p:txBody>
          <a:bodyPr wrap="square" lIns="0" tIns="0" rIns="0" bIns="0" rtlCol="0" anchor="ctr"/>
          <a:lstStyle/>
          <a:p>
            <a:pPr indent="0" marL="0">
              <a:buNone/>
            </a:pPr>
            <a:r>
              <a:rPr lang="en-US" sz="1400" b="1" spc="200" kern="0" dirty="0">
                <a:solidFill>
                  <a:schemeClr val="accent1"/>
                </a:solidFill>
              </a:rPr>
              <a:t>NEXT</a:t>
            </a:r>
            <a:endParaRPr lang="en-US" sz="1400" dirty="0"/>
          </a:p>
        </p:txBody>
      </p:sp>
      <p:sp>
        <p:nvSpPr>
          <p:cNvPr id="18" name="icon circle Real drones in Terra lab"/>
          <p:cNvSpPr/>
          <p:nvPr/>
        </p:nvSpPr>
        <p:spPr>
          <a:xfrm>
            <a:off x="6400800" y="1874520"/>
            <a:ext cx="548640" cy="548640"/>
          </a:xfrm>
          <a:prstGeom prst="ellipse">
            <a:avLst/>
          </a:prstGeom>
          <a:solidFill>
            <a:schemeClr val="tx2"/>
          </a:solidFill>
          <a:ln w="19050">
            <a:solidFill>
              <a:srgbClr val="F26B1D"/>
            </a:solidFill>
            <a:prstDash val="solid"/>
          </a:ln>
        </p:spPr>
      </p:sp>
      <p:pic>
        <p:nvPicPr>
          <p:cNvPr id="19" name="Image 0" descr="Real drones in Terra lab">    </p:cNvPr>
          <p:cNvPicPr>
            <a:picLocks noChangeAspect="1"/>
          </p:cNvPicPr>
          <p:nvPr/>
        </p:nvPicPr>
        <p:blipFill>
          <a:blip r:embed="rId1"/>
          <a:stretch>
            <a:fillRect/>
          </a:stretch>
        </p:blipFill>
        <p:spPr>
          <a:xfrm>
            <a:off x="6537960" y="2011680"/>
            <a:ext cx="274320" cy="274320"/>
          </a:xfrm>
          <a:prstGeom prst="rect">
            <a:avLst/>
          </a:prstGeom>
        </p:spPr>
      </p:pic>
      <p:sp>
        <p:nvSpPr>
          <p:cNvPr id="20" name="row Real drones in Terra lab"/>
          <p:cNvSpPr txBox="1"/>
          <p:nvPr/>
        </p:nvSpPr>
        <p:spPr>
          <a:xfrm>
            <a:off x="7132320" y="182880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drones in Terra lab</a:t>
            </a:r>
            <a:endParaRPr lang="en-US" sz="1500" dirty="0"/>
          </a:p>
          <a:p>
            <a:pPr indent="0" marL="0">
              <a:buNone/>
            </a:pPr>
            <a:r>
              <a:rPr lang="en-US" sz="1300" dirty="0">
                <a:solidFill>
                  <a:schemeClr val="bg2"/>
                </a:solidFill>
              </a:rPr>
              <a:t>Holybro PX4 drones + Vicon ground truth at LiU</a:t>
            </a:r>
            <a:endParaRPr lang="en-US" sz="1500" dirty="0"/>
          </a:p>
        </p:txBody>
      </p:sp>
      <p:sp>
        <p:nvSpPr>
          <p:cNvPr id="21" name="icon circle Real jamming indicators"/>
          <p:cNvSpPr/>
          <p:nvPr/>
        </p:nvSpPr>
        <p:spPr>
          <a:xfrm>
            <a:off x="6400800" y="2834640"/>
            <a:ext cx="548640" cy="548640"/>
          </a:xfrm>
          <a:prstGeom prst="ellipse">
            <a:avLst/>
          </a:prstGeom>
          <a:solidFill>
            <a:schemeClr val="tx2"/>
          </a:solidFill>
          <a:ln w="19050">
            <a:solidFill>
              <a:srgbClr val="F26B1D"/>
            </a:solidFill>
            <a:prstDash val="solid"/>
          </a:ln>
        </p:spPr>
      </p:sp>
      <p:pic>
        <p:nvPicPr>
          <p:cNvPr id="22" name="Image 1" descr="Real jamming indicators">    </p:cNvPr>
          <p:cNvPicPr>
            <a:picLocks noChangeAspect="1"/>
          </p:cNvPicPr>
          <p:nvPr/>
        </p:nvPicPr>
        <p:blipFill>
          <a:blip r:embed="rId2"/>
          <a:stretch>
            <a:fillRect/>
          </a:stretch>
        </p:blipFill>
        <p:spPr>
          <a:xfrm>
            <a:off x="6537960" y="2971800"/>
            <a:ext cx="274320" cy="274320"/>
          </a:xfrm>
          <a:prstGeom prst="rect">
            <a:avLst/>
          </a:prstGeom>
        </p:spPr>
      </p:pic>
      <p:sp>
        <p:nvSpPr>
          <p:cNvPr id="23" name="row Real jamming indicators"/>
          <p:cNvSpPr txBox="1"/>
          <p:nvPr/>
        </p:nvSpPr>
        <p:spPr>
          <a:xfrm>
            <a:off x="7132320" y="2788920"/>
            <a:ext cx="4526280" cy="868680"/>
          </a:xfrm>
          <a:prstGeom prst="rect">
            <a:avLst/>
          </a:prstGeom>
          <a:noFill/>
          <a:ln/>
        </p:spPr>
        <p:txBody>
          <a:bodyPr wrap="square" lIns="0" tIns="0" rIns="0" bIns="0" rtlCol="0" anchor="t"/>
          <a:lstStyle/>
          <a:p>
            <a:pPr indent="0" marL="0">
              <a:buNone/>
            </a:pPr>
            <a:r>
              <a:rPr lang="en-US" sz="1500" b="1" dirty="0">
                <a:solidFill>
                  <a:schemeClr val="bg1"/>
                </a:solidFill>
              </a:rPr>
              <a:t>Real jamming indicators</a:t>
            </a:r>
            <a:endParaRPr lang="en-US" sz="1500" dirty="0"/>
          </a:p>
          <a:p>
            <a:pPr indent="0" marL="0">
              <a:buNone/>
            </a:pPr>
            <a:r>
              <a:rPr lang="en-US" sz="1300" dirty="0">
                <a:solidFill>
                  <a:schemeClr val="bg2"/>
                </a:solidFill>
              </a:rPr>
              <a:t>u-blox receivers already report interference to PX4</a:t>
            </a:r>
            <a:endParaRPr lang="en-US" sz="1500" dirty="0"/>
          </a:p>
        </p:txBody>
      </p:sp>
      <p:sp>
        <p:nvSpPr>
          <p:cNvPr id="24" name="icon circle AquaGuard Technologies"/>
          <p:cNvSpPr/>
          <p:nvPr/>
        </p:nvSpPr>
        <p:spPr>
          <a:xfrm>
            <a:off x="6400800" y="3794760"/>
            <a:ext cx="548640" cy="548640"/>
          </a:xfrm>
          <a:prstGeom prst="ellipse">
            <a:avLst/>
          </a:prstGeom>
          <a:solidFill>
            <a:schemeClr val="tx2"/>
          </a:solidFill>
          <a:ln w="19050">
            <a:solidFill>
              <a:srgbClr val="F26B1D"/>
            </a:solidFill>
            <a:prstDash val="solid"/>
          </a:ln>
        </p:spPr>
      </p:sp>
      <p:pic>
        <p:nvPicPr>
          <p:cNvPr id="25" name="Image 2" descr="AquaGuard Technologies">    </p:cNvPr>
          <p:cNvPicPr>
            <a:picLocks noChangeAspect="1"/>
          </p:cNvPicPr>
          <p:nvPr/>
        </p:nvPicPr>
        <p:blipFill>
          <a:blip r:embed="rId3"/>
          <a:stretch>
            <a:fillRect/>
          </a:stretch>
        </p:blipFill>
        <p:spPr>
          <a:xfrm>
            <a:off x="6537960" y="3931920"/>
            <a:ext cx="274320" cy="274320"/>
          </a:xfrm>
          <a:prstGeom prst="rect">
            <a:avLst/>
          </a:prstGeom>
        </p:spPr>
      </p:pic>
      <p:sp>
        <p:nvSpPr>
          <p:cNvPr id="26" name="row AquaGuard Technologies"/>
          <p:cNvSpPr txBox="1"/>
          <p:nvPr/>
        </p:nvSpPr>
        <p:spPr>
          <a:xfrm>
            <a:off x="7132320" y="3749040"/>
            <a:ext cx="4526280" cy="868680"/>
          </a:xfrm>
          <a:prstGeom prst="rect">
            <a:avLst/>
          </a:prstGeom>
          <a:noFill/>
          <a:ln/>
        </p:spPr>
        <p:txBody>
          <a:bodyPr wrap="square" lIns="0" tIns="0" rIns="0" bIns="0" rtlCol="0" anchor="t"/>
          <a:lstStyle/>
          <a:p>
            <a:pPr indent="0" marL="0">
              <a:buNone/>
            </a:pPr>
            <a:r>
              <a:rPr lang="en-US" sz="1500" b="1" dirty="0">
                <a:solidFill>
                  <a:schemeClr val="bg1"/>
                </a:solidFill>
              </a:rPr>
              <a:t>AquaGuard Technologies</a:t>
            </a:r>
            <a:endParaRPr lang="en-US" sz="1500" dirty="0"/>
          </a:p>
          <a:p>
            <a:pPr indent="0" marL="0">
              <a:buNone/>
            </a:pPr>
            <a:r>
              <a:rPr lang="en-US" sz="1300" dirty="0">
                <a:solidFill>
                  <a:schemeClr val="bg2"/>
                </a:solidFill>
              </a:rPr>
              <a:t>Satellite/SAR imagery as backup map; our jammer reports as their data feed</a:t>
            </a:r>
            <a:endParaRPr lang="en-US" sz="1500" dirty="0"/>
          </a:p>
        </p:txBody>
      </p:sp>
      <p:sp>
        <p:nvSpPr>
          <p:cNvPr id="27" name="icon circle Operator in the loop"/>
          <p:cNvSpPr/>
          <p:nvPr/>
        </p:nvSpPr>
        <p:spPr>
          <a:xfrm>
            <a:off x="6400800" y="4754880"/>
            <a:ext cx="548640" cy="548640"/>
          </a:xfrm>
          <a:prstGeom prst="ellipse">
            <a:avLst/>
          </a:prstGeom>
          <a:solidFill>
            <a:schemeClr val="tx2"/>
          </a:solidFill>
          <a:ln w="19050">
            <a:solidFill>
              <a:srgbClr val="F26B1D"/>
            </a:solidFill>
            <a:prstDash val="solid"/>
          </a:ln>
        </p:spPr>
      </p:sp>
      <p:pic>
        <p:nvPicPr>
          <p:cNvPr id="28" name="Image 3" descr="Operator in the loop">    </p:cNvPr>
          <p:cNvPicPr>
            <a:picLocks noChangeAspect="1"/>
          </p:cNvPicPr>
          <p:nvPr/>
        </p:nvPicPr>
        <p:blipFill>
          <a:blip r:embed="rId4"/>
          <a:stretch>
            <a:fillRect/>
          </a:stretch>
        </p:blipFill>
        <p:spPr>
          <a:xfrm>
            <a:off x="6537960" y="4892040"/>
            <a:ext cx="274320" cy="274320"/>
          </a:xfrm>
          <a:prstGeom prst="rect">
            <a:avLst/>
          </a:prstGeom>
        </p:spPr>
      </p:pic>
      <p:sp>
        <p:nvSpPr>
          <p:cNvPr id="29" name="row Operator in the loop"/>
          <p:cNvSpPr txBox="1"/>
          <p:nvPr/>
        </p:nvSpPr>
        <p:spPr>
          <a:xfrm>
            <a:off x="7132320" y="4709160"/>
            <a:ext cx="4526280" cy="868680"/>
          </a:xfrm>
          <a:prstGeom prst="rect">
            <a:avLst/>
          </a:prstGeom>
          <a:noFill/>
          <a:ln/>
        </p:spPr>
        <p:txBody>
          <a:bodyPr wrap="square" lIns="0" tIns="0" rIns="0" bIns="0" rtlCol="0" anchor="t"/>
          <a:lstStyle/>
          <a:p>
            <a:pPr indent="0" marL="0">
              <a:buNone/>
            </a:pPr>
            <a:r>
              <a:rPr lang="en-US" sz="1500" b="1" dirty="0">
                <a:solidFill>
                  <a:schemeClr val="bg1"/>
                </a:solidFill>
              </a:rPr>
              <a:t>Operator in the loop</a:t>
            </a:r>
            <a:endParaRPr lang="en-US" sz="1500" dirty="0"/>
          </a:p>
          <a:p>
            <a:pPr indent="0" marL="0">
              <a:buNone/>
            </a:pPr>
            <a:r>
              <a:rPr lang="en-US" sz="1300" dirty="0">
                <a:solidFill>
                  <a:schemeClr val="bg2"/>
                </a:solidFill>
              </a:rPr>
              <a:t>Secure drone-to-drone link, human approval for reroutes</a:t>
            </a:r>
            <a:endParaRPr lang="en-US" sz="15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144000" cy="777240"/>
          </a:xfrm>
          <a:prstGeom prst="rect">
            <a:avLst/>
          </a:prstGeom>
          <a:noFill/>
          <a:ln/>
        </p:spPr>
        <p:txBody>
          <a:bodyPr wrap="square" lIns="0" tIns="0" rIns="0" bIns="0" rtlCol="0" anchor="ctr"/>
          <a:lstStyle/>
          <a:p>
            <a:pPr algn="l" indent="0" marL="0">
              <a:buNone/>
            </a:pPr>
            <a:r>
              <a:rPr lang="en-US" sz="2800" b="1" dirty="0">
                <a:solidFill>
                  <a:schemeClr val="bg1"/>
                </a:solidFill>
              </a:rPr>
              <a:t>Team</a:t>
            </a:r>
            <a:endParaRPr lang="en-US" sz="2800" dirty="0"/>
          </a:p>
        </p:txBody>
      </p:sp>
      <p:sp>
        <p:nvSpPr>
          <p:cNvPr id="3" name="criterion tag"/>
          <p:cNvSpPr/>
          <p:nvPr/>
        </p:nvSpPr>
        <p:spPr>
          <a:xfrm>
            <a:off x="9921240" y="502920"/>
            <a:ext cx="1737360" cy="384048"/>
          </a:xfrm>
          <a:prstGeom prst="roundRect">
            <a:avLst>
              <a:gd name="adj" fmla="val 50000"/>
            </a:avLst>
          </a:prstGeom>
          <a:solidFill>
            <a:schemeClr val="tx2"/>
          </a:solidFill>
          <a:ln w="15875">
            <a:solidFill>
              <a:schemeClr val="accent1"/>
            </a:solidFill>
            <a:prstDash val="solid"/>
          </a:ln>
        </p:spPr>
      </p:sp>
      <p:sp>
        <p:nvSpPr>
          <p:cNvPr id="4" name="criterion tag text"/>
          <p:cNvSpPr txBox="1"/>
          <p:nvPr/>
        </p:nvSpPr>
        <p:spPr>
          <a:xfrm>
            <a:off x="9921240" y="502920"/>
            <a:ext cx="1737360" cy="384048"/>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TEAM</a:t>
            </a:r>
            <a:endParaRPr lang="en-US" sz="1100" dirty="0"/>
          </a:p>
        </p:txBody>
      </p:sp>
      <p:sp>
        <p:nvSpPr>
          <p:cNvPr id="5" name="person card Den"/>
          <p:cNvSpPr/>
          <p:nvPr/>
        </p:nvSpPr>
        <p:spPr>
          <a:xfrm>
            <a:off x="548640" y="1371600"/>
            <a:ext cx="5486400" cy="1737360"/>
          </a:xfrm>
          <a:prstGeom prst="roundRect">
            <a:avLst>
              <a:gd name="adj" fmla="val 6316"/>
            </a:avLst>
          </a:prstGeom>
          <a:solidFill>
            <a:schemeClr val="tx2"/>
          </a:solidFill>
          <a:ln w="12700">
            <a:solidFill>
              <a:schemeClr val="tx2"/>
            </a:solidFill>
            <a:prstDash val="solid"/>
          </a:ln>
        </p:spPr>
      </p:sp>
      <p:sp>
        <p:nvSpPr>
          <p:cNvPr id="6" name="person icon circle Den"/>
          <p:cNvSpPr/>
          <p:nvPr/>
        </p:nvSpPr>
        <p:spPr>
          <a:xfrm>
            <a:off x="822960" y="1691640"/>
            <a:ext cx="1005840" cy="1005840"/>
          </a:xfrm>
          <a:prstGeom prst="ellipse">
            <a:avLst/>
          </a:prstGeom>
          <a:solidFill>
            <a:schemeClr val="accent1"/>
          </a:solidFill>
          <a:ln w="12700">
            <a:solidFill>
              <a:schemeClr val="accent1"/>
            </a:solidFill>
            <a:prstDash val="solid"/>
          </a:ln>
        </p:spPr>
      </p:sp>
      <p:pic>
        <p:nvPicPr>
          <p:cNvPr id="7" name="Image 0" descr="Den">    </p:cNvPr>
          <p:cNvPicPr>
            <a:picLocks noChangeAspect="1"/>
          </p:cNvPicPr>
          <p:nvPr/>
        </p:nvPicPr>
        <p:blipFill>
          <a:blip r:embed="rId1"/>
          <a:stretch>
            <a:fillRect/>
          </a:stretch>
        </p:blipFill>
        <p:spPr>
          <a:xfrm>
            <a:off x="1097280" y="1965960"/>
            <a:ext cx="457200" cy="457200"/>
          </a:xfrm>
          <a:prstGeom prst="rect">
            <a:avLst/>
          </a:prstGeom>
        </p:spPr>
      </p:pic>
      <p:sp>
        <p:nvSpPr>
          <p:cNvPr id="8" name="Text 5"/>
          <p:cNvSpPr txBox="1"/>
          <p:nvPr/>
        </p:nvSpPr>
        <p:spPr>
          <a:xfrm>
            <a:off x="205740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Den</a:t>
            </a:r>
            <a:endParaRPr lang="en-US" sz="2200" dirty="0"/>
          </a:p>
          <a:p>
            <a:pPr indent="0" marL="0">
              <a:buNone/>
            </a:pPr>
            <a:r>
              <a:rPr lang="en-US" sz="1400" dirty="0">
                <a:solidFill>
                  <a:schemeClr val="accent1"/>
                </a:solidFill>
              </a:rPr>
              <a:t>Cyber security student</a:t>
            </a:r>
            <a:endParaRPr lang="en-US" sz="2200" dirty="0"/>
          </a:p>
          <a:p>
            <a:pPr indent="0" marL="0">
              <a:buNone/>
            </a:pPr>
            <a:r>
              <a:rPr lang="en-US" sz="1300" dirty="0">
                <a:solidFill>
                  <a:schemeClr val="bg2"/>
                </a:solidFill>
              </a:rPr>
              <a:t>Detection · swarm sharing · attack defence · live PX4 mission</a:t>
            </a:r>
            <a:endParaRPr lang="en-US" sz="2200" dirty="0"/>
          </a:p>
        </p:txBody>
      </p:sp>
      <p:sp>
        <p:nvSpPr>
          <p:cNvPr id="9" name="person card Guled"/>
          <p:cNvSpPr/>
          <p:nvPr/>
        </p:nvSpPr>
        <p:spPr>
          <a:xfrm>
            <a:off x="6172200" y="1371600"/>
            <a:ext cx="5486400" cy="1737360"/>
          </a:xfrm>
          <a:prstGeom prst="roundRect">
            <a:avLst>
              <a:gd name="adj" fmla="val 6316"/>
            </a:avLst>
          </a:prstGeom>
          <a:solidFill>
            <a:schemeClr val="tx2"/>
          </a:solidFill>
          <a:ln w="12700">
            <a:solidFill>
              <a:schemeClr val="tx2"/>
            </a:solidFill>
            <a:prstDash val="solid"/>
          </a:ln>
        </p:spPr>
      </p:sp>
      <p:sp>
        <p:nvSpPr>
          <p:cNvPr id="10" name="person icon circle Guled"/>
          <p:cNvSpPr/>
          <p:nvPr/>
        </p:nvSpPr>
        <p:spPr>
          <a:xfrm>
            <a:off x="6446520" y="1691640"/>
            <a:ext cx="1005840" cy="1005840"/>
          </a:xfrm>
          <a:prstGeom prst="ellipse">
            <a:avLst/>
          </a:prstGeom>
          <a:solidFill>
            <a:schemeClr val="accent1"/>
          </a:solidFill>
          <a:ln w="12700">
            <a:solidFill>
              <a:schemeClr val="accent1"/>
            </a:solidFill>
            <a:prstDash val="solid"/>
          </a:ln>
        </p:spPr>
      </p:sp>
      <p:pic>
        <p:nvPicPr>
          <p:cNvPr id="11" name="Image 1" descr="Guled">    </p:cNvPr>
          <p:cNvPicPr>
            <a:picLocks noChangeAspect="1"/>
          </p:cNvPicPr>
          <p:nvPr/>
        </p:nvPicPr>
        <p:blipFill>
          <a:blip r:embed="rId2"/>
          <a:stretch>
            <a:fillRect/>
          </a:stretch>
        </p:blipFill>
        <p:spPr>
          <a:xfrm>
            <a:off x="6720840" y="1965960"/>
            <a:ext cx="457200" cy="457200"/>
          </a:xfrm>
          <a:prstGeom prst="rect">
            <a:avLst/>
          </a:prstGeom>
        </p:spPr>
      </p:pic>
      <p:sp>
        <p:nvSpPr>
          <p:cNvPr id="12" name="Text 8"/>
          <p:cNvSpPr txBox="1"/>
          <p:nvPr/>
        </p:nvSpPr>
        <p:spPr>
          <a:xfrm>
            <a:off x="7680960" y="1508760"/>
            <a:ext cx="3794760" cy="1463040"/>
          </a:xfrm>
          <a:prstGeom prst="rect">
            <a:avLst/>
          </a:prstGeom>
          <a:noFill/>
          <a:ln/>
        </p:spPr>
        <p:txBody>
          <a:bodyPr wrap="square" lIns="0" tIns="0" rIns="0" bIns="0" rtlCol="0" anchor="ctr"/>
          <a:lstStyle/>
          <a:p>
            <a:pPr indent="0" marL="0">
              <a:buNone/>
            </a:pPr>
            <a:r>
              <a:rPr lang="en-US" sz="2200" b="1" dirty="0">
                <a:solidFill>
                  <a:schemeClr val="bg1"/>
                </a:solidFill>
              </a:rPr>
              <a:t>Guled</a:t>
            </a:r>
            <a:endParaRPr lang="en-US" sz="2200" dirty="0"/>
          </a:p>
          <a:p>
            <a:pPr indent="0" marL="0">
              <a:buNone/>
            </a:pPr>
            <a:r>
              <a:rPr lang="en-US" sz="1400" dirty="0">
                <a:solidFill>
                  <a:schemeClr val="accent1"/>
                </a:solidFill>
              </a:rPr>
              <a:t>Computer engineering student</a:t>
            </a:r>
            <a:endParaRPr lang="en-US" sz="2200" dirty="0"/>
          </a:p>
          <a:p>
            <a:pPr indent="0" marL="0">
              <a:buNone/>
            </a:pPr>
            <a:r>
              <a:rPr lang="en-US" sz="1300" dirty="0">
                <a:solidFill>
                  <a:schemeClr val="bg2"/>
                </a:solidFill>
              </a:rPr>
              <a:t>GPS-free navigation · jammer hunter · AI mission brain · slides</a:t>
            </a:r>
            <a:endParaRPr lang="en-US" sz="2200" dirty="0"/>
          </a:p>
        </p:txBody>
      </p:sp>
      <p:sp>
        <p:nvSpPr>
          <p:cNvPr id="13" name="Text 9"/>
          <p:cNvSpPr txBox="1"/>
          <p:nvPr/>
        </p:nvSpPr>
        <p:spPr>
          <a:xfrm>
            <a:off x="548640" y="3383280"/>
            <a:ext cx="11109960" cy="457200"/>
          </a:xfrm>
          <a:prstGeom prst="rect">
            <a:avLst/>
          </a:prstGeom>
          <a:noFill/>
          <a:ln/>
        </p:spPr>
        <p:txBody>
          <a:bodyPr wrap="square" lIns="0" tIns="0" rIns="0" bIns="0" rtlCol="0" anchor="ctr"/>
          <a:lstStyle/>
          <a:p>
            <a:pPr indent="0" marL="0">
              <a:buNone/>
            </a:pPr>
            <a:r>
              <a:rPr lang="en-US" sz="1400" b="1" dirty="0">
                <a:solidFill>
                  <a:schemeClr val="bg1"/>
                </a:solidFill>
              </a:rPr>
              <a:t>Shaped by: </a:t>
            </a:r>
            <a:pPr indent="0" marL="0">
              <a:buNone/>
            </a:pPr>
            <a:r>
              <a:rPr lang="en-US" sz="1400" dirty="0">
                <a:solidFill>
                  <a:schemeClr val="bg2"/>
                </a:solidFill>
              </a:rPr>
              <a:t>Swedish Air Force Helicopter Wing · military end-users · drone expert Isabella · a satellite company · fellow participants</a:t>
            </a:r>
            <a:endParaRPr lang="en-US" sz="1400" dirty="0"/>
          </a:p>
        </p:txBody>
      </p:sp>
      <p:sp>
        <p:nvSpPr>
          <p:cNvPr id="14" name="closing card"/>
          <p:cNvSpPr/>
          <p:nvPr/>
        </p:nvSpPr>
        <p:spPr>
          <a:xfrm>
            <a:off x="548640" y="4206240"/>
            <a:ext cx="11109960" cy="1828800"/>
          </a:xfrm>
          <a:prstGeom prst="roundRect">
            <a:avLst>
              <a:gd name="adj" fmla="val 7000"/>
            </a:avLst>
          </a:prstGeom>
          <a:solidFill>
            <a:schemeClr val="accent1"/>
          </a:solidFill>
          <a:ln w="12700">
            <a:solidFill>
              <a:schemeClr val="accent1"/>
            </a:solidFill>
            <a:prstDash val="solid"/>
          </a:ln>
        </p:spPr>
      </p:sp>
      <p:sp>
        <p:nvSpPr>
          <p:cNvPr id="15" name="Text 11"/>
          <p:cNvSpPr txBox="1"/>
          <p:nvPr/>
        </p:nvSpPr>
        <p:spPr>
          <a:xfrm>
            <a:off x="868680" y="4297680"/>
            <a:ext cx="10515600" cy="1645920"/>
          </a:xfrm>
          <a:prstGeom prst="rect">
            <a:avLst/>
          </a:prstGeom>
          <a:noFill/>
          <a:ln/>
        </p:spPr>
        <p:txBody>
          <a:bodyPr wrap="square" lIns="0" tIns="0" rIns="0" bIns="0" rtlCol="0" anchor="ctr"/>
          <a:lstStyle/>
          <a:p>
            <a:pPr indent="0" marL="0">
              <a:buNone/>
            </a:pPr>
            <a:r>
              <a:rPr lang="en-US" sz="2600" b="1" dirty="0">
                <a:solidFill>
                  <a:schemeClr val="bg1"/>
                </a:solidFill>
              </a:rPr>
              <a:t>One drone gets jammed — the whole swarm learns.</a:t>
            </a:r>
            <a:endParaRPr lang="en-US" sz="2600" dirty="0"/>
          </a:p>
          <a:p>
            <a:pPr indent="0" marL="0">
              <a:buNone/>
            </a:pPr>
            <a:r>
              <a:rPr lang="en-US" sz="2600" b="1" dirty="0">
                <a:solidFill>
                  <a:schemeClr val="bg1"/>
                </a:solidFill>
              </a:rPr>
              <a:t>If the enemy fakes the warnings, physics exposes the liar.</a:t>
            </a:r>
            <a:endParaRPr lang="en-US" sz="2600" dirty="0"/>
          </a:p>
        </p:txBody>
      </p:sp>
      <p:sp>
        <p:nvSpPr>
          <p:cNvPr id="25" name="Slide Number Placeholder 0"/>
          <p:cNvSpPr>
            <a:spLocks noGrp="1"/>
          </p:cNvSpPr>
          <p:nvPr>
            <p:ph type="sldNum" sz="quarter" idx="4294967295"/>
          </p:nvPr>
        </p:nvSpPr>
        <p:spPr>
          <a:xfrm>
            <a:off x="11247120" y="644652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GPS Under Attack">
  <a:themeElements>
    <a:clrScheme name="GPS Under Attack">
      <a:dk1>
        <a:srgbClr val="0E1621"/>
      </a:dk1>
      <a:lt1>
        <a:srgbClr val="FFFFFF"/>
      </a:lt1>
      <a:dk2>
        <a:srgbClr val="17283A"/>
      </a:dk2>
      <a:lt2>
        <a:srgbClr val="E8EDF2"/>
      </a:lt2>
      <a:accent1>
        <a:srgbClr val="F26B1D"/>
      </a:accent1>
      <a:accent2>
        <a:srgbClr val="2EB872"/>
      </a:accent2>
      <a:accent3>
        <a:srgbClr val="E5484D"/>
      </a:accent3>
      <a:accent4>
        <a:srgbClr val="4EA8DE"/>
      </a:accent4>
      <a:accent5>
        <a:srgbClr val="93A1B3"/>
      </a:accent5>
      <a:accent6>
        <a:srgbClr val="F5C451"/>
      </a:accent6>
      <a:hlink>
        <a:srgbClr val="4EA8DE"/>
      </a:hlink>
      <a:folHlink>
        <a:srgbClr val="93A1B3"/>
      </a:folHlink>
    </a:clrScheme>
    <a:fontScheme name="GPS Under Atta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GPS Under Attack - EUDIS Defence Hackathon 2026</dc:title>
  <dc:subject>Pitch: GNSS-denied navigation, Challenge 1</dc:subject>
  <dc:creator>Den and Guled</dc:creator>
  <cp:lastModifiedBy>Den and Guled</cp:lastModifiedBy>
  <cp:revision>1</cp:revision>
  <dcterms:created xsi:type="dcterms:W3CDTF">2026-10-16T18:43:16Z</dcterms:created>
  <dcterms:modified xsi:type="dcterms:W3CDTF">2026-10-16T18:43:16Z</dcterms:modified>
</cp:coreProperties>
</file>
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f2df5b-8984-a40b-d637-b6fba414fa28}">
          <p14:sldIdLst>
            <p14:sldId id="256"/>
          </p14:sldIdLst>
        </p14:section>
        <p14:section name="Problem" id="{c43e312d-c466-1662-d194-c1305866553d}">
          <p14:sldIdLst>
            <p14:sldId id="257"/>
            <p14:sldId id="258"/>
          </p14:sldIdLst>
        </p14:section>
        <p14:section name="Solution" id="{c757fd29-9e12-96d1-aa87-70b133ff5983}">
          <p14:sldIdLst>
            <p14:sldId id="259"/>
            <p14:sldId id="260"/>
            <p14:sldId id="261"/>
            <p14:sldId id="262"/>
          </p14:sldIdLst>
        </p14:section>
        <p14:section name="Proof" id="{66611967-f265-042d-d1d2-d795603aff44}">
          <p14:sldIdLst>
            <p14:sldId id="263"/>
            <p14:sldId id="264"/>
            <p14:sldId id="265"/>
            <p14:sldId id="266"/>
          </p14:sldIdLst>
        </p14:section>
        <p14:section name="Progress and team" id="{16f61219-d265-12dc-1e2a-5d7e6c7e3141}">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DEN: Hi, we are Den and Guled. When one drone gets jammed, our whole swarm learns from it —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DEN: We started by talking to the Swedish Air Force: GPS jamming happens really often, and must be detected fast. Then we tested the real PX4 autopilot. After GPS is gone it needs 5 seconds — and then it lands blind, wherever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GULED: On Friday the military told us: detect and return home — we already have that. What we need is a drone that warns the others, so the swarm still reaches the target. So we built this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0:55–1:15  DEN: Step one: detect. Our monitor notices jamming in 1 second instead of 5. It even catches slow spoofing — fake GPS that looks perfect — by comparing GPS with the drone's own motion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GULED: Without GPS, motion sensors alone drift 2 kilometres. In snow the camera sees nothing. But the shape of the hills survives snow: matching it with a laser altimeter keeps us within 14 metres. And jammed drones even help locate the jammer.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1:40–2:00  GULED: The military asked for a swarm that finds its own solution. Our mission brain does that — with one rule: the AI decides what, tested code decides how. Every action passes a safety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DEN: This is the core. Today, all three drones fly into the jammer and are lost. In our swarm the first drone is a scout: it gets jammed, backs out, and shares what it measured. The others fly around. 24 out of 24 reach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DEN: And it is not just a model. Three real PX4 autopilots fly this mission live in a simulator. The scout gets jammed, the others go around — 3 of 3 end on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2:45–3:10  DEN: Guled asked: what if the enemy fakes the warnings? So we attacked our own system. Our rule: a warning is cheap to believe, but an all-clear must be proven against real evidence. The liar was caught 6 out of 6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GULED: Then we left made-up terrain behind and used the real height map of Bråviken, near Norrköping. 25 out of 25 missions stayed on track. Where it gets hard — flat ground and water — we show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3:30–3:50  GULED: And if the target is inside the jammed zone? Drones at the edge still have GPS and measure their radio distance to the drone inside. The swarm becomes its own GPS — accurate to about 1 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GULED: We did all this in 48 hours, shaped by four expert conversations. It is software only, so it runs on drones that already exist. Next: real drones in Terra lab, here at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4:10–4:25  DEN: One drone gets jammed — the whole swarm learns. And if the enemy fakes the warnings, physics exposes the liar. Thank you. (Pause before the last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46520"/>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chemeClr val="accent1"/>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chemeClr val="bg1"/>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chemeClr val="bg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chemeClr val="bg1"/>
                </a:solidFill>
              </a:rPr>
              <a:t>Den</a:t>
            </a:r>
            <a:pPr indent="0" marL="0">
              <a:buNone/>
            </a:pPr>
            <a:r>
              <a:rPr lang="en-US" sz="1500" dirty="0">
                <a:solidFill>
                  <a:schemeClr val="accent5"/>
                </a:solidFill>
              </a:rPr>
              <a:t>  cyber security    </a:t>
            </a:r>
            <a:pPr indent="0" marL="0">
              <a:buNone/>
            </a:pPr>
            <a:r>
              <a:rPr lang="en-US" sz="1500" b="1" dirty="0">
                <a:solidFill>
                  <a:schemeClr val="bg1"/>
                </a:solidFill>
              </a:rPr>
              <a:t>Guled</a:t>
            </a:r>
            <a:pPr indent="0" marL="0">
              <a:buNone/>
            </a:pPr>
            <a:r>
              <a:rPr lang="en-US" sz="1500" dirty="0">
                <a:solidFill>
                  <a:schemeClr val="accent5"/>
                </a:solidFill>
              </a:rPr>
              <a:t>  computer engineering</a:t>
            </a:r>
            <a:endParaRPr lang="en-US" sz="1500" dirty="0"/>
          </a:p>
        </p:txBody>
      </p:sp>
      <p:sp>
        <p:nvSpPr>
          <p:cNvPr id="6" name="Animated swarm mission on a satellite map frame"/>
          <p:cNvSpPr/>
          <p:nvPr/>
        </p:nvSpPr>
        <p:spPr>
          <a:xfrm>
            <a:off x="6565392" y="1353312"/>
            <a:ext cx="5157216" cy="3176016"/>
          </a:xfrm>
          <a:prstGeom prst="roundRect">
            <a:avLst>
              <a:gd name="adj" fmla="val 2303"/>
            </a:avLst>
          </a:prstGeom>
          <a:solidFill>
            <a:schemeClr val="bg1"/>
          </a:solidFill>
          <a:ln w="12700">
            <a:solidFill>
              <a:schemeClr val="bg1"/>
            </a:solidFill>
            <a:prstDash val="solid"/>
          </a:ln>
        </p:spPr>
      </p:sp>
      <p:pic>
        <p:nvPicPr>
          <p:cNvPr id="7" name="Animated swarm mission on a satellite map" descr="Animated swarm mission on a satellite map">    </p:cNvPr>
          <p:cNvPicPr>
            <a:picLocks noChangeAspect="1"/>
          </p:cNvPicPr>
          <p:nvPr/>
        </p:nvPicPr>
        <p:blipFill>
          <a:blip r:embed="rId1"/>
          <a:stretch>
            <a:fillRect/>
          </a:stretch>
        </p:blipFill>
        <p:spPr>
          <a:xfrm>
            <a:off x="6629400" y="1417320"/>
            <a:ext cx="5029200" cy="3048000"/>
          </a:xfrm>
          <a:prstGeom prst="rect">
            <a:avLst/>
          </a:prstGeom>
        </p:spPr>
      </p:pic>
      <p:sp>
        <p:nvSpPr>
          <p:cNvPr id="8" name="caption"/>
          <p:cNvSpPr txBox="1"/>
          <p:nvPr/>
        </p:nvSpPr>
        <p:spPr>
          <a:xfrm>
            <a:off x="6629400" y="4602480"/>
            <a:ext cx="5029200" cy="457200"/>
          </a:xfrm>
          <a:prstGeom prst="rect">
            <a:avLst/>
          </a:prstGeom>
          <a:noFill/>
          <a:ln/>
        </p:spPr>
        <p:txBody>
          <a:bodyPr wrap="square" lIns="0" tIns="0" rIns="0" bIns="0" rtlCol="0" anchor="t"/>
          <a:lstStyle/>
          <a:p>
            <a:pPr indent="0" marL="0">
              <a:buNone/>
            </a:pPr>
            <a:r>
              <a:rPr lang="en-US" sz="1100" i="1" dirty="0">
                <a:solidFill>
                  <a:schemeClr val="accent5"/>
                </a:solidFill>
              </a:rPr>
              <a:t>Our swarm mission on a real satellite map (animated). Illustrative location: Gotland, Baltic Sea.</a:t>
            </a:r>
            <a:endParaRPr lang="en-US" sz="1100" dirty="0"/>
          </a:p>
        </p:txBody>
      </p:sp>
      <p:sp>
        <p:nvSpPr>
          <p:cNvPr id="9" name="imagery credit"/>
          <p:cNvSpPr txBox="1"/>
          <p:nvPr/>
        </p:nvSpPr>
        <p:spPr>
          <a:xfrm>
            <a:off x="6629400" y="5013960"/>
            <a:ext cx="5029200" cy="365760"/>
          </a:xfrm>
          <a:prstGeom prst="rect">
            <a:avLst/>
          </a:prstGeom>
          <a:noFill/>
          <a:ln/>
        </p:spPr>
        <p:txBody>
          <a:bodyPr wrap="square" lIns="0" tIns="0" rIns="0" bIns="0" rtlCol="0" anchor="ctr"/>
          <a:lstStyle/>
          <a:p>
            <a:pPr indent="0" marL="0">
              <a:buNone/>
            </a:pPr>
            <a:r>
              <a:rPr lang="en-US" sz="800" dirty="0">
                <a:solidFill>
                  <a:schemeClr val="accent5"/>
                </a:solidFill>
              </a:rPr>
              <a:t>Satellite: Sentinel-2 cloudless 2016 © EOX IT Services GmbH (CC BY 4.0), contains modified Copernicus Sentinel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Text 3"/>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chemeClr val="accent1"/>
                </a:solidFill>
              </a:rPr>
              <a:t>What the Swedish Air Force (Helicopter Wing) told us</a:t>
            </a:r>
            <a:endParaRPr lang="en-US" sz="1500" dirty="0"/>
          </a:p>
        </p:txBody>
      </p:sp>
      <p:sp>
        <p:nvSpPr>
          <p:cNvPr id="6" name="icon circle “It happens really often”"/>
          <p:cNvSpPr/>
          <p:nvPr/>
        </p:nvSpPr>
        <p:spPr>
          <a:xfrm>
            <a:off x="548640" y="1920240"/>
            <a:ext cx="548640" cy="548640"/>
          </a:xfrm>
          <a:prstGeom prst="ellipse">
            <a:avLst/>
          </a:prstGeom>
          <a:solidFill>
            <a:schemeClr val="tx2"/>
          </a:solidFill>
          <a:ln w="19050">
            <a:solidFill>
              <a:srgbClr val="F26B1D"/>
            </a:solidFill>
            <a:prstDash val="solid"/>
          </a:ln>
        </p:spPr>
      </p:sp>
      <p:pic>
        <p:nvPicPr>
          <p:cNvPr id="7"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8"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chemeClr val="bg1"/>
                </a:solidFill>
              </a:rPr>
              <a:t>“It happens really often”</a:t>
            </a:r>
            <a:endParaRPr lang="en-US" sz="1500" dirty="0"/>
          </a:p>
          <a:p>
            <a:pPr indent="0" marL="0">
              <a:buNone/>
            </a:pPr>
            <a:r>
              <a:rPr lang="en-US" sz="1300" dirty="0">
                <a:solidFill>
                  <a:schemeClr val="bg2"/>
                </a:solidFill>
              </a:rPr>
              <a:t>Jamming and spoofing — widely reported over the Baltic</a:t>
            </a:r>
            <a:endParaRPr lang="en-US" sz="1500" dirty="0"/>
          </a:p>
        </p:txBody>
      </p:sp>
      <p:sp>
        <p:nvSpPr>
          <p:cNvPr id="9" name="icon circle “Detect it as soon as possible”"/>
          <p:cNvSpPr/>
          <p:nvPr/>
        </p:nvSpPr>
        <p:spPr>
          <a:xfrm>
            <a:off x="548640" y="2880360"/>
            <a:ext cx="548640" cy="548640"/>
          </a:xfrm>
          <a:prstGeom prst="ellipse">
            <a:avLst/>
          </a:prstGeom>
          <a:solidFill>
            <a:schemeClr val="tx2"/>
          </a:solidFill>
          <a:ln w="19050">
            <a:solidFill>
              <a:srgbClr val="F26B1D"/>
            </a:solidFill>
            <a:prstDash val="solid"/>
          </a:ln>
        </p:spPr>
      </p:sp>
      <p:pic>
        <p:nvPicPr>
          <p:cNvPr id="10"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1"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chemeClr val="bg1"/>
                </a:solidFill>
              </a:rPr>
              <a:t>“Detect it as soon as possible”</a:t>
            </a:r>
            <a:endParaRPr lang="en-US" sz="1500" dirty="0"/>
          </a:p>
          <a:p>
            <a:pPr indent="0" marL="0">
              <a:buNone/>
            </a:pPr>
            <a:r>
              <a:rPr lang="en-US" sz="1300" dirty="0">
                <a:solidFill>
                  <a:schemeClr val="bg2"/>
                </a:solidFill>
              </a:rPr>
              <a:t>Both jamming and spoofing, depending on the mission</a:t>
            </a:r>
            <a:endParaRPr lang="en-US" sz="1500" dirty="0"/>
          </a:p>
        </p:txBody>
      </p:sp>
      <p:sp>
        <p:nvSpPr>
          <p:cNvPr id="12" name="icon circle “Snow hides the landmarks”"/>
          <p:cNvSpPr/>
          <p:nvPr/>
        </p:nvSpPr>
        <p:spPr>
          <a:xfrm>
            <a:off x="548640" y="3840480"/>
            <a:ext cx="548640" cy="548640"/>
          </a:xfrm>
          <a:prstGeom prst="ellipse">
            <a:avLst/>
          </a:prstGeom>
          <a:solidFill>
            <a:schemeClr val="tx2"/>
          </a:solidFill>
          <a:ln w="19050">
            <a:solidFill>
              <a:srgbClr val="F26B1D"/>
            </a:solidFill>
            <a:prstDash val="solid"/>
          </a:ln>
        </p:spPr>
      </p:sp>
      <p:pic>
        <p:nvPicPr>
          <p:cNvPr id="13"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4"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chemeClr val="bg1"/>
                </a:solidFill>
              </a:rPr>
              <a:t>“Snow hides the landmarks”</a:t>
            </a:r>
            <a:endParaRPr lang="en-US" sz="1500" dirty="0"/>
          </a:p>
          <a:p>
            <a:pPr indent="0" marL="0">
              <a:buNone/>
            </a:pPr>
            <a:r>
              <a:rPr lang="en-US" sz="1300" dirty="0">
                <a:solidFill>
                  <a:schemeClr val="bg2"/>
                </a:solidFill>
              </a:rPr>
              <a:t>Pre-made maps stop matching in winter</a:t>
            </a:r>
            <a:endParaRPr lang="en-US" sz="1500" dirty="0"/>
          </a:p>
        </p:txBody>
      </p:sp>
      <p:sp>
        <p:nvSpPr>
          <p:cNvPr id="15" name="icon circle “A drone once built its own map to get home”"/>
          <p:cNvSpPr/>
          <p:nvPr/>
        </p:nvSpPr>
        <p:spPr>
          <a:xfrm>
            <a:off x="548640" y="4800600"/>
            <a:ext cx="548640" cy="548640"/>
          </a:xfrm>
          <a:prstGeom prst="ellipse">
            <a:avLst/>
          </a:prstGeom>
          <a:solidFill>
            <a:schemeClr val="tx2"/>
          </a:solidFill>
          <a:ln w="19050">
            <a:solidFill>
              <a:srgbClr val="F26B1D"/>
            </a:solidFill>
            <a:prstDash val="solid"/>
          </a:ln>
        </p:spPr>
      </p:sp>
      <p:pic>
        <p:nvPicPr>
          <p:cNvPr id="16"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7"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chemeClr val="bg1"/>
                </a:solidFill>
              </a:rPr>
              <a:t>“A drone once built its own map to get home”</a:t>
            </a:r>
            <a:endParaRPr lang="en-US" sz="1500" dirty="0"/>
          </a:p>
          <a:p>
            <a:pPr indent="0" marL="0">
              <a:buNone/>
            </a:pPr>
            <a:r>
              <a:rPr lang="en-US" sz="1300" dirty="0">
                <a:solidFill>
                  <a:schemeClr val="bg2"/>
                </a:solidFill>
              </a:rPr>
              <a:t>That real case is our starting point</a:t>
            </a:r>
            <a:endParaRPr lang="en-US" sz="1500" dirty="0"/>
          </a:p>
        </p:txBody>
      </p:sp>
      <p:sp>
        <p:nvSpPr>
          <p:cNvPr id="18" name="caption"/>
          <p:cNvSpPr txBox="1"/>
          <p:nvPr/>
        </p:nvSpPr>
        <p:spPr>
          <a:xfrm>
            <a:off x="548640" y="5806440"/>
            <a:ext cx="6035040" cy="320040"/>
          </a:xfrm>
          <a:prstGeom prst="rect">
            <a:avLst/>
          </a:prstGeom>
          <a:noFill/>
          <a:ln/>
        </p:spPr>
        <p:txBody>
          <a:bodyPr wrap="square" lIns="0" tIns="0" rIns="0" bIns="0" rtlCol="0" anchor="t"/>
          <a:lstStyle/>
          <a:p>
            <a:pPr indent="0" marL="0">
              <a:buNone/>
            </a:pPr>
            <a:r>
              <a:rPr lang="en-US" sz="1100" i="1" dirty="0">
                <a:solidFill>
                  <a:schemeClr val="accent5"/>
                </a:solidFill>
              </a:rPr>
              <a:t>Public evidence: GNSS interference over the Baltic is mapped every day from airliner data (gpsjam.org).</a:t>
            </a:r>
            <a:endParaRPr lang="en-US" sz="1100" dirty="0"/>
          </a:p>
        </p:txBody>
      </p:sp>
      <p:sp>
        <p:nvSpPr>
          <p:cNvPr id="19" name="PX4 flight log during GPS jamming frame"/>
          <p:cNvSpPr/>
          <p:nvPr/>
        </p:nvSpPr>
        <p:spPr>
          <a:xfrm>
            <a:off x="6885432" y="1307592"/>
            <a:ext cx="4288536" cy="3910307"/>
          </a:xfrm>
          <a:prstGeom prst="roundRect">
            <a:avLst>
              <a:gd name="adj" fmla="val 1871"/>
            </a:avLst>
          </a:prstGeom>
          <a:solidFill>
            <a:schemeClr val="bg1"/>
          </a:solidFill>
          <a:ln w="12700">
            <a:solidFill>
              <a:schemeClr val="bg1"/>
            </a:solidFill>
            <a:prstDash val="solid"/>
          </a:ln>
        </p:spPr>
      </p:sp>
      <p:pic>
        <p:nvPicPr>
          <p:cNvPr id="20"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1" name="stat card 5 s"/>
          <p:cNvSpPr/>
          <p:nvPr/>
        </p:nvSpPr>
        <p:spPr>
          <a:xfrm>
            <a:off x="6949440" y="5349240"/>
            <a:ext cx="2011680" cy="914400"/>
          </a:xfrm>
          <a:prstGeom prst="roundRect">
            <a:avLst>
              <a:gd name="adj" fmla="val 10000"/>
            </a:avLst>
          </a:prstGeom>
          <a:solidFill>
            <a:schemeClr val="tx2"/>
          </a:solidFill>
          <a:ln w="12700">
            <a:solidFill>
              <a:schemeClr val="tx2"/>
            </a:solidFill>
            <a:prstDash val="solid"/>
          </a:ln>
        </p:spPr>
      </p:sp>
      <p:sp>
        <p:nvSpPr>
          <p:cNvPr id="22"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5 s</a:t>
            </a:r>
            <a:endParaRPr lang="en-US" sz="2600" dirty="0"/>
          </a:p>
        </p:txBody>
      </p:sp>
      <p:sp>
        <p:nvSpPr>
          <p:cNvPr id="23"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autopilot reaction time</a:t>
            </a:r>
            <a:endParaRPr lang="en-US" sz="1200" dirty="0"/>
          </a:p>
        </p:txBody>
      </p:sp>
      <p:sp>
        <p:nvSpPr>
          <p:cNvPr id="24" name="stat card blind"/>
          <p:cNvSpPr/>
          <p:nvPr/>
        </p:nvSpPr>
        <p:spPr>
          <a:xfrm>
            <a:off x="9098280" y="5349240"/>
            <a:ext cx="2011680" cy="914400"/>
          </a:xfrm>
          <a:prstGeom prst="roundRect">
            <a:avLst>
              <a:gd name="adj" fmla="val 10000"/>
            </a:avLst>
          </a:prstGeom>
          <a:solidFill>
            <a:schemeClr val="tx2"/>
          </a:solidFill>
          <a:ln w="12700">
            <a:solidFill>
              <a:schemeClr val="tx2"/>
            </a:solidFill>
            <a:prstDash val="solid"/>
          </a:ln>
        </p:spPr>
      </p:sp>
      <p:sp>
        <p:nvSpPr>
          <p:cNvPr id="25"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blind</a:t>
            </a:r>
            <a:endParaRPr lang="en-US" sz="2600" dirty="0"/>
          </a:p>
        </p:txBody>
      </p:sp>
      <p:sp>
        <p:nvSpPr>
          <p:cNvPr id="26"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military quote card"/>
          <p:cNvSpPr/>
          <p:nvPr/>
        </p:nvSpPr>
        <p:spPr>
          <a:xfrm>
            <a:off x="548640" y="1371600"/>
            <a:ext cx="11109960" cy="1417320"/>
          </a:xfrm>
          <a:prstGeom prst="roundRect">
            <a:avLst>
              <a:gd name="adj" fmla="val 7742"/>
            </a:avLst>
          </a:prstGeom>
          <a:solidFill>
            <a:schemeClr val="tx2"/>
          </a:solidFill>
          <a:ln w="15875">
            <a:solidFill>
              <a:schemeClr val="accent1"/>
            </a:solidFill>
            <a:prstDash val="solid"/>
          </a:ln>
        </p:spPr>
      </p:sp>
      <p:sp>
        <p:nvSpPr>
          <p:cNvPr id="6" name="Text 4"/>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chemeClr val="bg2"/>
                </a:solidFill>
              </a:rPr>
              <a:t>“Detect and return home — we already have that. </a:t>
            </a:r>
            <a:pPr indent="0" marL="0">
              <a:buNone/>
            </a:pPr>
            <a:r>
              <a:rPr lang="en-US" sz="1900" b="1" i="1" dirty="0">
                <a:solidFill>
                  <a:schemeClr val="bg1"/>
                </a:solidFill>
              </a:rPr>
              <a:t>We need the drone to tell the others, and the swarm to find its own way to the target.”</a:t>
            </a:r>
            <a:endParaRPr lang="en-US" sz="1900" dirty="0"/>
          </a:p>
        </p:txBody>
      </p:sp>
      <p:sp>
        <p:nvSpPr>
          <p:cNvPr id="7" name="Text 5"/>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chemeClr val="accent5"/>
                </a:solidFill>
              </a:rPr>
              <a:t>Military end-users, Friday — this changed our project</a:t>
            </a:r>
            <a:endParaRPr lang="en-US" sz="1200" dirty="0"/>
          </a:p>
        </p:txBody>
      </p:sp>
      <p:sp>
        <p:nvSpPr>
          <p:cNvPr id="8" name="step DETECT"/>
          <p:cNvSpPr/>
          <p:nvPr/>
        </p:nvSpPr>
        <p:spPr>
          <a:xfrm>
            <a:off x="548640" y="3246120"/>
            <a:ext cx="1664208" cy="2514600"/>
          </a:xfrm>
          <a:prstGeom prst="roundRect">
            <a:avLst>
              <a:gd name="adj" fmla="val 6593"/>
            </a:avLst>
          </a:prstGeom>
          <a:solidFill>
            <a:schemeClr val="tx2"/>
          </a:solidFill>
          <a:ln w="12700">
            <a:solidFill>
              <a:schemeClr val="tx2"/>
            </a:solidFill>
            <a:prstDash val="solid"/>
          </a:ln>
        </p:spPr>
      </p:sp>
      <p:sp>
        <p:nvSpPr>
          <p:cNvPr id="9" name="step icon circle DETECT"/>
          <p:cNvSpPr/>
          <p:nvPr/>
        </p:nvSpPr>
        <p:spPr>
          <a:xfrm>
            <a:off x="1014984" y="3474720"/>
            <a:ext cx="731520" cy="731520"/>
          </a:xfrm>
          <a:prstGeom prst="ellipse">
            <a:avLst/>
          </a:prstGeom>
          <a:solidFill>
            <a:schemeClr val="accent1"/>
          </a:solidFill>
          <a:ln w="12700">
            <a:solidFill>
              <a:schemeClr val="accent1"/>
            </a:solidFill>
            <a:prstDash val="solid"/>
          </a:ln>
        </p:spPr>
      </p:sp>
      <p:pic>
        <p:nvPicPr>
          <p:cNvPr id="10"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1" name="Text 8"/>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DETECT</a:t>
            </a:r>
            <a:endParaRPr lang="en-US" sz="1400" dirty="0"/>
          </a:p>
        </p:txBody>
      </p:sp>
      <p:sp>
        <p:nvSpPr>
          <p:cNvPr id="12" name="Text 9"/>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jamming &amp; spoofing</a:t>
            </a:r>
            <a:endParaRPr lang="en-US" sz="1200" dirty="0"/>
          </a:p>
        </p:txBody>
      </p:sp>
      <p:sp>
        <p:nvSpPr>
          <p:cNvPr id="13" name="Text 10"/>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14" name="arrow 0"/>
          <p:cNvSpPr/>
          <p:nvPr/>
        </p:nvSpPr>
        <p:spPr>
          <a:xfrm>
            <a:off x="2240280" y="4434840"/>
            <a:ext cx="169164" cy="274320"/>
          </a:xfrm>
          <a:prstGeom prst="rightArrow">
            <a:avLst/>
          </a:prstGeom>
          <a:solidFill>
            <a:schemeClr val="accent5"/>
          </a:solidFill>
          <a:ln w="12700">
            <a:solidFill>
              <a:schemeClr val="accent5"/>
            </a:solidFill>
            <a:prstDash val="solid"/>
          </a:ln>
        </p:spPr>
      </p:sp>
      <p:sp>
        <p:nvSpPr>
          <p:cNvPr id="15" name="step NAVIGATE"/>
          <p:cNvSpPr/>
          <p:nvPr/>
        </p:nvSpPr>
        <p:spPr>
          <a:xfrm>
            <a:off x="2436876" y="3246120"/>
            <a:ext cx="1664208" cy="2514600"/>
          </a:xfrm>
          <a:prstGeom prst="roundRect">
            <a:avLst>
              <a:gd name="adj" fmla="val 6593"/>
            </a:avLst>
          </a:prstGeom>
          <a:solidFill>
            <a:schemeClr val="tx2"/>
          </a:solidFill>
          <a:ln w="12700">
            <a:solidFill>
              <a:schemeClr val="tx2"/>
            </a:solidFill>
            <a:prstDash val="solid"/>
          </a:ln>
        </p:spPr>
      </p:sp>
      <p:sp>
        <p:nvSpPr>
          <p:cNvPr id="16" name="step icon circle NAVIGATE"/>
          <p:cNvSpPr/>
          <p:nvPr/>
        </p:nvSpPr>
        <p:spPr>
          <a:xfrm>
            <a:off x="2903220" y="3474720"/>
            <a:ext cx="731520" cy="731520"/>
          </a:xfrm>
          <a:prstGeom prst="ellipse">
            <a:avLst/>
          </a:prstGeom>
          <a:solidFill>
            <a:schemeClr val="accent1"/>
          </a:solidFill>
          <a:ln w="12700">
            <a:solidFill>
              <a:schemeClr val="accent1"/>
            </a:solidFill>
            <a:prstDash val="solid"/>
          </a:ln>
        </p:spPr>
      </p:sp>
      <p:pic>
        <p:nvPicPr>
          <p:cNvPr id="17"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8" name="Text 14"/>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NAVIGATE</a:t>
            </a:r>
            <a:endParaRPr lang="en-US" sz="1400" dirty="0"/>
          </a:p>
        </p:txBody>
      </p:sp>
      <p:sp>
        <p:nvSpPr>
          <p:cNvPr id="19" name="Text 15"/>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without GPS, in snow</a:t>
            </a:r>
            <a:endParaRPr lang="en-US" sz="1200" dirty="0"/>
          </a:p>
        </p:txBody>
      </p:sp>
      <p:sp>
        <p:nvSpPr>
          <p:cNvPr id="20" name="Text 16"/>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1" name="arrow 1"/>
          <p:cNvSpPr/>
          <p:nvPr/>
        </p:nvSpPr>
        <p:spPr>
          <a:xfrm>
            <a:off x="4128516" y="4434840"/>
            <a:ext cx="169164" cy="274320"/>
          </a:xfrm>
          <a:prstGeom prst="rightArrow">
            <a:avLst/>
          </a:prstGeom>
          <a:solidFill>
            <a:schemeClr val="accent5"/>
          </a:solidFill>
          <a:ln w="12700">
            <a:solidFill>
              <a:schemeClr val="accent5"/>
            </a:solidFill>
            <a:prstDash val="solid"/>
          </a:ln>
        </p:spPr>
      </p:sp>
      <p:sp>
        <p:nvSpPr>
          <p:cNvPr id="22" name="step LOCATE"/>
          <p:cNvSpPr/>
          <p:nvPr/>
        </p:nvSpPr>
        <p:spPr>
          <a:xfrm>
            <a:off x="4325112" y="3246120"/>
            <a:ext cx="1664208" cy="2514600"/>
          </a:xfrm>
          <a:prstGeom prst="roundRect">
            <a:avLst>
              <a:gd name="adj" fmla="val 6593"/>
            </a:avLst>
          </a:prstGeom>
          <a:solidFill>
            <a:schemeClr val="tx2"/>
          </a:solidFill>
          <a:ln w="12700">
            <a:solidFill>
              <a:schemeClr val="tx2"/>
            </a:solidFill>
            <a:prstDash val="solid"/>
          </a:ln>
        </p:spPr>
      </p:sp>
      <p:sp>
        <p:nvSpPr>
          <p:cNvPr id="23" name="step icon circle LOCATE"/>
          <p:cNvSpPr/>
          <p:nvPr/>
        </p:nvSpPr>
        <p:spPr>
          <a:xfrm>
            <a:off x="4791456" y="3474720"/>
            <a:ext cx="731520" cy="731520"/>
          </a:xfrm>
          <a:prstGeom prst="ellipse">
            <a:avLst/>
          </a:prstGeom>
          <a:solidFill>
            <a:schemeClr val="accent1"/>
          </a:solidFill>
          <a:ln w="12700">
            <a:solidFill>
              <a:schemeClr val="accent1"/>
            </a:solidFill>
            <a:prstDash val="solid"/>
          </a:ln>
        </p:spPr>
      </p:sp>
      <p:pic>
        <p:nvPicPr>
          <p:cNvPr id="24"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5" name="Text 20"/>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LOCATE</a:t>
            </a:r>
            <a:endParaRPr lang="en-US" sz="1400" dirty="0"/>
          </a:p>
        </p:txBody>
      </p:sp>
      <p:sp>
        <p:nvSpPr>
          <p:cNvPr id="26" name="Text 21"/>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jammer</a:t>
            </a:r>
            <a:endParaRPr lang="en-US" sz="1200" dirty="0"/>
          </a:p>
        </p:txBody>
      </p:sp>
      <p:sp>
        <p:nvSpPr>
          <p:cNvPr id="27" name="Text 22"/>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8" name="arrow 2"/>
          <p:cNvSpPr/>
          <p:nvPr/>
        </p:nvSpPr>
        <p:spPr>
          <a:xfrm>
            <a:off x="6016752" y="4434840"/>
            <a:ext cx="169164" cy="274320"/>
          </a:xfrm>
          <a:prstGeom prst="rightArrow">
            <a:avLst/>
          </a:prstGeom>
          <a:solidFill>
            <a:schemeClr val="accent5"/>
          </a:solidFill>
          <a:ln w="12700">
            <a:solidFill>
              <a:schemeClr val="accent5"/>
            </a:solidFill>
            <a:prstDash val="solid"/>
          </a:ln>
        </p:spPr>
      </p:sp>
      <p:sp>
        <p:nvSpPr>
          <p:cNvPr id="29" name="step DECIDE"/>
          <p:cNvSpPr/>
          <p:nvPr/>
        </p:nvSpPr>
        <p:spPr>
          <a:xfrm>
            <a:off x="6213348" y="3246120"/>
            <a:ext cx="1664208" cy="2514600"/>
          </a:xfrm>
          <a:prstGeom prst="roundRect">
            <a:avLst>
              <a:gd name="adj" fmla="val 6593"/>
            </a:avLst>
          </a:prstGeom>
          <a:solidFill>
            <a:schemeClr val="tx2"/>
          </a:solidFill>
          <a:ln w="12700">
            <a:solidFill>
              <a:schemeClr val="tx2"/>
            </a:solidFill>
            <a:prstDash val="solid"/>
          </a:ln>
        </p:spPr>
      </p:sp>
      <p:sp>
        <p:nvSpPr>
          <p:cNvPr id="30" name="step icon circle DECIDE"/>
          <p:cNvSpPr/>
          <p:nvPr/>
        </p:nvSpPr>
        <p:spPr>
          <a:xfrm>
            <a:off x="6679692" y="3474720"/>
            <a:ext cx="731520" cy="731520"/>
          </a:xfrm>
          <a:prstGeom prst="ellipse">
            <a:avLst/>
          </a:prstGeom>
          <a:solidFill>
            <a:schemeClr val="accent1"/>
          </a:solidFill>
          <a:ln w="12700">
            <a:solidFill>
              <a:schemeClr val="accent1"/>
            </a:solidFill>
            <a:prstDash val="solid"/>
          </a:ln>
        </p:spPr>
      </p:sp>
      <p:pic>
        <p:nvPicPr>
          <p:cNvPr id="31"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2" name="Text 26"/>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DECIDE</a:t>
            </a:r>
            <a:endParaRPr lang="en-US" sz="1400" dirty="0"/>
          </a:p>
        </p:txBody>
      </p:sp>
      <p:sp>
        <p:nvSpPr>
          <p:cNvPr id="33" name="Text 27"/>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AI mission brain</a:t>
            </a:r>
            <a:endParaRPr lang="en-US" sz="1200" dirty="0"/>
          </a:p>
        </p:txBody>
      </p:sp>
      <p:sp>
        <p:nvSpPr>
          <p:cNvPr id="34" name="Text 28"/>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35" name="arrow 3"/>
          <p:cNvSpPr/>
          <p:nvPr/>
        </p:nvSpPr>
        <p:spPr>
          <a:xfrm>
            <a:off x="7904988" y="4434840"/>
            <a:ext cx="169164" cy="274320"/>
          </a:xfrm>
          <a:prstGeom prst="rightArrow">
            <a:avLst/>
          </a:prstGeom>
          <a:solidFill>
            <a:schemeClr val="accent5"/>
          </a:solidFill>
          <a:ln w="12700">
            <a:solidFill>
              <a:schemeClr val="accent5"/>
            </a:solidFill>
            <a:prstDash val="solid"/>
          </a:ln>
        </p:spPr>
      </p:sp>
      <p:sp>
        <p:nvSpPr>
          <p:cNvPr id="36" name="step SHARE + REROUTE"/>
          <p:cNvSpPr/>
          <p:nvPr/>
        </p:nvSpPr>
        <p:spPr>
          <a:xfrm>
            <a:off x="8101584" y="3246120"/>
            <a:ext cx="1664208" cy="2514600"/>
          </a:xfrm>
          <a:prstGeom prst="roundRect">
            <a:avLst>
              <a:gd name="adj" fmla="val 6593"/>
            </a:avLst>
          </a:prstGeom>
          <a:solidFill>
            <a:schemeClr val="tx2"/>
          </a:solidFill>
          <a:ln w="12700">
            <a:solidFill>
              <a:schemeClr val="tx2"/>
            </a:solidFill>
            <a:prstDash val="solid"/>
          </a:ln>
        </p:spPr>
      </p:sp>
      <p:sp>
        <p:nvSpPr>
          <p:cNvPr id="37" name="step icon circle SHARE + REROUTE"/>
          <p:cNvSpPr/>
          <p:nvPr/>
        </p:nvSpPr>
        <p:spPr>
          <a:xfrm>
            <a:off x="8567928" y="3474720"/>
            <a:ext cx="731520" cy="731520"/>
          </a:xfrm>
          <a:prstGeom prst="ellipse">
            <a:avLst/>
          </a:prstGeom>
          <a:solidFill>
            <a:schemeClr val="accent1"/>
          </a:solidFill>
          <a:ln w="12700">
            <a:solidFill>
              <a:schemeClr val="accent1"/>
            </a:solidFill>
            <a:prstDash val="solid"/>
          </a:ln>
        </p:spPr>
      </p:sp>
      <p:pic>
        <p:nvPicPr>
          <p:cNvPr id="38"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39" name="Text 32"/>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SHARE + REROUTE</a:t>
            </a:r>
            <a:endParaRPr lang="en-US" sz="1400" dirty="0"/>
          </a:p>
        </p:txBody>
      </p:sp>
      <p:sp>
        <p:nvSpPr>
          <p:cNvPr id="40" name="Text 33"/>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whole swarm</a:t>
            </a:r>
            <a:endParaRPr lang="en-US" sz="1200" dirty="0"/>
          </a:p>
        </p:txBody>
      </p:sp>
      <p:sp>
        <p:nvSpPr>
          <p:cNvPr id="41" name="Text 34"/>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42" name="arrow 4"/>
          <p:cNvSpPr/>
          <p:nvPr/>
        </p:nvSpPr>
        <p:spPr>
          <a:xfrm>
            <a:off x="9793224" y="4434840"/>
            <a:ext cx="169164" cy="274320"/>
          </a:xfrm>
          <a:prstGeom prst="rightArrow">
            <a:avLst/>
          </a:prstGeom>
          <a:solidFill>
            <a:schemeClr val="accent5"/>
          </a:solidFill>
          <a:ln w="12700">
            <a:solidFill>
              <a:schemeClr val="accent5"/>
            </a:solidFill>
            <a:prstDash val="solid"/>
          </a:ln>
        </p:spPr>
      </p:sp>
      <p:sp>
        <p:nvSpPr>
          <p:cNvPr id="43" name="step SECURE"/>
          <p:cNvSpPr/>
          <p:nvPr/>
        </p:nvSpPr>
        <p:spPr>
          <a:xfrm>
            <a:off x="9989820" y="3246120"/>
            <a:ext cx="1664208" cy="2514600"/>
          </a:xfrm>
          <a:prstGeom prst="roundRect">
            <a:avLst>
              <a:gd name="adj" fmla="val 6593"/>
            </a:avLst>
          </a:prstGeom>
          <a:solidFill>
            <a:schemeClr val="tx2"/>
          </a:solidFill>
          <a:ln w="12700">
            <a:solidFill>
              <a:schemeClr val="tx2"/>
            </a:solidFill>
            <a:prstDash val="solid"/>
          </a:ln>
        </p:spPr>
      </p:sp>
      <p:sp>
        <p:nvSpPr>
          <p:cNvPr id="44" name="step icon circle SECURE"/>
          <p:cNvSpPr/>
          <p:nvPr/>
        </p:nvSpPr>
        <p:spPr>
          <a:xfrm>
            <a:off x="10456164" y="3474720"/>
            <a:ext cx="731520" cy="731520"/>
          </a:xfrm>
          <a:prstGeom prst="ellipse">
            <a:avLst/>
          </a:prstGeom>
          <a:solidFill>
            <a:schemeClr val="accent1"/>
          </a:solidFill>
          <a:ln w="12700">
            <a:solidFill>
              <a:schemeClr val="accent1"/>
            </a:solidFill>
            <a:prstDash val="solid"/>
          </a:ln>
        </p:spPr>
      </p:sp>
      <p:pic>
        <p:nvPicPr>
          <p:cNvPr id="45"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6" name="Text 38"/>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SECURE</a:t>
            </a:r>
            <a:endParaRPr lang="en-US" sz="1400" dirty="0"/>
          </a:p>
        </p:txBody>
      </p:sp>
      <p:sp>
        <p:nvSpPr>
          <p:cNvPr id="47" name="Text 39"/>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against fake warnings</a:t>
            </a:r>
            <a:endParaRPr lang="en-US" sz="1200" dirty="0"/>
          </a:p>
        </p:txBody>
      </p:sp>
      <p:sp>
        <p:nvSpPr>
          <p:cNvPr id="48" name="Text 40"/>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stat card 1 s vs 5 s"/>
          <p:cNvSpPr/>
          <p:nvPr/>
        </p:nvSpPr>
        <p:spPr>
          <a:xfrm>
            <a:off x="548640" y="1325880"/>
            <a:ext cx="2606040" cy="1051560"/>
          </a:xfrm>
          <a:prstGeom prst="roundRect">
            <a:avLst>
              <a:gd name="adj" fmla="val 8696"/>
            </a:avLst>
          </a:prstGeom>
          <a:solidFill>
            <a:schemeClr val="tx2"/>
          </a:solidFill>
          <a:ln w="12700">
            <a:solidFill>
              <a:schemeClr val="tx2"/>
            </a:solidFill>
            <a:prstDash val="solid"/>
          </a:ln>
        </p:spPr>
      </p:sp>
      <p:sp>
        <p:nvSpPr>
          <p:cNvPr id="6"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 s vs 5 s</a:t>
            </a:r>
            <a:endParaRPr lang="en-US" sz="2600" dirty="0"/>
          </a:p>
        </p:txBody>
      </p:sp>
      <p:sp>
        <p:nvSpPr>
          <p:cNvPr id="7"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jamming: our monitor vs PX4 (live)</a:t>
            </a:r>
            <a:endParaRPr lang="en-US" sz="1200" dirty="0"/>
          </a:p>
        </p:txBody>
      </p:sp>
      <p:sp>
        <p:nvSpPr>
          <p:cNvPr id="8" name="stat card 13 s"/>
          <p:cNvSpPr/>
          <p:nvPr/>
        </p:nvSpPr>
        <p:spPr>
          <a:xfrm>
            <a:off x="3383280" y="1325880"/>
            <a:ext cx="2606040" cy="1051560"/>
          </a:xfrm>
          <a:prstGeom prst="roundRect">
            <a:avLst>
              <a:gd name="adj" fmla="val 8696"/>
            </a:avLst>
          </a:prstGeom>
          <a:solidFill>
            <a:schemeClr val="tx2"/>
          </a:solidFill>
          <a:ln w="12700">
            <a:solidFill>
              <a:schemeClr val="tx2"/>
            </a:solidFill>
            <a:prstDash val="solid"/>
          </a:ln>
        </p:spPr>
      </p:sp>
      <p:sp>
        <p:nvSpPr>
          <p:cNvPr id="9"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13 s</a:t>
            </a:r>
            <a:endParaRPr lang="en-US" sz="2600" dirty="0"/>
          </a:p>
        </p:txBody>
      </p:sp>
      <p:sp>
        <p:nvSpPr>
          <p:cNvPr id="10"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0.5 m/s spoof caught (real flight data)</a:t>
            </a:r>
            <a:endParaRPr lang="en-US" sz="1200" dirty="0"/>
          </a:p>
        </p:txBody>
      </p:sp>
      <p:sp>
        <p:nvSpPr>
          <p:cNvPr id="11" name="stat card never"/>
          <p:cNvSpPr/>
          <p:nvPr/>
        </p:nvSpPr>
        <p:spPr>
          <a:xfrm>
            <a:off x="6217920" y="1325880"/>
            <a:ext cx="2606040" cy="1051560"/>
          </a:xfrm>
          <a:prstGeom prst="roundRect">
            <a:avLst>
              <a:gd name="adj" fmla="val 8696"/>
            </a:avLst>
          </a:prstGeom>
          <a:solidFill>
            <a:schemeClr val="tx2"/>
          </a:solidFill>
          <a:ln w="12700">
            <a:solidFill>
              <a:schemeClr val="tx2"/>
            </a:solidFill>
            <a:prstDash val="solid"/>
          </a:ln>
        </p:spPr>
      </p:sp>
      <p:sp>
        <p:nvSpPr>
          <p:cNvPr id="12"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3"/>
                </a:solidFill>
              </a:rPr>
              <a:t>never</a:t>
            </a:r>
            <a:endParaRPr lang="en-US" sz="2600" dirty="0"/>
          </a:p>
        </p:txBody>
      </p:sp>
      <p:sp>
        <p:nvSpPr>
          <p:cNvPr id="13"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PX4-style check notices that spoof</a:t>
            </a:r>
            <a:endParaRPr lang="en-US" sz="1200" dirty="0"/>
          </a:p>
        </p:txBody>
      </p:sp>
      <p:sp>
        <p:nvSpPr>
          <p:cNvPr id="14" name="stat card 2 / 50"/>
          <p:cNvSpPr/>
          <p:nvPr/>
        </p:nvSpPr>
        <p:spPr>
          <a:xfrm>
            <a:off x="9052560" y="1325880"/>
            <a:ext cx="2606040" cy="1051560"/>
          </a:xfrm>
          <a:prstGeom prst="roundRect">
            <a:avLst>
              <a:gd name="adj" fmla="val 8696"/>
            </a:avLst>
          </a:prstGeom>
          <a:solidFill>
            <a:schemeClr val="tx2"/>
          </a:solidFill>
          <a:ln w="12700">
            <a:solidFill>
              <a:schemeClr val="tx2"/>
            </a:solidFill>
            <a:prstDash val="solid"/>
          </a:ln>
        </p:spPr>
      </p:sp>
      <p:sp>
        <p:nvSpPr>
          <p:cNvPr id="15"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4"/>
                </a:solidFill>
              </a:rPr>
              <a:t>2 / 50</a:t>
            </a:r>
            <a:endParaRPr lang="en-US" sz="2600" dirty="0"/>
          </a:p>
        </p:txBody>
      </p:sp>
      <p:sp>
        <p:nvSpPr>
          <p:cNvPr id="16"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false alarms without attack</a:t>
            </a:r>
            <a:endParaRPr lang="en-US" sz="1200" dirty="0"/>
          </a:p>
        </p:txBody>
      </p:sp>
      <p:sp>
        <p:nvSpPr>
          <p:cNvPr id="17" name="Text 15"/>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chemeClr val="bg1"/>
                </a:solidFill>
              </a:rPr>
              <a:t>GPS noise is random — a spoofer always pushes the same way. </a:t>
            </a:r>
            <a:pPr indent="0" marL="0">
              <a:buNone/>
            </a:pPr>
            <a:r>
              <a:rPr lang="en-US" sz="1500" dirty="0">
                <a:solidFill>
                  <a:schemeClr val="bg2"/>
                </a:solidFill>
              </a:rPr>
              <a:t>We compare GPS with the drone's own motion sensors (IMU) over a 20 s window and catch the push.</a:t>
            </a:r>
            <a:endParaRPr lang="en-US" sz="1500" dirty="0"/>
          </a:p>
        </p:txBody>
      </p:sp>
      <p:sp>
        <p:nvSpPr>
          <p:cNvPr id="18" name="Spoofing detection on real PX4 data frame"/>
          <p:cNvSpPr/>
          <p:nvPr/>
        </p:nvSpPr>
        <p:spPr>
          <a:xfrm>
            <a:off x="530352" y="3136392"/>
            <a:ext cx="11146536" cy="3368757"/>
          </a:xfrm>
          <a:prstGeom prst="roundRect">
            <a:avLst>
              <a:gd name="adj" fmla="val 2171"/>
            </a:avLst>
          </a:prstGeom>
          <a:solidFill>
            <a:schemeClr val="bg1"/>
          </a:solidFill>
          <a:ln w="12700">
            <a:solidFill>
              <a:schemeClr val="bg1"/>
            </a:solidFill>
            <a:prstDash val="solid"/>
          </a:ln>
        </p:spPr>
      </p:sp>
      <p:pic>
        <p:nvPicPr>
          <p:cNvPr id="19"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NAVIGATE  ·  8.8 km without GPS, snowy day</a:t>
            </a:r>
            <a:endParaRPr lang="en-US" sz="1400" dirty="0"/>
          </a:p>
        </p:txBody>
      </p:sp>
      <p:sp>
        <p:nvSpPr>
          <p:cNvPr id="6" name="Long-range navigation in snow frame"/>
          <p:cNvSpPr/>
          <p:nvPr/>
        </p:nvSpPr>
        <p:spPr>
          <a:xfrm>
            <a:off x="530352" y="1719072"/>
            <a:ext cx="5522976" cy="2319719"/>
          </a:xfrm>
          <a:prstGeom prst="roundRect">
            <a:avLst>
              <a:gd name="adj" fmla="val 3153"/>
            </a:avLst>
          </a:prstGeom>
          <a:solidFill>
            <a:schemeClr val="bg1"/>
          </a:solidFill>
          <a:ln w="12700">
            <a:solidFill>
              <a:schemeClr val="bg1"/>
            </a:solidFill>
            <a:prstDash val="solid"/>
          </a:ln>
        </p:spPr>
      </p:sp>
      <p:pic>
        <p:nvPicPr>
          <p:cNvPr id="7"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8" name="stat card 1 974 m"/>
          <p:cNvSpPr/>
          <p:nvPr/>
        </p:nvSpPr>
        <p:spPr>
          <a:xfrm>
            <a:off x="548640" y="4249103"/>
            <a:ext cx="1737360" cy="1051560"/>
          </a:xfrm>
          <a:prstGeom prst="roundRect">
            <a:avLst>
              <a:gd name="adj" fmla="val 8696"/>
            </a:avLst>
          </a:prstGeom>
          <a:solidFill>
            <a:schemeClr val="tx2"/>
          </a:solidFill>
          <a:ln w="12700">
            <a:solidFill>
              <a:schemeClr val="tx2"/>
            </a:solidFill>
            <a:prstDash val="solid"/>
          </a:ln>
        </p:spPr>
      </p:sp>
      <p:sp>
        <p:nvSpPr>
          <p:cNvPr id="9"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1 974 m</a:t>
            </a:r>
            <a:endParaRPr lang="en-US" sz="2200" dirty="0"/>
          </a:p>
        </p:txBody>
      </p:sp>
      <p:sp>
        <p:nvSpPr>
          <p:cNvPr id="10"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IMU only</a:t>
            </a:r>
            <a:endParaRPr lang="en-US" sz="1200" dirty="0"/>
          </a:p>
        </p:txBody>
      </p:sp>
      <p:sp>
        <p:nvSpPr>
          <p:cNvPr id="11" name="stat card 1 874 m"/>
          <p:cNvSpPr/>
          <p:nvPr/>
        </p:nvSpPr>
        <p:spPr>
          <a:xfrm>
            <a:off x="2377440" y="4249103"/>
            <a:ext cx="1737360" cy="1051560"/>
          </a:xfrm>
          <a:prstGeom prst="roundRect">
            <a:avLst>
              <a:gd name="adj" fmla="val 8696"/>
            </a:avLst>
          </a:prstGeom>
          <a:solidFill>
            <a:schemeClr val="tx2"/>
          </a:solidFill>
          <a:ln w="12700">
            <a:solidFill>
              <a:schemeClr val="tx2"/>
            </a:solidFill>
            <a:prstDash val="solid"/>
          </a:ln>
        </p:spPr>
      </p:sp>
      <p:sp>
        <p:nvSpPr>
          <p:cNvPr id="12"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1 874 m</a:t>
            </a:r>
            <a:endParaRPr lang="en-US" sz="2200" dirty="0"/>
          </a:p>
        </p:txBody>
      </p:sp>
      <p:sp>
        <p:nvSpPr>
          <p:cNvPr id="13"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camera in snow (0/8 landmarks)</a:t>
            </a:r>
            <a:endParaRPr lang="en-US" sz="1200" dirty="0"/>
          </a:p>
        </p:txBody>
      </p:sp>
      <p:sp>
        <p:nvSpPr>
          <p:cNvPr id="14" name="stat card 14.5 m"/>
          <p:cNvSpPr/>
          <p:nvPr/>
        </p:nvSpPr>
        <p:spPr>
          <a:xfrm>
            <a:off x="4206240" y="4249103"/>
            <a:ext cx="1828800" cy="1051560"/>
          </a:xfrm>
          <a:prstGeom prst="roundRect">
            <a:avLst>
              <a:gd name="adj" fmla="val 8696"/>
            </a:avLst>
          </a:prstGeom>
          <a:solidFill>
            <a:schemeClr val="tx2"/>
          </a:solidFill>
          <a:ln w="12700">
            <a:solidFill>
              <a:schemeClr val="tx2"/>
            </a:solidFill>
            <a:prstDash val="solid"/>
          </a:ln>
        </p:spPr>
      </p:sp>
      <p:sp>
        <p:nvSpPr>
          <p:cNvPr id="15"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14.5 m</a:t>
            </a:r>
            <a:endParaRPr lang="en-US" sz="2200" dirty="0"/>
          </a:p>
        </p:txBody>
      </p:sp>
      <p:sp>
        <p:nvSpPr>
          <p:cNvPr id="16"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chemeClr val="bg2"/>
                </a:solidFill>
              </a:rPr>
              <a:t>off: terrain matching</a:t>
            </a:r>
            <a:endParaRPr lang="en-US" sz="1200" dirty="0"/>
          </a:p>
        </p:txBody>
      </p:sp>
      <p:sp>
        <p:nvSpPr>
          <p:cNvPr id="17" name="caption"/>
          <p:cNvSpPr txBox="1"/>
          <p:nvPr/>
        </p:nvSpPr>
        <p:spPr>
          <a:xfrm>
            <a:off x="548640" y="5392103"/>
            <a:ext cx="5486400" cy="548640"/>
          </a:xfrm>
          <a:prstGeom prst="rect">
            <a:avLst/>
          </a:prstGeom>
          <a:noFill/>
          <a:ln/>
        </p:spPr>
        <p:txBody>
          <a:bodyPr wrap="square" lIns="0" tIns="0" rIns="0" bIns="0" rtlCol="0" anchor="t"/>
          <a:lstStyle/>
          <a:p>
            <a:pPr indent="0" marL="0">
              <a:buNone/>
            </a:pPr>
            <a:r>
              <a:rPr lang="en-US" sz="1100" i="1" dirty="0">
                <a:solidFill>
                  <a:schemeClr val="accent5"/>
                </a:solidFill>
              </a:rPr>
              <a:t>Laser altimeter vs height map: the shape of the hills survives snow. Re-tested on the REAL Bråviken height map (SRTM) — see slide 10.</a:t>
            </a:r>
            <a:endParaRPr lang="en-US" sz="1100" dirty="0"/>
          </a:p>
        </p:txBody>
      </p:sp>
      <p:sp>
        <p:nvSpPr>
          <p:cNvPr id="18" name="Text 15"/>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LOCATE  ·  every jammer gives itself away</a:t>
            </a:r>
            <a:endParaRPr lang="en-US" sz="1400" dirty="0"/>
          </a:p>
        </p:txBody>
      </p:sp>
      <p:sp>
        <p:nvSpPr>
          <p:cNvPr id="19" name="Jammer localisation with two drones frame"/>
          <p:cNvSpPr/>
          <p:nvPr/>
        </p:nvSpPr>
        <p:spPr>
          <a:xfrm>
            <a:off x="6245352" y="1719072"/>
            <a:ext cx="5431536" cy="2249424"/>
          </a:xfrm>
          <a:prstGeom prst="roundRect">
            <a:avLst>
              <a:gd name="adj" fmla="val 3252"/>
            </a:avLst>
          </a:prstGeom>
          <a:solidFill>
            <a:schemeClr val="bg1"/>
          </a:solidFill>
          <a:ln w="12700">
            <a:solidFill>
              <a:schemeClr val="bg1"/>
            </a:solidFill>
            <a:prstDash val="solid"/>
          </a:ln>
        </p:spPr>
      </p:sp>
      <p:pic>
        <p:nvPicPr>
          <p:cNvPr id="20"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1" name="stat card ~300 m"/>
          <p:cNvSpPr/>
          <p:nvPr/>
        </p:nvSpPr>
        <p:spPr>
          <a:xfrm>
            <a:off x="6263640" y="4178808"/>
            <a:ext cx="2606040" cy="1051560"/>
          </a:xfrm>
          <a:prstGeom prst="roundRect">
            <a:avLst>
              <a:gd name="adj" fmla="val 8696"/>
            </a:avLst>
          </a:prstGeom>
          <a:solidFill>
            <a:schemeClr val="tx2"/>
          </a:solidFill>
          <a:ln w="12700">
            <a:solidFill>
              <a:schemeClr val="tx2"/>
            </a:solidFill>
            <a:prstDash val="solid"/>
          </a:ln>
        </p:spPr>
      </p:sp>
      <p:sp>
        <p:nvSpPr>
          <p:cNvPr id="22"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6"/>
                </a:solidFill>
              </a:rPr>
              <a:t>~300 m</a:t>
            </a:r>
            <a:endParaRPr lang="en-US" sz="2200" dirty="0"/>
          </a:p>
        </p:txBody>
      </p:sp>
      <p:sp>
        <p:nvSpPr>
          <p:cNvPr id="23"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one drone (typical)</a:t>
            </a:r>
            <a:endParaRPr lang="en-US" sz="1200" dirty="0"/>
          </a:p>
        </p:txBody>
      </p:sp>
      <p:sp>
        <p:nvSpPr>
          <p:cNvPr id="24" name="stat card ~120 m"/>
          <p:cNvSpPr/>
          <p:nvPr/>
        </p:nvSpPr>
        <p:spPr>
          <a:xfrm>
            <a:off x="9052560" y="4178808"/>
            <a:ext cx="2606040" cy="1051560"/>
          </a:xfrm>
          <a:prstGeom prst="roundRect">
            <a:avLst>
              <a:gd name="adj" fmla="val 8696"/>
            </a:avLst>
          </a:prstGeom>
          <a:solidFill>
            <a:schemeClr val="tx2"/>
          </a:solidFill>
          <a:ln w="12700">
            <a:solidFill>
              <a:schemeClr val="tx2"/>
            </a:solidFill>
            <a:prstDash val="solid"/>
          </a:ln>
        </p:spPr>
      </p:sp>
      <p:sp>
        <p:nvSpPr>
          <p:cNvPr id="25"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~120 m</a:t>
            </a:r>
            <a:endParaRPr lang="en-US" sz="2200" dirty="0"/>
          </a:p>
        </p:txBody>
      </p:sp>
      <p:sp>
        <p:nvSpPr>
          <p:cNvPr id="26"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two drones (typical, 10 runs)</a:t>
            </a:r>
            <a:endParaRPr lang="en-US" sz="1200" dirty="0"/>
          </a:p>
        </p:txBody>
      </p:sp>
      <p:sp>
        <p:nvSpPr>
          <p:cNvPr id="27"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AI mission brain run frame"/>
          <p:cNvSpPr/>
          <p:nvPr/>
        </p:nvSpPr>
        <p:spPr>
          <a:xfrm>
            <a:off x="530352" y="1353312"/>
            <a:ext cx="6803136" cy="3131820"/>
          </a:xfrm>
          <a:prstGeom prst="roundRect">
            <a:avLst>
              <a:gd name="adj" fmla="val 2336"/>
            </a:avLst>
          </a:prstGeom>
          <a:solidFill>
            <a:schemeClr val="bg1"/>
          </a:solidFill>
          <a:ln w="12700">
            <a:solidFill>
              <a:schemeClr val="bg1"/>
            </a:solidFill>
            <a:prstDash val="solid"/>
          </a:ln>
        </p:spPr>
      </p:sp>
      <p:pic>
        <p:nvPicPr>
          <p:cNvPr id="6"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7"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chemeClr val="accent5"/>
                </a:solidFill>
              </a:rPr>
              <a:t>Shown: offline rule-based mode. Claude mode uses the same tools and safety checks.</a:t>
            </a:r>
            <a:endParaRPr lang="en-US" sz="1100" dirty="0"/>
          </a:p>
        </p:txBody>
      </p:sp>
      <p:sp>
        <p:nvSpPr>
          <p:cNvPr id="8" name="icon circle AI decides what"/>
          <p:cNvSpPr/>
          <p:nvPr/>
        </p:nvSpPr>
        <p:spPr>
          <a:xfrm>
            <a:off x="7680960" y="1463040"/>
            <a:ext cx="548640" cy="548640"/>
          </a:xfrm>
          <a:prstGeom prst="ellipse">
            <a:avLst/>
          </a:prstGeom>
          <a:solidFill>
            <a:schemeClr val="tx2"/>
          </a:solidFill>
          <a:ln w="19050">
            <a:solidFill>
              <a:srgbClr val="F26B1D"/>
            </a:solidFill>
            <a:prstDash val="solid"/>
          </a:ln>
        </p:spPr>
      </p:sp>
      <p:pic>
        <p:nvPicPr>
          <p:cNvPr id="9"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0"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chemeClr val="bg1"/>
                </a:solidFill>
              </a:rPr>
              <a:t>AI decides what</a:t>
            </a:r>
            <a:endParaRPr lang="en-US" sz="1500" dirty="0"/>
          </a:p>
          <a:p>
            <a:pPr indent="0" marL="0">
              <a:buNone/>
            </a:pPr>
            <a:r>
              <a:rPr lang="en-US" sz="1300" dirty="0">
                <a:solidFill>
                  <a:schemeClr val="bg2"/>
                </a:solidFill>
              </a:rPr>
              <a:t>Assess, measure, plan — explains each decision in plain language</a:t>
            </a:r>
            <a:endParaRPr lang="en-US" sz="1500" dirty="0"/>
          </a:p>
        </p:txBody>
      </p:sp>
      <p:sp>
        <p:nvSpPr>
          <p:cNvPr id="11" name="icon circle Tested code decides how"/>
          <p:cNvSpPr/>
          <p:nvPr/>
        </p:nvSpPr>
        <p:spPr>
          <a:xfrm>
            <a:off x="7680960" y="2514600"/>
            <a:ext cx="548640" cy="548640"/>
          </a:xfrm>
          <a:prstGeom prst="ellipse">
            <a:avLst/>
          </a:prstGeom>
          <a:solidFill>
            <a:schemeClr val="tx2"/>
          </a:solidFill>
          <a:ln w="19050">
            <a:solidFill>
              <a:srgbClr val="F26B1D"/>
            </a:solidFill>
            <a:prstDash val="solid"/>
          </a:ln>
        </p:spPr>
      </p:sp>
      <p:pic>
        <p:nvPicPr>
          <p:cNvPr id="12"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3"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chemeClr val="bg1"/>
                </a:solidFill>
              </a:rPr>
              <a:t>Tested code decides how</a:t>
            </a:r>
            <a:endParaRPr lang="en-US" sz="1500" dirty="0"/>
          </a:p>
          <a:p>
            <a:pPr indent="0" marL="0">
              <a:buNone/>
            </a:pPr>
            <a:r>
              <a:rPr lang="en-US" sz="1300" dirty="0">
                <a:solidFill>
                  <a:schemeClr val="bg2"/>
                </a:solidFill>
              </a:rPr>
              <a:t>4 safe tools: measure, plan route, fly, broadcast</a:t>
            </a:r>
            <a:endParaRPr lang="en-US" sz="1500" dirty="0"/>
          </a:p>
        </p:txBody>
      </p:sp>
      <p:sp>
        <p:nvSpPr>
          <p:cNvPr id="14" name="icon circle Safety check on every action"/>
          <p:cNvSpPr/>
          <p:nvPr/>
        </p:nvSpPr>
        <p:spPr>
          <a:xfrm>
            <a:off x="7680960" y="3566160"/>
            <a:ext cx="548640" cy="548640"/>
          </a:xfrm>
          <a:prstGeom prst="ellipse">
            <a:avLst/>
          </a:prstGeom>
          <a:solidFill>
            <a:schemeClr val="tx2"/>
          </a:solidFill>
          <a:ln w="19050">
            <a:solidFill>
              <a:srgbClr val="F26B1D"/>
            </a:solidFill>
            <a:prstDash val="solid"/>
          </a:ln>
        </p:spPr>
      </p:sp>
      <p:pic>
        <p:nvPicPr>
          <p:cNvPr id="15"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6"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chemeClr val="bg1"/>
                </a:solidFill>
              </a:rPr>
              <a:t>Safety check on every action</a:t>
            </a:r>
            <a:endParaRPr lang="en-US" sz="1500" dirty="0"/>
          </a:p>
          <a:p>
            <a:pPr indent="0" marL="0">
              <a:buNone/>
            </a:pPr>
            <a:r>
              <a:rPr lang="en-US" sz="1300" dirty="0">
                <a:solidFill>
                  <a:schemeClr val="bg2"/>
                </a:solidFill>
              </a:rPr>
              <a:t>Battery reserve and limits — the AI never flies the drone</a:t>
            </a:r>
            <a:endParaRPr lang="en-US" sz="1500" dirty="0"/>
          </a:p>
        </p:txBody>
      </p:sp>
      <p:sp>
        <p:nvSpPr>
          <p:cNvPr id="17" name="stat card aborted"/>
          <p:cNvSpPr/>
          <p:nvPr/>
        </p:nvSpPr>
        <p:spPr>
          <a:xfrm>
            <a:off x="7680960" y="4754880"/>
            <a:ext cx="1874520" cy="1051560"/>
          </a:xfrm>
          <a:prstGeom prst="roundRect">
            <a:avLst>
              <a:gd name="adj" fmla="val 8696"/>
            </a:avLst>
          </a:prstGeom>
          <a:solidFill>
            <a:schemeClr val="tx2"/>
          </a:solidFill>
          <a:ln w="12700">
            <a:solidFill>
              <a:schemeClr val="tx2"/>
            </a:solidFill>
            <a:prstDash val="solid"/>
          </a:ln>
        </p:spPr>
      </p:sp>
      <p:sp>
        <p:nvSpPr>
          <p:cNvPr id="18"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aborted</a:t>
            </a:r>
            <a:endParaRPr lang="en-US" sz="2200" dirty="0"/>
          </a:p>
        </p:txBody>
      </p:sp>
      <p:sp>
        <p:nvSpPr>
          <p:cNvPr id="19"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chemeClr val="bg2"/>
                </a:solidFill>
              </a:rPr>
              <a:t>today: GPS lost → flies home</a:t>
            </a:r>
            <a:endParaRPr lang="en-US" sz="1200" dirty="0"/>
          </a:p>
        </p:txBody>
      </p:sp>
      <p:sp>
        <p:nvSpPr>
          <p:cNvPr id="20" name="stat card 8 m"/>
          <p:cNvSpPr/>
          <p:nvPr/>
        </p:nvSpPr>
        <p:spPr>
          <a:xfrm>
            <a:off x="9692640" y="4754880"/>
            <a:ext cx="1965960" cy="1051560"/>
          </a:xfrm>
          <a:prstGeom prst="roundRect">
            <a:avLst>
              <a:gd name="adj" fmla="val 8696"/>
            </a:avLst>
          </a:prstGeom>
          <a:solidFill>
            <a:schemeClr val="tx2"/>
          </a:solidFill>
          <a:ln w="12700">
            <a:solidFill>
              <a:schemeClr val="tx2"/>
            </a:solidFill>
            <a:prstDash val="solid"/>
          </a:ln>
        </p:spPr>
      </p:sp>
      <p:sp>
        <p:nvSpPr>
          <p:cNvPr id="21"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8 m</a:t>
            </a:r>
            <a:endParaRPr lang="en-US" sz="2200" dirty="0"/>
          </a:p>
        </p:txBody>
      </p:sp>
      <p:sp>
        <p:nvSpPr>
          <p:cNvPr id="22"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chemeClr val="bg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Jamming radar: animated swarm reroute replay frame"/>
          <p:cNvSpPr/>
          <p:nvPr/>
        </p:nvSpPr>
        <p:spPr>
          <a:xfrm>
            <a:off x="530352" y="1307592"/>
            <a:ext cx="7443216" cy="4600956"/>
          </a:xfrm>
          <a:prstGeom prst="roundRect">
            <a:avLst>
              <a:gd name="adj" fmla="val 1590"/>
            </a:avLst>
          </a:prstGeom>
          <a:solidFill>
            <a:schemeClr val="bg1"/>
          </a:solidFill>
          <a:ln w="12700">
            <a:solidFill>
              <a:schemeClr val="bg1"/>
            </a:solidFill>
            <a:prstDash val="solid"/>
          </a:ln>
        </p:spPr>
      </p:sp>
      <p:pic>
        <p:nvPicPr>
          <p:cNvPr id="6" name="Jamming radar: animated swarm reroute replay" descr="Jamming radar: animated swarm reroute replay">    </p:cNvPr>
          <p:cNvPicPr>
            <a:picLocks noChangeAspect="1"/>
          </p:cNvPicPr>
          <p:nvPr/>
        </p:nvPicPr>
        <p:blipFill>
          <a:blip r:embed="rId1"/>
          <a:stretch>
            <a:fillRect/>
          </a:stretch>
        </p:blipFill>
        <p:spPr>
          <a:xfrm>
            <a:off x="594360" y="1371600"/>
            <a:ext cx="7315200" cy="4472940"/>
          </a:xfrm>
          <a:prstGeom prst="rect">
            <a:avLst/>
          </a:prstGeom>
        </p:spPr>
      </p:pic>
      <p:sp>
        <p:nvSpPr>
          <p:cNvPr id="7" name="caption"/>
          <p:cNvSpPr txBox="1"/>
          <p:nvPr/>
        </p:nvSpPr>
        <p:spPr>
          <a:xfrm>
            <a:off x="548640" y="5981700"/>
            <a:ext cx="7406640" cy="320040"/>
          </a:xfrm>
          <a:prstGeom prst="rect">
            <a:avLst/>
          </a:prstGeom>
          <a:noFill/>
          <a:ln/>
        </p:spPr>
        <p:txBody>
          <a:bodyPr wrap="square" lIns="0" tIns="0" rIns="0" bIns="0" rtlCol="0" anchor="t"/>
          <a:lstStyle/>
          <a:p>
            <a:pPr indent="0" marL="0">
              <a:buNone/>
            </a:pPr>
            <a:r>
              <a:rPr lang="en-US" sz="1100" i="1" dirty="0">
                <a:solidFill>
                  <a:schemeClr val="accent5"/>
                </a:solidFill>
              </a:rPr>
              <a:t>Flight-radar replay of our swarm simulation — drone expert Isabella's idea, built by Guled</a:t>
            </a:r>
            <a:endParaRPr lang="en-US" sz="1100" dirty="0"/>
          </a:p>
        </p:txBody>
      </p:sp>
      <p:sp>
        <p:nvSpPr>
          <p:cNvPr id="8" name="stat card 0 / 3"/>
          <p:cNvSpPr/>
          <p:nvPr/>
        </p:nvSpPr>
        <p:spPr>
          <a:xfrm>
            <a:off x="8412480" y="1371600"/>
            <a:ext cx="3246120" cy="960120"/>
          </a:xfrm>
          <a:prstGeom prst="roundRect">
            <a:avLst>
              <a:gd name="adj" fmla="val 9524"/>
            </a:avLst>
          </a:prstGeom>
          <a:solidFill>
            <a:schemeClr val="tx2"/>
          </a:solidFill>
          <a:ln w="12700">
            <a:solidFill>
              <a:schemeClr val="tx2"/>
            </a:solidFill>
            <a:prstDash val="solid"/>
          </a:ln>
        </p:spPr>
      </p:sp>
      <p:sp>
        <p:nvSpPr>
          <p:cNvPr id="9"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3"/>
                </a:solidFill>
              </a:rPr>
              <a:t>0 / 3</a:t>
            </a:r>
            <a:endParaRPr lang="en-US" sz="2400" dirty="0"/>
          </a:p>
        </p:txBody>
      </p:sp>
      <p:sp>
        <p:nvSpPr>
          <p:cNvPr id="10"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chemeClr val="bg2"/>
                </a:solidFill>
              </a:rPr>
              <a:t>reach the target today</a:t>
            </a:r>
            <a:endParaRPr lang="en-US" sz="1200" dirty="0"/>
          </a:p>
        </p:txBody>
      </p:sp>
      <p:sp>
        <p:nvSpPr>
          <p:cNvPr id="11" name="stat card 24 / 24"/>
          <p:cNvSpPr/>
          <p:nvPr/>
        </p:nvSpPr>
        <p:spPr>
          <a:xfrm>
            <a:off x="8412480" y="2468880"/>
            <a:ext cx="3246120" cy="960120"/>
          </a:xfrm>
          <a:prstGeom prst="roundRect">
            <a:avLst>
              <a:gd name="adj" fmla="val 9524"/>
            </a:avLst>
          </a:prstGeom>
          <a:solidFill>
            <a:schemeClr val="tx2"/>
          </a:solidFill>
          <a:ln w="12700">
            <a:solidFill>
              <a:schemeClr val="tx2"/>
            </a:solidFill>
            <a:prstDash val="solid"/>
          </a:ln>
        </p:spPr>
      </p:sp>
      <p:sp>
        <p:nvSpPr>
          <p:cNvPr id="12"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24 / 24</a:t>
            </a:r>
            <a:endParaRPr lang="en-US" sz="2400" dirty="0"/>
          </a:p>
        </p:txBody>
      </p:sp>
      <p:sp>
        <p:nvSpPr>
          <p:cNvPr id="13"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 our swarm (8 random runs)</a:t>
            </a:r>
            <a:endParaRPr lang="en-US" sz="1200" dirty="0"/>
          </a:p>
        </p:txBody>
      </p:sp>
      <p:sp>
        <p:nvSpPr>
          <p:cNvPr id="14" name="stat card 16 s vs 68 s"/>
          <p:cNvSpPr/>
          <p:nvPr/>
        </p:nvSpPr>
        <p:spPr>
          <a:xfrm>
            <a:off x="8412480" y="3566160"/>
            <a:ext cx="3246120" cy="960120"/>
          </a:xfrm>
          <a:prstGeom prst="roundRect">
            <a:avLst>
              <a:gd name="adj" fmla="val 9524"/>
            </a:avLst>
          </a:prstGeom>
          <a:solidFill>
            <a:schemeClr val="tx2"/>
          </a:solidFill>
          <a:ln w="12700">
            <a:solidFill>
              <a:schemeClr val="tx2"/>
            </a:solidFill>
            <a:prstDash val="solid"/>
          </a:ln>
        </p:spPr>
      </p:sp>
      <p:sp>
        <p:nvSpPr>
          <p:cNvPr id="15"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16 s vs 68 s</a:t>
            </a:r>
            <a:endParaRPr lang="en-US" sz="2400" dirty="0"/>
          </a:p>
        </p:txBody>
      </p:sp>
      <p:sp>
        <p:nvSpPr>
          <p:cNvPr id="16"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without GPS: swarm vs each alone</a:t>
            </a:r>
            <a:endParaRPr lang="en-US" sz="1200" dirty="0"/>
          </a:p>
        </p:txBody>
      </p:sp>
      <p:sp>
        <p:nvSpPr>
          <p:cNvPr id="17" name="stat card −16 %"/>
          <p:cNvSpPr/>
          <p:nvPr/>
        </p:nvSpPr>
        <p:spPr>
          <a:xfrm>
            <a:off x="8412480" y="4663440"/>
            <a:ext cx="3246120" cy="960120"/>
          </a:xfrm>
          <a:prstGeom prst="roundRect">
            <a:avLst>
              <a:gd name="adj" fmla="val 9524"/>
            </a:avLst>
          </a:prstGeom>
          <a:solidFill>
            <a:schemeClr val="tx2"/>
          </a:solidFill>
          <a:ln w="12700">
            <a:solidFill>
              <a:schemeClr val="tx2"/>
            </a:solidFill>
            <a:prstDash val="solid"/>
          </a:ln>
        </p:spPr>
      </p:sp>
      <p:sp>
        <p:nvSpPr>
          <p:cNvPr id="18"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4"/>
                </a:solidFill>
              </a:rPr>
              <a:t>−16 %</a:t>
            </a:r>
            <a:endParaRPr lang="en-US" sz="2400" dirty="0"/>
          </a:p>
        </p:txBody>
      </p:sp>
      <p:sp>
        <p:nvSpPr>
          <p:cNvPr id="19"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chemeClr val="bg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Animated time-lapse of the live PX4 mission in Gazebo frame"/>
          <p:cNvSpPr/>
          <p:nvPr/>
        </p:nvSpPr>
        <p:spPr>
          <a:xfrm>
            <a:off x="530352" y="1307592"/>
            <a:ext cx="5020056" cy="3445431"/>
          </a:xfrm>
          <a:prstGeom prst="roundRect">
            <a:avLst>
              <a:gd name="adj" fmla="val 2123"/>
            </a:avLst>
          </a:prstGeom>
          <a:solidFill>
            <a:schemeClr val="bg1"/>
          </a:solidFill>
          <a:ln w="12700">
            <a:solidFill>
              <a:schemeClr val="bg1"/>
            </a:solidFill>
            <a:prstDash val="solid"/>
          </a:ln>
        </p:spPr>
      </p:sp>
      <p:pic>
        <p:nvPicPr>
          <p:cNvPr id="6" name="Animated time-lapse of the live PX4 mission in Gazebo" descr="Animated time-lapse of the live PX4 mission in Gazebo">    </p:cNvPr>
          <p:cNvPicPr>
            <a:picLocks noChangeAspect="1"/>
          </p:cNvPicPr>
          <p:nvPr/>
        </p:nvPicPr>
        <p:blipFill>
          <a:blip r:embed="rId1"/>
          <a:stretch>
            <a:fillRect/>
          </a:stretch>
        </p:blipFill>
        <p:spPr>
          <a:xfrm>
            <a:off x="594360" y="1371600"/>
            <a:ext cx="4892040" cy="3317415"/>
          </a:xfrm>
          <a:prstGeom prst="rect">
            <a:avLst/>
          </a:prstGeom>
        </p:spPr>
      </p:pic>
      <p:sp>
        <p:nvSpPr>
          <p:cNvPr id="7" name="caption"/>
          <p:cNvSpPr txBox="1"/>
          <p:nvPr/>
        </p:nvSpPr>
        <p:spPr>
          <a:xfrm>
            <a:off x="548640" y="4798743"/>
            <a:ext cx="5349240" cy="320040"/>
          </a:xfrm>
          <a:prstGeom prst="rect">
            <a:avLst/>
          </a:prstGeom>
          <a:noFill/>
          <a:ln/>
        </p:spPr>
        <p:txBody>
          <a:bodyPr wrap="square" lIns="0" tIns="0" rIns="0" bIns="0" rtlCol="0" anchor="t"/>
          <a:lstStyle/>
          <a:p>
            <a:pPr indent="0" marL="0">
              <a:buNone/>
            </a:pPr>
            <a:r>
              <a:rPr lang="en-US" sz="1100" i="1" dirty="0">
                <a:solidFill>
                  <a:schemeClr val="accent5"/>
                </a:solidFill>
              </a:rPr>
              <a:t>Recorded live from Gazebo (time-lapse). Sharper video: media/gazebo_mission.mp4</a:t>
            </a:r>
            <a:endParaRPr lang="en-US" sz="1100" dirty="0"/>
          </a:p>
        </p:txBody>
      </p:sp>
      <p:sp>
        <p:nvSpPr>
          <p:cNvPr id="8" name="Mission app after a live run frame"/>
          <p:cNvSpPr/>
          <p:nvPr/>
        </p:nvSpPr>
        <p:spPr>
          <a:xfrm>
            <a:off x="5833872" y="1307592"/>
            <a:ext cx="5843016" cy="3593887"/>
          </a:xfrm>
          <a:prstGeom prst="roundRect">
            <a:avLst>
              <a:gd name="adj" fmla="val 2035"/>
            </a:avLst>
          </a:prstGeom>
          <a:solidFill>
            <a:schemeClr val="bg1"/>
          </a:solidFill>
          <a:ln w="12700">
            <a:solidFill>
              <a:schemeClr val="bg1"/>
            </a:solidFill>
            <a:prstDash val="solid"/>
          </a:ln>
        </p:spPr>
      </p:sp>
      <p:pic>
        <p:nvPicPr>
          <p:cNvPr id="9" name="Mission app after a live run" descr="Mission app after a live run">    </p:cNvPr>
          <p:cNvPicPr>
            <a:picLocks noChangeAspect="1"/>
          </p:cNvPicPr>
          <p:nvPr/>
        </p:nvPicPr>
        <p:blipFill>
          <a:blip r:embed="rId2"/>
          <a:stretch>
            <a:fillRect/>
          </a:stretch>
        </p:blipFill>
        <p:spPr>
          <a:xfrm>
            <a:off x="5897880" y="1371600"/>
            <a:ext cx="5715000" cy="3465871"/>
          </a:xfrm>
          <a:prstGeom prst="rect">
            <a:avLst/>
          </a:prstGeom>
        </p:spPr>
      </p:pic>
      <p:sp>
        <p:nvSpPr>
          <p:cNvPr id="10" name="caption"/>
          <p:cNvSpPr txBox="1"/>
          <p:nvPr/>
        </p:nvSpPr>
        <p:spPr>
          <a:xfrm>
            <a:off x="5852160" y="4947199"/>
            <a:ext cx="5806440" cy="320040"/>
          </a:xfrm>
          <a:prstGeom prst="rect">
            <a:avLst/>
          </a:prstGeom>
          <a:noFill/>
          <a:ln/>
        </p:spPr>
        <p:txBody>
          <a:bodyPr wrap="square" lIns="0" tIns="0" rIns="0" bIns="0" rtlCol="0" anchor="t"/>
          <a:lstStyle/>
          <a:p>
            <a:pPr indent="0" marL="0">
              <a:buNone/>
            </a:pPr>
            <a:r>
              <a:rPr lang="en-US" sz="1100" i="1" dirty="0">
                <a:solidFill>
                  <a:schemeClr val="accent5"/>
                </a:solidFill>
              </a:rPr>
              <a:t>Our mission app: every drone's position, GPS state and the shared danger zone</a:t>
            </a:r>
            <a:endParaRPr lang="en-US" sz="1100" dirty="0"/>
          </a:p>
        </p:txBody>
      </p:sp>
      <p:sp>
        <p:nvSpPr>
          <p:cNvPr id="11" name="stat card 1 / 3"/>
          <p:cNvSpPr/>
          <p:nvPr/>
        </p:nvSpPr>
        <p:spPr>
          <a:xfrm>
            <a:off x="548640" y="5166360"/>
            <a:ext cx="2743200" cy="1051560"/>
          </a:xfrm>
          <a:prstGeom prst="roundRect">
            <a:avLst>
              <a:gd name="adj" fmla="val 8696"/>
            </a:avLst>
          </a:prstGeom>
          <a:solidFill>
            <a:schemeClr val="tx2"/>
          </a:solidFill>
          <a:ln w="12700">
            <a:solidFill>
              <a:schemeClr val="tx2"/>
            </a:solidFill>
            <a:prstDash val="solid"/>
          </a:ln>
        </p:spPr>
      </p:sp>
      <p:sp>
        <p:nvSpPr>
          <p:cNvPr id="12" name="stat value 1 / 3"/>
          <p:cNvSpPr txBox="1"/>
          <p:nvPr/>
        </p:nvSpPr>
        <p:spPr>
          <a:xfrm>
            <a:off x="68580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1 / 3</a:t>
            </a:r>
            <a:endParaRPr lang="en-US" sz="2400" dirty="0"/>
          </a:p>
        </p:txBody>
      </p:sp>
      <p:sp>
        <p:nvSpPr>
          <p:cNvPr id="13" name="stat label 1 / 3"/>
          <p:cNvSpPr txBox="1"/>
          <p:nvPr/>
        </p:nvSpPr>
        <p:spPr>
          <a:xfrm>
            <a:off x="68580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drones ever jammed (the scout)</a:t>
            </a:r>
            <a:endParaRPr lang="en-US" sz="1200" dirty="0"/>
          </a:p>
        </p:txBody>
      </p:sp>
      <p:sp>
        <p:nvSpPr>
          <p:cNvPr id="14" name="stat card 3 / 3"/>
          <p:cNvSpPr/>
          <p:nvPr/>
        </p:nvSpPr>
        <p:spPr>
          <a:xfrm>
            <a:off x="3429000" y="5166360"/>
            <a:ext cx="2743200" cy="1051560"/>
          </a:xfrm>
          <a:prstGeom prst="roundRect">
            <a:avLst>
              <a:gd name="adj" fmla="val 8696"/>
            </a:avLst>
          </a:prstGeom>
          <a:solidFill>
            <a:schemeClr val="tx2"/>
          </a:solidFill>
          <a:ln w="12700">
            <a:solidFill>
              <a:schemeClr val="tx2"/>
            </a:solidFill>
            <a:prstDash val="solid"/>
          </a:ln>
        </p:spPr>
      </p:sp>
      <p:sp>
        <p:nvSpPr>
          <p:cNvPr id="15" name="stat value 3 / 3"/>
          <p:cNvSpPr txBox="1"/>
          <p:nvPr/>
        </p:nvSpPr>
        <p:spPr>
          <a:xfrm>
            <a:off x="356616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 / 3</a:t>
            </a:r>
            <a:endParaRPr lang="en-US" sz="2400" dirty="0"/>
          </a:p>
        </p:txBody>
      </p:sp>
      <p:sp>
        <p:nvSpPr>
          <p:cNvPr id="16" name="stat label 3 / 3"/>
          <p:cNvSpPr txBox="1"/>
          <p:nvPr/>
        </p:nvSpPr>
        <p:spPr>
          <a:xfrm>
            <a:off x="356616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on station at the target</a:t>
            </a:r>
            <a:endParaRPr lang="en-US" sz="1200" dirty="0"/>
          </a:p>
        </p:txBody>
      </p:sp>
      <p:sp>
        <p:nvSpPr>
          <p:cNvPr id="17" name="stat card 33–38 m"/>
          <p:cNvSpPr/>
          <p:nvPr/>
        </p:nvSpPr>
        <p:spPr>
          <a:xfrm>
            <a:off x="6263640" y="5166360"/>
            <a:ext cx="2606040" cy="1051560"/>
          </a:xfrm>
          <a:prstGeom prst="roundRect">
            <a:avLst>
              <a:gd name="adj" fmla="val 8696"/>
            </a:avLst>
          </a:prstGeom>
          <a:solidFill>
            <a:schemeClr val="tx2"/>
          </a:solidFill>
          <a:ln w="12700">
            <a:solidFill>
              <a:schemeClr val="tx2"/>
            </a:solidFill>
            <a:prstDash val="solid"/>
          </a:ln>
        </p:spPr>
      </p:sp>
      <p:sp>
        <p:nvSpPr>
          <p:cNvPr id="18" name="stat value 33–38 m"/>
          <p:cNvSpPr txBox="1"/>
          <p:nvPr/>
        </p:nvSpPr>
        <p:spPr>
          <a:xfrm>
            <a:off x="6400800" y="5239512"/>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4"/>
                </a:solidFill>
              </a:rPr>
              <a:t>33–38 m</a:t>
            </a:r>
            <a:endParaRPr lang="en-US" sz="2400" dirty="0"/>
          </a:p>
        </p:txBody>
      </p:sp>
      <p:sp>
        <p:nvSpPr>
          <p:cNvPr id="19" name="stat label 33–38 m"/>
          <p:cNvSpPr txBox="1"/>
          <p:nvPr/>
        </p:nvSpPr>
        <p:spPr>
          <a:xfrm>
            <a:off x="6400800" y="5836158"/>
            <a:ext cx="2331720" cy="310896"/>
          </a:xfrm>
          <a:prstGeom prst="rect">
            <a:avLst/>
          </a:prstGeom>
          <a:noFill/>
          <a:ln/>
        </p:spPr>
        <p:txBody>
          <a:bodyPr wrap="square" lIns="0" tIns="0" rIns="0" bIns="0" rtlCol="0" anchor="t"/>
          <a:lstStyle/>
          <a:p>
            <a:pPr indent="0" marL="0">
              <a:buNone/>
            </a:pPr>
            <a:r>
              <a:rPr lang="en-US" sz="1200" dirty="0">
                <a:solidFill>
                  <a:schemeClr val="bg2"/>
                </a:solidFill>
              </a:rPr>
              <a:t>stand-off, never inside the building</a:t>
            </a:r>
            <a:endParaRPr lang="en-US" sz="1200" dirty="0"/>
          </a:p>
        </p:txBody>
      </p:sp>
      <p:sp>
        <p:nvSpPr>
          <p:cNvPr id="20" name="stat card 7"/>
          <p:cNvSpPr/>
          <p:nvPr/>
        </p:nvSpPr>
        <p:spPr>
          <a:xfrm>
            <a:off x="9006840" y="5166360"/>
            <a:ext cx="2651760" cy="1051560"/>
          </a:xfrm>
          <a:prstGeom prst="roundRect">
            <a:avLst>
              <a:gd name="adj" fmla="val 8696"/>
            </a:avLst>
          </a:prstGeom>
          <a:solidFill>
            <a:schemeClr val="tx2"/>
          </a:solidFill>
          <a:ln w="12700">
            <a:solidFill>
              <a:schemeClr val="tx2"/>
            </a:solidFill>
            <a:prstDash val="solid"/>
          </a:ln>
        </p:spPr>
      </p:sp>
      <p:sp>
        <p:nvSpPr>
          <p:cNvPr id="21" name="stat value 7"/>
          <p:cNvSpPr txBox="1"/>
          <p:nvPr/>
        </p:nvSpPr>
        <p:spPr>
          <a:xfrm>
            <a:off x="9144000" y="5239512"/>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7</a:t>
            </a:r>
            <a:endParaRPr lang="en-US" sz="2400" dirty="0"/>
          </a:p>
        </p:txBody>
      </p:sp>
      <p:sp>
        <p:nvSpPr>
          <p:cNvPr id="22" name="stat label 7"/>
          <p:cNvSpPr txBox="1"/>
          <p:nvPr/>
        </p:nvSpPr>
        <p:spPr>
          <a:xfrm>
            <a:off x="9144000" y="5836158"/>
            <a:ext cx="2377440" cy="310896"/>
          </a:xfrm>
          <a:prstGeom prst="rect">
            <a:avLst/>
          </a:prstGeom>
          <a:noFill/>
          <a:ln/>
        </p:spPr>
        <p:txBody>
          <a:bodyPr wrap="square" lIns="0" tIns="0" rIns="0" bIns="0" rtlCol="0" anchor="t"/>
          <a:lstStyle/>
          <a:p>
            <a:pPr indent="0" marL="0">
              <a:buNone/>
            </a:pPr>
            <a:r>
              <a:rPr lang="en-US" sz="1200" dirty="0">
                <a:solidFill>
                  <a:schemeClr val="bg2"/>
                </a:solidFill>
              </a:rPr>
              <a:t>live test runs to get it working</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Fake-report attack and defence frame"/>
          <p:cNvSpPr/>
          <p:nvPr/>
        </p:nvSpPr>
        <p:spPr>
          <a:xfrm>
            <a:off x="530352" y="1353312"/>
            <a:ext cx="8129016" cy="2947416"/>
          </a:xfrm>
          <a:prstGeom prst="roundRect">
            <a:avLst>
              <a:gd name="adj" fmla="val 2482"/>
            </a:avLst>
          </a:prstGeom>
          <a:solidFill>
            <a:schemeClr val="bg1"/>
          </a:solidFill>
          <a:ln w="12700">
            <a:solidFill>
              <a:schemeClr val="bg1"/>
            </a:solidFill>
            <a:prstDash val="solid"/>
          </a:ln>
        </p:spPr>
      </p:sp>
      <p:pic>
        <p:nvPicPr>
          <p:cNvPr id="6"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7" name="Text 4"/>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chemeClr val="accent1"/>
                </a:solidFill>
              </a:rPr>
              <a:t>“A warning is cheap to believe.</a:t>
            </a:r>
            <a:endParaRPr lang="en-US" sz="2200" dirty="0"/>
          </a:p>
          <a:p>
            <a:pPr indent="0" marL="0">
              <a:buNone/>
            </a:pPr>
            <a:r>
              <a:rPr lang="en-US" sz="2200" b="1" i="1" dirty="0">
                <a:solidFill>
                  <a:schemeClr val="accent1"/>
                </a:solidFill>
              </a:rPr>
              <a:t>An all-clear must be proven.”</a:t>
            </a:r>
            <a:endParaRPr lang="en-US" sz="2200" dirty="0"/>
          </a:p>
        </p:txBody>
      </p:sp>
      <p:sp>
        <p:nvSpPr>
          <p:cNvPr id="8" name="Text 5"/>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chemeClr val="bg2"/>
                </a:solidFill>
              </a:rPr>
              <a:t>Share measurements, never commands · check every report against physics and real GPS-loss evidence</a:t>
            </a:r>
            <a:endParaRPr lang="en-US" sz="1300" dirty="0"/>
          </a:p>
        </p:txBody>
      </p:sp>
      <p:sp>
        <p:nvSpPr>
          <p:cNvPr id="9" name="stat card 9 → 1"/>
          <p:cNvSpPr/>
          <p:nvPr/>
        </p:nvSpPr>
        <p:spPr>
          <a:xfrm>
            <a:off x="9006840" y="1417320"/>
            <a:ext cx="2651760" cy="1143000"/>
          </a:xfrm>
          <a:prstGeom prst="roundRect">
            <a:avLst>
              <a:gd name="adj" fmla="val 8000"/>
            </a:avLst>
          </a:prstGeom>
          <a:solidFill>
            <a:schemeClr val="tx2"/>
          </a:solidFill>
          <a:ln w="12700">
            <a:solidFill>
              <a:schemeClr val="tx2"/>
            </a:solidFill>
            <a:prstDash val="solid"/>
          </a:ln>
        </p:spPr>
      </p:sp>
      <p:sp>
        <p:nvSpPr>
          <p:cNvPr id="10"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9 → 1</a:t>
            </a:r>
            <a:endParaRPr lang="en-US" sz="2800" dirty="0"/>
          </a:p>
        </p:txBody>
      </p:sp>
      <p:sp>
        <p:nvSpPr>
          <p:cNvPr id="11"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chemeClr val="bg2"/>
                </a:solidFill>
              </a:rPr>
              <a:t>drones lured into the jammer: no defence vs ours (6 runs)</a:t>
            </a:r>
            <a:endParaRPr lang="en-US" sz="1200" dirty="0"/>
          </a:p>
        </p:txBody>
      </p:sp>
      <p:sp>
        <p:nvSpPr>
          <p:cNvPr id="12" name="stat card 6 / 6"/>
          <p:cNvSpPr/>
          <p:nvPr/>
        </p:nvSpPr>
        <p:spPr>
          <a:xfrm>
            <a:off x="9006840" y="2743200"/>
            <a:ext cx="2651760" cy="1143000"/>
          </a:xfrm>
          <a:prstGeom prst="roundRect">
            <a:avLst>
              <a:gd name="adj" fmla="val 8000"/>
            </a:avLst>
          </a:prstGeom>
          <a:solidFill>
            <a:schemeClr val="tx2"/>
          </a:solidFill>
          <a:ln w="12700">
            <a:solidFill>
              <a:schemeClr val="tx2"/>
            </a:solidFill>
            <a:prstDash val="solid"/>
          </a:ln>
        </p:spPr>
      </p:sp>
      <p:sp>
        <p:nvSpPr>
          <p:cNvPr id="13"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6 / 6</a:t>
            </a:r>
            <a:endParaRPr lang="en-US" sz="2800" dirty="0"/>
          </a:p>
        </p:txBody>
      </p:sp>
      <p:sp>
        <p:nvSpPr>
          <p:cNvPr id="14"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chemeClr val="bg2"/>
                </a:solidFill>
              </a:rPr>
              <a:t>times the liar was caught</a:t>
            </a:r>
            <a:endParaRPr lang="en-US" sz="1200" dirty="0"/>
          </a:p>
        </p:txBody>
      </p:sp>
      <p:sp>
        <p:nvSpPr>
          <p:cNvPr id="15" name="stat card 0"/>
          <p:cNvSpPr/>
          <p:nvPr/>
        </p:nvSpPr>
        <p:spPr>
          <a:xfrm>
            <a:off x="9006840" y="4069080"/>
            <a:ext cx="2651760" cy="1143000"/>
          </a:xfrm>
          <a:prstGeom prst="roundRect">
            <a:avLst>
              <a:gd name="adj" fmla="val 8000"/>
            </a:avLst>
          </a:prstGeom>
          <a:solidFill>
            <a:schemeClr val="tx2"/>
          </a:solidFill>
          <a:ln w="12700">
            <a:solidFill>
              <a:schemeClr val="tx2"/>
            </a:solidFill>
            <a:prstDash val="solid"/>
          </a:ln>
        </p:spPr>
      </p:sp>
      <p:sp>
        <p:nvSpPr>
          <p:cNvPr id="16"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0</a:t>
            </a:r>
            <a:endParaRPr lang="en-US" sz="2800" dirty="0"/>
          </a:p>
        </p:txBody>
      </p:sp>
      <p:sp>
        <p:nvSpPr>
          <p:cNvPr id="17"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chemeClr val="bg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Real terrain: 25 missions over Bråviken, Norrköping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Real-map test over Bråviken frame"/>
          <p:cNvSpPr/>
          <p:nvPr/>
        </p:nvSpPr>
        <p:spPr>
          <a:xfrm>
            <a:off x="530352" y="1307592"/>
            <a:ext cx="7808976" cy="3392424"/>
          </a:xfrm>
          <a:prstGeom prst="roundRect">
            <a:avLst>
              <a:gd name="adj" fmla="val 2156"/>
            </a:avLst>
          </a:prstGeom>
          <a:solidFill>
            <a:schemeClr val="bg1"/>
          </a:solidFill>
          <a:ln w="12700">
            <a:solidFill>
              <a:schemeClr val="bg1"/>
            </a:solidFill>
            <a:prstDash val="solid"/>
          </a:ln>
        </p:spPr>
      </p:sp>
      <p:pic>
        <p:nvPicPr>
          <p:cNvPr id="6" name="Real-map test over Bråviken" descr="Real-map test over Bråviken">    </p:cNvPr>
          <p:cNvPicPr>
            <a:picLocks noChangeAspect="1"/>
          </p:cNvPicPr>
          <p:nvPr/>
        </p:nvPicPr>
        <p:blipFill>
          <a:blip r:embed="rId1"/>
          <a:stretch>
            <a:fillRect/>
          </a:stretch>
        </p:blipFill>
        <p:spPr>
          <a:xfrm>
            <a:off x="594360" y="1371600"/>
            <a:ext cx="7680960" cy="3264408"/>
          </a:xfrm>
          <a:prstGeom prst="rect">
            <a:avLst/>
          </a:prstGeom>
        </p:spPr>
      </p:pic>
      <p:sp>
        <p:nvSpPr>
          <p:cNvPr id="7" name="caption"/>
          <p:cNvSpPr txBox="1"/>
          <p:nvPr/>
        </p:nvSpPr>
        <p:spPr>
          <a:xfrm>
            <a:off x="548640" y="4773168"/>
            <a:ext cx="7772400" cy="320040"/>
          </a:xfrm>
          <a:prstGeom prst="rect">
            <a:avLst/>
          </a:prstGeom>
          <a:noFill/>
          <a:ln/>
        </p:spPr>
        <p:txBody>
          <a:bodyPr wrap="square" lIns="0" tIns="0" rIns="0" bIns="0" rtlCol="0" anchor="t"/>
          <a:lstStyle/>
          <a:p>
            <a:pPr indent="0" marL="0">
              <a:buNone/>
            </a:pPr>
            <a:r>
              <a:rPr lang="en-US" sz="1100" i="1" dirty="0">
                <a:solidFill>
                  <a:schemeClr val="accent5"/>
                </a:solidFill>
              </a:rPr>
              <a:t>Built by Guled · navigation/real_map/ · heights real (NASA SRTM via AWS Terrain Tiles), magnetic map simulated</a:t>
            </a:r>
            <a:endParaRPr lang="en-US" sz="1100" dirty="0"/>
          </a:p>
        </p:txBody>
      </p:sp>
      <p:sp>
        <p:nvSpPr>
          <p:cNvPr id="8" name="Text 5"/>
          <p:cNvSpPr txBox="1"/>
          <p:nvPr/>
        </p:nvSpPr>
        <p:spPr>
          <a:xfrm>
            <a:off x="548640" y="5184648"/>
            <a:ext cx="7772400" cy="1005840"/>
          </a:xfrm>
          <a:prstGeom prst="rect">
            <a:avLst/>
          </a:prstGeom>
          <a:noFill/>
          <a:ln/>
        </p:spPr>
        <p:txBody>
          <a:bodyPr wrap="square" lIns="0" tIns="0" rIns="0" bIns="0" rtlCol="0" anchor="t"/>
          <a:lstStyle/>
          <a:p>
            <a:pPr indent="0" marL="0">
              <a:buNone/>
            </a:pPr>
            <a:r>
              <a:rPr lang="en-US" sz="1300" b="1" dirty="0">
                <a:solidFill>
                  <a:schemeClr val="accent6"/>
                </a:solidFill>
              </a:rPr>
              <a:t>Honest finding: </a:t>
            </a:r>
            <a:pPr indent="0" marL="0">
              <a:buNone/>
            </a:pPr>
            <a:r>
              <a:rPr lang="en-US" sz="1300" dirty="0">
                <a:solidFill>
                  <a:schemeClr val="bg2"/>
                </a:solidFill>
              </a:rPr>
              <a:t>real ground is flatter than our simulated hills, and ~21 % of each route is over water. With the drones' radio link jammed too, terrain matching often has nothing to recognise — MagNav halves the error, but it is not a full fix yet.</a:t>
            </a:r>
            <a:endParaRPr lang="en-US" sz="1300" dirty="0"/>
          </a:p>
        </p:txBody>
      </p:sp>
      <p:sp>
        <p:nvSpPr>
          <p:cNvPr id="9" name="stat card 25 / 25"/>
          <p:cNvSpPr/>
          <p:nvPr/>
        </p:nvSpPr>
        <p:spPr>
          <a:xfrm>
            <a:off x="8641080" y="1371600"/>
            <a:ext cx="3017520" cy="1097280"/>
          </a:xfrm>
          <a:prstGeom prst="roundRect">
            <a:avLst>
              <a:gd name="adj" fmla="val 8333"/>
            </a:avLst>
          </a:prstGeom>
          <a:solidFill>
            <a:schemeClr val="tx2"/>
          </a:solidFill>
          <a:ln w="12700">
            <a:solidFill>
              <a:schemeClr val="tx2"/>
            </a:solidFill>
            <a:prstDash val="solid"/>
          </a:ln>
        </p:spPr>
      </p:sp>
      <p:sp>
        <p:nvSpPr>
          <p:cNvPr id="10" name="stat value 25 / 25"/>
          <p:cNvSpPr txBox="1"/>
          <p:nvPr/>
        </p:nvSpPr>
        <p:spPr>
          <a:xfrm>
            <a:off x="8778240" y="144475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2"/>
                </a:solidFill>
              </a:rPr>
              <a:t>25 / 25</a:t>
            </a:r>
            <a:endParaRPr lang="en-US" sz="2600" dirty="0"/>
          </a:p>
        </p:txBody>
      </p:sp>
      <p:sp>
        <p:nvSpPr>
          <p:cNvPr id="11" name="stat label 25 / 25"/>
          <p:cNvSpPr txBox="1"/>
          <p:nvPr/>
        </p:nvSpPr>
        <p:spPr>
          <a:xfrm>
            <a:off x="8778240" y="2066544"/>
            <a:ext cx="2743200" cy="329184"/>
          </a:xfrm>
          <a:prstGeom prst="rect">
            <a:avLst/>
          </a:prstGeom>
          <a:noFill/>
          <a:ln/>
        </p:spPr>
        <p:txBody>
          <a:bodyPr wrap="square" lIns="0" tIns="0" rIns="0" bIns="0" rtlCol="0" anchor="t"/>
          <a:lstStyle/>
          <a:p>
            <a:pPr indent="0" marL="0">
              <a:buNone/>
            </a:pPr>
            <a:r>
              <a:rPr lang="en-US" sz="1200" dirty="0">
                <a:solidFill>
                  <a:schemeClr val="bg2"/>
                </a:solidFill>
              </a:rPr>
              <a:t>within 50 m, radio link working (~4 m typical)</a:t>
            </a:r>
            <a:endParaRPr lang="en-US" sz="1200" dirty="0"/>
          </a:p>
        </p:txBody>
      </p:sp>
      <p:sp>
        <p:nvSpPr>
          <p:cNvPr id="12" name="stat card 0 / 25"/>
          <p:cNvSpPr/>
          <p:nvPr/>
        </p:nvSpPr>
        <p:spPr>
          <a:xfrm>
            <a:off x="8641080" y="2651760"/>
            <a:ext cx="3017520" cy="1097280"/>
          </a:xfrm>
          <a:prstGeom prst="roundRect">
            <a:avLst>
              <a:gd name="adj" fmla="val 8333"/>
            </a:avLst>
          </a:prstGeom>
          <a:solidFill>
            <a:schemeClr val="tx2"/>
          </a:solidFill>
          <a:ln w="12700">
            <a:solidFill>
              <a:schemeClr val="tx2"/>
            </a:solidFill>
            <a:prstDash val="solid"/>
          </a:ln>
        </p:spPr>
      </p:sp>
      <p:sp>
        <p:nvSpPr>
          <p:cNvPr id="13" name="stat value 0 / 25"/>
          <p:cNvSpPr txBox="1"/>
          <p:nvPr/>
        </p:nvSpPr>
        <p:spPr>
          <a:xfrm>
            <a:off x="8778240" y="272491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3"/>
                </a:solidFill>
              </a:rPr>
              <a:t>0 / 25</a:t>
            </a:r>
            <a:endParaRPr lang="en-US" sz="2600" dirty="0"/>
          </a:p>
        </p:txBody>
      </p:sp>
      <p:sp>
        <p:nvSpPr>
          <p:cNvPr id="14" name="stat label 0 / 25"/>
          <p:cNvSpPr txBox="1"/>
          <p:nvPr/>
        </p:nvSpPr>
        <p:spPr>
          <a:xfrm>
            <a:off x="8778240" y="3346704"/>
            <a:ext cx="2743200" cy="329184"/>
          </a:xfrm>
          <a:prstGeom prst="rect">
            <a:avLst/>
          </a:prstGeom>
          <a:noFill/>
          <a:ln/>
        </p:spPr>
        <p:txBody>
          <a:bodyPr wrap="square" lIns="0" tIns="0" rIns="0" bIns="0" rtlCol="0" anchor="t"/>
          <a:lstStyle/>
          <a:p>
            <a:pPr indent="0" marL="0">
              <a:buNone/>
            </a:pPr>
            <a:r>
              <a:rPr lang="en-US" sz="1200" dirty="0">
                <a:solidFill>
                  <a:schemeClr val="bg2"/>
                </a:solidFill>
              </a:rPr>
              <a:t>IMU only (~700 m typical)</a:t>
            </a:r>
            <a:endParaRPr lang="en-US" sz="1200" dirty="0"/>
          </a:p>
        </p:txBody>
      </p:sp>
      <p:sp>
        <p:nvSpPr>
          <p:cNvPr id="15" name="stat card 180 → 71 m"/>
          <p:cNvSpPr/>
          <p:nvPr/>
        </p:nvSpPr>
        <p:spPr>
          <a:xfrm>
            <a:off x="8641080" y="3931920"/>
            <a:ext cx="3017520" cy="1097280"/>
          </a:xfrm>
          <a:prstGeom prst="roundRect">
            <a:avLst>
              <a:gd name="adj" fmla="val 8333"/>
            </a:avLst>
          </a:prstGeom>
          <a:solidFill>
            <a:schemeClr val="tx2"/>
          </a:solidFill>
          <a:ln w="12700">
            <a:solidFill>
              <a:schemeClr val="tx2"/>
            </a:solidFill>
            <a:prstDash val="solid"/>
          </a:ln>
        </p:spPr>
      </p:sp>
      <p:sp>
        <p:nvSpPr>
          <p:cNvPr id="16" name="stat value 180 → 71 m"/>
          <p:cNvSpPr txBox="1"/>
          <p:nvPr/>
        </p:nvSpPr>
        <p:spPr>
          <a:xfrm>
            <a:off x="8778240" y="4005072"/>
            <a:ext cx="2743200" cy="603504"/>
          </a:xfrm>
          <a:prstGeom prst="rect">
            <a:avLst/>
          </a:prstGeom>
          <a:noFill/>
          <a:ln/>
        </p:spPr>
        <p:txBody>
          <a:bodyPr wrap="square" lIns="0" tIns="0" rIns="0" bIns="0" rtlCol="0" anchor="b">
            <a:normAutofit/>
          </a:bodyPr>
          <a:lstStyle/>
          <a:p>
            <a:pPr indent="0" marL="0">
              <a:buNone/>
            </a:pPr>
            <a:r>
              <a:rPr lang="en-US" sz="2600" b="1" dirty="0">
                <a:solidFill>
                  <a:schemeClr val="accent6"/>
                </a:solidFill>
              </a:rPr>
              <a:t>180 → 71 m</a:t>
            </a:r>
            <a:endParaRPr lang="en-US" sz="2600" dirty="0"/>
          </a:p>
        </p:txBody>
      </p:sp>
      <p:sp>
        <p:nvSpPr>
          <p:cNvPr id="17" name="stat label 180 → 71 m"/>
          <p:cNvSpPr txBox="1"/>
          <p:nvPr/>
        </p:nvSpPr>
        <p:spPr>
          <a:xfrm>
            <a:off x="8778240" y="4626864"/>
            <a:ext cx="2743200" cy="329184"/>
          </a:xfrm>
          <a:prstGeom prst="rect">
            <a:avLst/>
          </a:prstGeom>
          <a:noFill/>
          <a:ln/>
        </p:spPr>
        <p:txBody>
          <a:bodyPr wrap="square" lIns="0" tIns="0" rIns="0" bIns="0" rtlCol="0" anchor="t"/>
          <a:lstStyle/>
          <a:p>
            <a:pPr indent="0" marL="0">
              <a:buNone/>
            </a:pPr>
            <a:r>
              <a:rPr lang="en-US" sz="1200" dirty="0">
                <a:solidFill>
                  <a:schemeClr val="bg2"/>
                </a:solidFill>
              </a:rPr>
              <a:t>radio jammed too: terrain only vs + MagNav (typical)</a:t>
            </a:r>
            <a:endParaRPr lang="en-US" sz="1200" dirty="0"/>
          </a:p>
        </p:txBody>
      </p:sp>
      <p:sp>
        <p:nvSpPr>
          <p:cNvPr id="18" name="stat card 6 → 8 / 25"/>
          <p:cNvSpPr/>
          <p:nvPr/>
        </p:nvSpPr>
        <p:spPr>
          <a:xfrm>
            <a:off x="8641080" y="5212080"/>
            <a:ext cx="3017520" cy="914400"/>
          </a:xfrm>
          <a:prstGeom prst="roundRect">
            <a:avLst>
              <a:gd name="adj" fmla="val 10000"/>
            </a:avLst>
          </a:prstGeom>
          <a:solidFill>
            <a:schemeClr val="tx2"/>
          </a:solidFill>
          <a:ln w="12700">
            <a:solidFill>
              <a:schemeClr val="tx2"/>
            </a:solidFill>
            <a:prstDash val="solid"/>
          </a:ln>
        </p:spPr>
      </p:sp>
      <p:sp>
        <p:nvSpPr>
          <p:cNvPr id="19" name="stat value 6 → 8 / 25"/>
          <p:cNvSpPr txBox="1"/>
          <p:nvPr/>
        </p:nvSpPr>
        <p:spPr>
          <a:xfrm>
            <a:off x="8778240" y="5285232"/>
            <a:ext cx="2743200" cy="502920"/>
          </a:xfrm>
          <a:prstGeom prst="rect">
            <a:avLst/>
          </a:prstGeom>
          <a:noFill/>
          <a:ln/>
        </p:spPr>
        <p:txBody>
          <a:bodyPr wrap="square" lIns="0" tIns="0" rIns="0" bIns="0" rtlCol="0" anchor="b">
            <a:normAutofit/>
          </a:bodyPr>
          <a:lstStyle/>
          <a:p>
            <a:pPr indent="0" marL="0">
              <a:buNone/>
            </a:pPr>
            <a:r>
              <a:rPr lang="en-US" sz="2200" b="1" dirty="0">
                <a:solidFill>
                  <a:schemeClr val="accent6"/>
                </a:solidFill>
              </a:rPr>
              <a:t>6 → 8 / 25</a:t>
            </a:r>
            <a:endParaRPr lang="en-US" sz="2200" dirty="0"/>
          </a:p>
        </p:txBody>
      </p:sp>
      <p:sp>
        <p:nvSpPr>
          <p:cNvPr id="20" name="stat label 6 → 8 / 25"/>
          <p:cNvSpPr txBox="1"/>
          <p:nvPr/>
        </p:nvSpPr>
        <p:spPr>
          <a:xfrm>
            <a:off x="8778240" y="5806440"/>
            <a:ext cx="2743200" cy="256032"/>
          </a:xfrm>
          <a:prstGeom prst="rect">
            <a:avLst/>
          </a:prstGeom>
          <a:noFill/>
          <a:ln/>
        </p:spPr>
        <p:txBody>
          <a:bodyPr wrap="square" lIns="0" tIns="0" rIns="0" bIns="0" rtlCol="0" anchor="t"/>
          <a:lstStyle/>
          <a:p>
            <a:pPr indent="0" marL="0">
              <a:buNone/>
            </a:pPr>
            <a:r>
              <a:rPr lang="en-US" sz="1200" dirty="0">
                <a:solidFill>
                  <a:schemeClr val="bg2"/>
                </a:solidFill>
              </a:rPr>
              <a:t>radio jammed too: success</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SWARM GPS  ·  edge drones keep GPS and range the drone inside</a:t>
            </a:r>
            <a:endParaRPr lang="en-US" sz="1400" dirty="0"/>
          </a:p>
        </p:txBody>
      </p:sp>
      <p:sp>
        <p:nvSpPr>
          <p:cNvPr id="6" name="Swarm GPS inside the jammed zone frame"/>
          <p:cNvSpPr/>
          <p:nvPr/>
        </p:nvSpPr>
        <p:spPr>
          <a:xfrm>
            <a:off x="530352" y="1719072"/>
            <a:ext cx="5522976" cy="2399578"/>
          </a:xfrm>
          <a:prstGeom prst="roundRect">
            <a:avLst>
              <a:gd name="adj" fmla="val 3049"/>
            </a:avLst>
          </a:prstGeom>
          <a:solidFill>
            <a:schemeClr val="bg1"/>
          </a:solidFill>
          <a:ln w="12700">
            <a:solidFill>
              <a:schemeClr val="bg1"/>
            </a:solidFill>
            <a:prstDash val="solid"/>
          </a:ln>
        </p:spPr>
      </p:sp>
      <p:pic>
        <p:nvPicPr>
          <p:cNvPr id="7"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8" name="stat card 59 m → 1 m"/>
          <p:cNvSpPr/>
          <p:nvPr/>
        </p:nvSpPr>
        <p:spPr>
          <a:xfrm>
            <a:off x="548640" y="4328962"/>
            <a:ext cx="2651760" cy="1051560"/>
          </a:xfrm>
          <a:prstGeom prst="roundRect">
            <a:avLst>
              <a:gd name="adj" fmla="val 8696"/>
            </a:avLst>
          </a:prstGeom>
          <a:solidFill>
            <a:schemeClr val="tx2"/>
          </a:solidFill>
          <a:ln w="12700">
            <a:solidFill>
              <a:schemeClr val="tx2"/>
            </a:solidFill>
            <a:prstDash val="solid"/>
          </a:ln>
        </p:spPr>
      </p:sp>
      <p:sp>
        <p:nvSpPr>
          <p:cNvPr id="9"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59 m → 1 m</a:t>
            </a:r>
            <a:endParaRPr lang="en-US" sz="2400" dirty="0"/>
          </a:p>
        </p:txBody>
      </p:sp>
      <p:sp>
        <p:nvSpPr>
          <p:cNvPr id="10"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chemeClr val="bg2"/>
                </a:solidFill>
              </a:rPr>
              <a:t>error while observing the target (20 runs)</a:t>
            </a:r>
            <a:endParaRPr lang="en-US" sz="1200" dirty="0"/>
          </a:p>
        </p:txBody>
      </p:sp>
      <p:sp>
        <p:nvSpPr>
          <p:cNvPr id="11" name="stat card 2 m"/>
          <p:cNvSpPr/>
          <p:nvPr/>
        </p:nvSpPr>
        <p:spPr>
          <a:xfrm>
            <a:off x="3337560" y="4328962"/>
            <a:ext cx="2697480" cy="1051560"/>
          </a:xfrm>
          <a:prstGeom prst="roundRect">
            <a:avLst>
              <a:gd name="adj" fmla="val 8696"/>
            </a:avLst>
          </a:prstGeom>
          <a:solidFill>
            <a:schemeClr val="tx2"/>
          </a:solidFill>
          <a:ln w="12700">
            <a:solidFill>
              <a:schemeClr val="tx2"/>
            </a:solidFill>
            <a:prstDash val="solid"/>
          </a:ln>
        </p:spPr>
      </p:sp>
      <p:sp>
        <p:nvSpPr>
          <p:cNvPr id="12"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 m</a:t>
            </a:r>
            <a:endParaRPr lang="en-US" sz="2400" dirty="0"/>
          </a:p>
        </p:txBody>
      </p:sp>
      <p:sp>
        <p:nvSpPr>
          <p:cNvPr id="13"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chemeClr val="bg2"/>
                </a:solidFill>
              </a:rPr>
              <a:t>still, if one edge drone is lost</a:t>
            </a:r>
            <a:endParaRPr lang="en-US" sz="1200" dirty="0"/>
          </a:p>
        </p:txBody>
      </p:sp>
      <p:sp>
        <p:nvSpPr>
          <p:cNvPr id="14"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Radio ranging on the drones' own link — not the band a GPS jammer hits.</a:t>
            </a:r>
            <a:endParaRPr lang="en-US" sz="1100" dirty="0"/>
          </a:p>
        </p:txBody>
      </p:sp>
      <p:sp>
        <p:nvSpPr>
          <p:cNvPr id="15" name="Text 12"/>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MAGNAV  ·  the Earth's magnetic map can't be jammed</a:t>
            </a:r>
            <a:endParaRPr lang="en-US" sz="1400" dirty="0"/>
          </a:p>
        </p:txBody>
      </p:sp>
      <p:sp>
        <p:nvSpPr>
          <p:cNvPr id="16" name="MagNav over land and sea frame"/>
          <p:cNvSpPr/>
          <p:nvPr/>
        </p:nvSpPr>
        <p:spPr>
          <a:xfrm>
            <a:off x="6245352" y="1719072"/>
            <a:ext cx="5431536" cy="2220182"/>
          </a:xfrm>
          <a:prstGeom prst="roundRect">
            <a:avLst>
              <a:gd name="adj" fmla="val 3295"/>
            </a:avLst>
          </a:prstGeom>
          <a:solidFill>
            <a:schemeClr val="bg1"/>
          </a:solidFill>
          <a:ln w="12700">
            <a:solidFill>
              <a:schemeClr val="bg1"/>
            </a:solidFill>
            <a:prstDash val="solid"/>
          </a:ln>
        </p:spPr>
      </p:sp>
      <p:pic>
        <p:nvPicPr>
          <p:cNvPr id="17"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8" name="stat card 202 m"/>
          <p:cNvSpPr/>
          <p:nvPr/>
        </p:nvSpPr>
        <p:spPr>
          <a:xfrm>
            <a:off x="6263640" y="4149566"/>
            <a:ext cx="2606040" cy="1051560"/>
          </a:xfrm>
          <a:prstGeom prst="roundRect">
            <a:avLst>
              <a:gd name="adj" fmla="val 8696"/>
            </a:avLst>
          </a:prstGeom>
          <a:solidFill>
            <a:schemeClr val="tx2"/>
          </a:solidFill>
          <a:ln w="12700">
            <a:solidFill>
              <a:schemeClr val="tx2"/>
            </a:solidFill>
            <a:prstDash val="solid"/>
          </a:ln>
        </p:spPr>
      </p:sp>
      <p:sp>
        <p:nvSpPr>
          <p:cNvPr id="19"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202 m</a:t>
            </a:r>
            <a:endParaRPr lang="en-US" sz="2400" dirty="0"/>
          </a:p>
        </p:txBody>
      </p:sp>
      <p:sp>
        <p:nvSpPr>
          <p:cNvPr id="20"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matching — blind over the sea</a:t>
            </a:r>
            <a:endParaRPr lang="en-US" sz="1200" dirty="0"/>
          </a:p>
        </p:txBody>
      </p:sp>
      <p:sp>
        <p:nvSpPr>
          <p:cNvPr id="21" name="stat card 38 m"/>
          <p:cNvSpPr/>
          <p:nvPr/>
        </p:nvSpPr>
        <p:spPr>
          <a:xfrm>
            <a:off x="9052560" y="4149566"/>
            <a:ext cx="2606040" cy="1051560"/>
          </a:xfrm>
          <a:prstGeom prst="roundRect">
            <a:avLst>
              <a:gd name="adj" fmla="val 8696"/>
            </a:avLst>
          </a:prstGeom>
          <a:solidFill>
            <a:schemeClr val="tx2"/>
          </a:solidFill>
          <a:ln w="12700">
            <a:solidFill>
              <a:schemeClr val="tx2"/>
            </a:solidFill>
            <a:prstDash val="solid"/>
          </a:ln>
        </p:spPr>
      </p:sp>
      <p:sp>
        <p:nvSpPr>
          <p:cNvPr id="22"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38 m</a:t>
            </a:r>
            <a:endParaRPr lang="en-US" sz="2400" dirty="0"/>
          </a:p>
        </p:txBody>
      </p:sp>
      <p:sp>
        <p:nvSpPr>
          <p:cNvPr id="23"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 MagNav (typical, 20 km)</a:t>
            </a:r>
            <a:endParaRPr lang="en-US" sz="1200" dirty="0"/>
          </a:p>
        </p:txBody>
      </p:sp>
      <p:sp>
        <p:nvSpPr>
          <p:cNvPr id="24"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stat card 4"/>
          <p:cNvSpPr/>
          <p:nvPr/>
        </p:nvSpPr>
        <p:spPr>
          <a:xfrm>
            <a:off x="548640" y="1371600"/>
            <a:ext cx="1737360" cy="960120"/>
          </a:xfrm>
          <a:prstGeom prst="roundRect">
            <a:avLst>
              <a:gd name="adj" fmla="val 9524"/>
            </a:avLst>
          </a:prstGeom>
          <a:solidFill>
            <a:schemeClr val="tx2"/>
          </a:solidFill>
          <a:ln w="12700">
            <a:solidFill>
              <a:schemeClr val="tx2"/>
            </a:solidFill>
            <a:prstDash val="solid"/>
          </a:ln>
        </p:spPr>
      </p:sp>
      <p:sp>
        <p:nvSpPr>
          <p:cNvPr id="6"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4</a:t>
            </a:r>
            <a:endParaRPr lang="en-US" sz="2600" dirty="0"/>
          </a:p>
        </p:txBody>
      </p:sp>
      <p:sp>
        <p:nvSpPr>
          <p:cNvPr id="7"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expert inputs</a:t>
            </a:r>
            <a:endParaRPr lang="en-US" sz="1200" dirty="0"/>
          </a:p>
        </p:txBody>
      </p:sp>
      <p:sp>
        <p:nvSpPr>
          <p:cNvPr id="8" name="stat card 17"/>
          <p:cNvSpPr/>
          <p:nvPr/>
        </p:nvSpPr>
        <p:spPr>
          <a:xfrm>
            <a:off x="2423160" y="1371600"/>
            <a:ext cx="1737360" cy="960120"/>
          </a:xfrm>
          <a:prstGeom prst="roundRect">
            <a:avLst>
              <a:gd name="adj" fmla="val 9524"/>
            </a:avLst>
          </a:prstGeom>
          <a:solidFill>
            <a:schemeClr val="tx2"/>
          </a:solidFill>
          <a:ln w="12700">
            <a:solidFill>
              <a:schemeClr val="tx2"/>
            </a:solidFill>
            <a:prstDash val="solid"/>
          </a:ln>
        </p:spPr>
      </p:sp>
      <p:sp>
        <p:nvSpPr>
          <p:cNvPr id="9" name="stat value 17"/>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17</a:t>
            </a:r>
            <a:endParaRPr lang="en-US" sz="2600" dirty="0"/>
          </a:p>
        </p:txBody>
      </p:sp>
      <p:sp>
        <p:nvSpPr>
          <p:cNvPr id="10" name="stat label 17"/>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logged iterations</a:t>
            </a:r>
            <a:endParaRPr lang="en-US" sz="1200" dirty="0"/>
          </a:p>
        </p:txBody>
      </p:sp>
      <p:sp>
        <p:nvSpPr>
          <p:cNvPr id="11" name="stat card 31"/>
          <p:cNvSpPr/>
          <p:nvPr/>
        </p:nvSpPr>
        <p:spPr>
          <a:xfrm>
            <a:off x="4297680" y="1371600"/>
            <a:ext cx="1737360" cy="960120"/>
          </a:xfrm>
          <a:prstGeom prst="roundRect">
            <a:avLst>
              <a:gd name="adj" fmla="val 9524"/>
            </a:avLst>
          </a:prstGeom>
          <a:solidFill>
            <a:schemeClr val="tx2"/>
          </a:solidFill>
          <a:ln w="12700">
            <a:solidFill>
              <a:schemeClr val="tx2"/>
            </a:solidFill>
            <a:prstDash val="solid"/>
          </a:ln>
        </p:spPr>
      </p:sp>
      <p:sp>
        <p:nvSpPr>
          <p:cNvPr id="12" name="stat value 31"/>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31</a:t>
            </a:r>
            <a:endParaRPr lang="en-US" sz="2600" dirty="0"/>
          </a:p>
        </p:txBody>
      </p:sp>
      <p:sp>
        <p:nvSpPr>
          <p:cNvPr id="13" name="stat label 31"/>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commits on GitHub</a:t>
            </a:r>
            <a:endParaRPr lang="en-US" sz="1200" dirty="0"/>
          </a:p>
        </p:txBody>
      </p:sp>
      <p:sp>
        <p:nvSpPr>
          <p:cNvPr id="14" name="Text 12"/>
          <p:cNvSpPr txBox="1"/>
          <p:nvPr/>
        </p:nvSpPr>
        <p:spPr>
          <a:xfrm>
            <a:off x="548640" y="2514600"/>
            <a:ext cx="5486400" cy="320040"/>
          </a:xfrm>
          <a:prstGeom prst="rect">
            <a:avLst/>
          </a:prstGeom>
          <a:noFill/>
          <a:ln/>
        </p:spPr>
        <p:txBody>
          <a:bodyPr wrap="square" lIns="0" tIns="0" rIns="0" bIns="0" rtlCol="0" anchor="ctr"/>
          <a:lstStyle/>
          <a:p>
            <a:pPr indent="0" marL="0">
              <a:buNone/>
            </a:pPr>
            <a:r>
              <a:rPr lang="en-US" sz="1400" b="1" spc="200" kern="0" dirty="0">
                <a:solidFill>
                  <a:schemeClr val="accent1"/>
                </a:solidFill>
              </a:rPr>
              <a:t>WHY IT GETS ADOPTED</a:t>
            </a:r>
            <a:endParaRPr lang="en-US" sz="1400" dirty="0"/>
          </a:p>
        </p:txBody>
      </p:sp>
      <p:sp>
        <p:nvSpPr>
          <p:cNvPr id="15" name="Text 13"/>
          <p:cNvSpPr txBox="1"/>
          <p:nvPr/>
        </p:nvSpPr>
        <p:spPr>
          <a:xfrm>
            <a:off x="548640" y="2926080"/>
            <a:ext cx="5486400" cy="19202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bg1"/>
                </a:solidFill>
              </a:rPr>
              <a:t>Software only: </a:t>
            </a:r>
            <a:pPr indent="0" marL="0">
              <a:spcAft>
                <a:spcPts val="600"/>
              </a:spcAft>
              <a:buNone/>
            </a:pPr>
            <a:r>
              <a:rPr lang="en-US" sz="1400" dirty="0">
                <a:solidFill>
                  <a:schemeClr val="bg2"/>
                </a:solidFill>
              </a:rPr>
              <a:t>runs on drones that already fly PX4 — no new hardware to buy</a:t>
            </a:r>
            <a:endParaRPr lang="en-US" sz="1400" dirty="0"/>
          </a:p>
          <a:p>
            <a:pPr marL="342900" indent="-342900">
              <a:spcAft>
                <a:spcPts val="600"/>
              </a:spcAft>
              <a:buSzPct val="100000"/>
              <a:buChar char="•"/>
            </a:pPr>
            <a:r>
              <a:rPr lang="en-US" sz="1400" b="1" dirty="0">
                <a:solidFill>
                  <a:schemeClr val="bg1"/>
                </a:solidFill>
              </a:rPr>
              <a:t>Users: </a:t>
            </a:r>
            <a:pPr indent="0" marL="0">
              <a:spcAft>
                <a:spcPts val="600"/>
              </a:spcAft>
              <a:buNone/>
            </a:pPr>
            <a:r>
              <a:rPr lang="en-US" sz="1400" dirty="0">
                <a:solidFill>
                  <a:schemeClr val="bg2"/>
                </a:solidFill>
              </a:rPr>
              <a:t>armed forces and drone makers building on PX4; procurement via FMV</a:t>
            </a:r>
            <a:endParaRPr lang="en-US" sz="1400" dirty="0"/>
          </a:p>
          <a:p>
            <a:pPr marL="342900" indent="-342900">
              <a:spcAft>
                <a:spcPts val="600"/>
              </a:spcAft>
              <a:buSzPct val="100000"/>
              <a:buChar char="•"/>
            </a:pPr>
            <a:r>
              <a:rPr lang="en-US" sz="1400" b="1" dirty="0">
                <a:solidFill>
                  <a:schemeClr val="bg1"/>
                </a:solidFill>
              </a:rPr>
              <a:t>Dual use: </a:t>
            </a:r>
            <a:pPr indent="0" marL="0">
              <a:spcAft>
                <a:spcPts val="600"/>
              </a:spcAft>
              <a:buNone/>
            </a:pPr>
            <a:r>
              <a:rPr lang="en-US" sz="1400" dirty="0">
                <a:solidFill>
                  <a:schemeClr val="bg2"/>
                </a:solidFill>
              </a:rPr>
              <a:t>civil drones and aviation in the jammed Baltic</a:t>
            </a:r>
            <a:endParaRPr lang="en-US" sz="1400" dirty="0"/>
          </a:p>
          <a:p>
            <a:pPr marL="342900" indent="-342900">
              <a:spcAft>
                <a:spcPts val="600"/>
              </a:spcAft>
              <a:buSzPct val="100000"/>
              <a:buChar char="•"/>
            </a:pPr>
            <a:r>
              <a:rPr lang="en-US" sz="1400" b="1" dirty="0">
                <a:solidFill>
                  <a:schemeClr val="bg1"/>
                </a:solidFill>
              </a:rPr>
              <a:t>Path: </a:t>
            </a:r>
            <a:pPr indent="0" marL="0">
              <a:spcAft>
                <a:spcPts val="600"/>
              </a:spcAft>
              <a:buNone/>
            </a:pPr>
            <a:r>
              <a:rPr lang="en-US" sz="1400" dirty="0">
                <a:solidFill>
                  <a:schemeClr val="bg2"/>
                </a:solidFill>
              </a:rPr>
              <a:t>simulation → Terra lab → field test → PX4 plug-in</a:t>
            </a:r>
            <a:endParaRPr lang="en-US" sz="1400" dirty="0"/>
          </a:p>
        </p:txBody>
      </p:sp>
      <p:sp>
        <p:nvSpPr>
          <p:cNvPr id="16" name="honest limits card"/>
          <p:cNvSpPr/>
          <p:nvPr/>
        </p:nvSpPr>
        <p:spPr>
          <a:xfrm>
            <a:off x="548640" y="4983480"/>
            <a:ext cx="5486400" cy="1051560"/>
          </a:xfrm>
          <a:prstGeom prst="roundRect">
            <a:avLst>
              <a:gd name="adj" fmla="val 8696"/>
            </a:avLst>
          </a:prstGeom>
          <a:solidFill>
            <a:schemeClr val="tx2"/>
          </a:solidFill>
          <a:ln w="9525">
            <a:solidFill>
              <a:schemeClr val="accent5"/>
            </a:solidFill>
            <a:prstDash val="solid"/>
          </a:ln>
        </p:spPr>
      </p:sp>
      <p:sp>
        <p:nvSpPr>
          <p:cNvPr id="17" name="Text 15"/>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chemeClr val="accent6"/>
                </a:solidFill>
              </a:rPr>
              <a:t>Honest limits</a:t>
            </a:r>
            <a:endParaRPr lang="en-US" sz="1300" dirty="0"/>
          </a:p>
          <a:p>
            <a:pPr indent="0" marL="0">
              <a:buNone/>
            </a:pPr>
            <a:r>
              <a:rPr lang="en-US" sz="1300" dirty="0">
                <a:solidFill>
                  <a:schemeClr val="bg2"/>
                </a:solidFill>
              </a:rPr>
              <a:t>Simulation so far (navigation re-tested on real Bråviken terrain) · jammer model is free-space · the swarm assumes its radio link survives · very slow spoofs (&lt; 0.1 m/s) are not caught</a:t>
            </a:r>
            <a:endParaRPr lang="en-US" sz="1300" dirty="0"/>
          </a:p>
        </p:txBody>
      </p:sp>
      <p:sp>
        <p:nvSpPr>
          <p:cNvPr id="18" name="Text 16"/>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NEXT</a:t>
            </a:r>
            <a:endParaRPr lang="en-US" sz="1400" dirty="0"/>
          </a:p>
        </p:txBody>
      </p:sp>
      <p:sp>
        <p:nvSpPr>
          <p:cNvPr id="19" name="icon circle Real drones in Terra lab"/>
          <p:cNvSpPr/>
          <p:nvPr/>
        </p:nvSpPr>
        <p:spPr>
          <a:xfrm>
            <a:off x="6400800" y="1874520"/>
            <a:ext cx="548640" cy="548640"/>
          </a:xfrm>
          <a:prstGeom prst="ellipse">
            <a:avLst/>
          </a:prstGeom>
          <a:solidFill>
            <a:schemeClr val="tx2"/>
          </a:solidFill>
          <a:ln w="19050">
            <a:solidFill>
              <a:srgbClr val="F26B1D"/>
            </a:solidFill>
            <a:prstDash val="solid"/>
          </a:ln>
        </p:spPr>
      </p:sp>
      <p:pic>
        <p:nvPicPr>
          <p:cNvPr id="20"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1"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drones in Terra lab</a:t>
            </a:r>
            <a:endParaRPr lang="en-US" sz="1500" dirty="0"/>
          </a:p>
          <a:p>
            <a:pPr indent="0" marL="0">
              <a:buNone/>
            </a:pPr>
            <a:r>
              <a:rPr lang="en-US" sz="1300" dirty="0">
                <a:solidFill>
                  <a:schemeClr val="bg2"/>
                </a:solidFill>
              </a:rPr>
              <a:t>Holybro PX4 drones + Vicon ground truth at LiU</a:t>
            </a:r>
            <a:endParaRPr lang="en-US" sz="1500" dirty="0"/>
          </a:p>
        </p:txBody>
      </p:sp>
      <p:sp>
        <p:nvSpPr>
          <p:cNvPr id="22" name="icon circle Real jamming indicators"/>
          <p:cNvSpPr/>
          <p:nvPr/>
        </p:nvSpPr>
        <p:spPr>
          <a:xfrm>
            <a:off x="6400800" y="2834640"/>
            <a:ext cx="548640" cy="548640"/>
          </a:xfrm>
          <a:prstGeom prst="ellipse">
            <a:avLst/>
          </a:prstGeom>
          <a:solidFill>
            <a:schemeClr val="tx2"/>
          </a:solidFill>
          <a:ln w="19050">
            <a:solidFill>
              <a:srgbClr val="F26B1D"/>
            </a:solidFill>
            <a:prstDash val="solid"/>
          </a:ln>
        </p:spPr>
      </p:sp>
      <p:pic>
        <p:nvPicPr>
          <p:cNvPr id="23"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4"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jamming indicators</a:t>
            </a:r>
            <a:endParaRPr lang="en-US" sz="1500" dirty="0"/>
          </a:p>
          <a:p>
            <a:pPr indent="0" marL="0">
              <a:buNone/>
            </a:pPr>
            <a:r>
              <a:rPr lang="en-US" sz="1300" dirty="0">
                <a:solidFill>
                  <a:schemeClr val="bg2"/>
                </a:solidFill>
              </a:rPr>
              <a:t>u-blox receivers already report interference to PX4</a:t>
            </a:r>
            <a:endParaRPr lang="en-US" sz="1500" dirty="0"/>
          </a:p>
        </p:txBody>
      </p:sp>
      <p:sp>
        <p:nvSpPr>
          <p:cNvPr id="25" name="icon circle AquaGuard Technologies"/>
          <p:cNvSpPr/>
          <p:nvPr/>
        </p:nvSpPr>
        <p:spPr>
          <a:xfrm>
            <a:off x="6400800" y="3794760"/>
            <a:ext cx="548640" cy="548640"/>
          </a:xfrm>
          <a:prstGeom prst="ellipse">
            <a:avLst/>
          </a:prstGeom>
          <a:solidFill>
            <a:schemeClr val="tx2"/>
          </a:solidFill>
          <a:ln w="19050">
            <a:solidFill>
              <a:srgbClr val="F26B1D"/>
            </a:solidFill>
            <a:prstDash val="solid"/>
          </a:ln>
        </p:spPr>
      </p:sp>
      <p:pic>
        <p:nvPicPr>
          <p:cNvPr id="26"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7"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chemeClr val="bg1"/>
                </a:solidFill>
              </a:rPr>
              <a:t>AquaGuard Technologies</a:t>
            </a:r>
            <a:endParaRPr lang="en-US" sz="1500" dirty="0"/>
          </a:p>
          <a:p>
            <a:pPr indent="0" marL="0">
              <a:buNone/>
            </a:pPr>
            <a:r>
              <a:rPr lang="en-US" sz="1300" dirty="0">
                <a:solidFill>
                  <a:schemeClr val="bg2"/>
                </a:solidFill>
              </a:rPr>
              <a:t>Satellite/SAR imagery as backup map; our jammer reports as their data feed</a:t>
            </a:r>
            <a:endParaRPr lang="en-US" sz="1500" dirty="0"/>
          </a:p>
        </p:txBody>
      </p:sp>
      <p:sp>
        <p:nvSpPr>
          <p:cNvPr id="28" name="icon circle Operator in the loop"/>
          <p:cNvSpPr/>
          <p:nvPr/>
        </p:nvSpPr>
        <p:spPr>
          <a:xfrm>
            <a:off x="6400800" y="4754880"/>
            <a:ext cx="548640" cy="548640"/>
          </a:xfrm>
          <a:prstGeom prst="ellipse">
            <a:avLst/>
          </a:prstGeom>
          <a:solidFill>
            <a:schemeClr val="tx2"/>
          </a:solidFill>
          <a:ln w="19050">
            <a:solidFill>
              <a:srgbClr val="F26B1D"/>
            </a:solidFill>
            <a:prstDash val="solid"/>
          </a:ln>
        </p:spPr>
      </p:sp>
      <p:pic>
        <p:nvPicPr>
          <p:cNvPr id="29"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30"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chemeClr val="bg1"/>
                </a:solidFill>
              </a:rPr>
              <a:t>Operator in the loop</a:t>
            </a:r>
            <a:endParaRPr lang="en-US" sz="1500" dirty="0"/>
          </a:p>
          <a:p>
            <a:pPr indent="0" marL="0">
              <a:buNone/>
            </a:pPr>
            <a:r>
              <a:rPr lang="en-US" sz="1300" dirty="0">
                <a:solidFill>
                  <a:schemeClr val="bg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TEAM</a:t>
            </a:r>
            <a:endParaRPr lang="en-US" sz="1100" dirty="0"/>
          </a:p>
        </p:txBody>
      </p:sp>
      <p:sp>
        <p:nvSpPr>
          <p:cNvPr id="5" name="person card Den"/>
          <p:cNvSpPr/>
          <p:nvPr/>
        </p:nvSpPr>
        <p:spPr>
          <a:xfrm>
            <a:off x="548640" y="1371600"/>
            <a:ext cx="5486400" cy="1737360"/>
          </a:xfrm>
          <a:prstGeom prst="roundRect">
            <a:avLst>
              <a:gd name="adj" fmla="val 6316"/>
            </a:avLst>
          </a:prstGeom>
          <a:solidFill>
            <a:schemeClr val="tx2"/>
          </a:solidFill>
          <a:ln w="12700">
            <a:solidFill>
              <a:schemeClr val="tx2"/>
            </a:solidFill>
            <a:prstDash val="solid"/>
          </a:ln>
        </p:spPr>
      </p:sp>
      <p:sp>
        <p:nvSpPr>
          <p:cNvPr id="6" name="person icon circle Den"/>
          <p:cNvSpPr/>
          <p:nvPr/>
        </p:nvSpPr>
        <p:spPr>
          <a:xfrm>
            <a:off x="822960" y="1691640"/>
            <a:ext cx="1005840" cy="1005840"/>
          </a:xfrm>
          <a:prstGeom prst="ellipse">
            <a:avLst/>
          </a:prstGeom>
          <a:solidFill>
            <a:schemeClr val="accent1"/>
          </a:solidFill>
          <a:ln w="12700">
            <a:solidFill>
              <a:schemeClr val="accent1"/>
            </a:solidFill>
            <a:prstDash val="solid"/>
          </a:ln>
        </p:spPr>
      </p:sp>
      <p:pic>
        <p:nvPicPr>
          <p:cNvPr id="7"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8" name="Text 5"/>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Den</a:t>
            </a:r>
            <a:endParaRPr lang="en-US" sz="2200" dirty="0"/>
          </a:p>
          <a:p>
            <a:pPr indent="0" marL="0">
              <a:buNone/>
            </a:pPr>
            <a:r>
              <a:rPr lang="en-US" sz="1400" dirty="0">
                <a:solidFill>
                  <a:schemeClr val="accent1"/>
                </a:solidFill>
              </a:rPr>
              <a:t>Cyber security student</a:t>
            </a:r>
            <a:endParaRPr lang="en-US" sz="2200" dirty="0"/>
          </a:p>
          <a:p>
            <a:pPr indent="0" marL="0">
              <a:buNone/>
            </a:pPr>
            <a:r>
              <a:rPr lang="en-US" sz="1300" dirty="0">
                <a:solidFill>
                  <a:schemeClr val="bg2"/>
                </a:solidFill>
              </a:rPr>
              <a:t>Detection · swarm sharing · attack defence · live PX4 mission</a:t>
            </a:r>
            <a:endParaRPr lang="en-US" sz="2200" dirty="0"/>
          </a:p>
        </p:txBody>
      </p:sp>
      <p:sp>
        <p:nvSpPr>
          <p:cNvPr id="9" name="person card Guled"/>
          <p:cNvSpPr/>
          <p:nvPr/>
        </p:nvSpPr>
        <p:spPr>
          <a:xfrm>
            <a:off x="6172200" y="1371600"/>
            <a:ext cx="5486400" cy="1737360"/>
          </a:xfrm>
          <a:prstGeom prst="roundRect">
            <a:avLst>
              <a:gd name="adj" fmla="val 6316"/>
            </a:avLst>
          </a:prstGeom>
          <a:solidFill>
            <a:schemeClr val="tx2"/>
          </a:solidFill>
          <a:ln w="12700">
            <a:solidFill>
              <a:schemeClr val="tx2"/>
            </a:solidFill>
            <a:prstDash val="solid"/>
          </a:ln>
        </p:spPr>
      </p:sp>
      <p:sp>
        <p:nvSpPr>
          <p:cNvPr id="10" name="person icon circle Guled"/>
          <p:cNvSpPr/>
          <p:nvPr/>
        </p:nvSpPr>
        <p:spPr>
          <a:xfrm>
            <a:off x="6446520" y="1691640"/>
            <a:ext cx="1005840" cy="1005840"/>
          </a:xfrm>
          <a:prstGeom prst="ellipse">
            <a:avLst/>
          </a:prstGeom>
          <a:solidFill>
            <a:schemeClr val="accent1"/>
          </a:solidFill>
          <a:ln w="12700">
            <a:solidFill>
              <a:schemeClr val="accent1"/>
            </a:solidFill>
            <a:prstDash val="solid"/>
          </a:ln>
        </p:spPr>
      </p:sp>
      <p:pic>
        <p:nvPicPr>
          <p:cNvPr id="11"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2" name="Text 8"/>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Guled</a:t>
            </a:r>
            <a:endParaRPr lang="en-US" sz="2200" dirty="0"/>
          </a:p>
          <a:p>
            <a:pPr indent="0" marL="0">
              <a:buNone/>
            </a:pPr>
            <a:r>
              <a:rPr lang="en-US" sz="1400" dirty="0">
                <a:solidFill>
                  <a:schemeClr val="accent1"/>
                </a:solidFill>
              </a:rPr>
              <a:t>Computer engineering student</a:t>
            </a:r>
            <a:endParaRPr lang="en-US" sz="2200" dirty="0"/>
          </a:p>
          <a:p>
            <a:pPr indent="0" marL="0">
              <a:buNone/>
            </a:pPr>
            <a:r>
              <a:rPr lang="en-US" sz="1300" dirty="0">
                <a:solidFill>
                  <a:schemeClr val="bg2"/>
                </a:solidFill>
              </a:rPr>
              <a:t>GPS-free navigation · jammer hunter · AI mission brain · slides</a:t>
            </a:r>
            <a:endParaRPr lang="en-US" sz="2200" dirty="0"/>
          </a:p>
        </p:txBody>
      </p:sp>
      <p:sp>
        <p:nvSpPr>
          <p:cNvPr id="13" name="Text 9"/>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chemeClr val="bg1"/>
                </a:solidFill>
              </a:rPr>
              <a:t>Shaped by: </a:t>
            </a:r>
            <a:pPr indent="0" marL="0">
              <a:buNone/>
            </a:pPr>
            <a:r>
              <a:rPr lang="en-US" sz="1400" dirty="0">
                <a:solidFill>
                  <a:schemeClr val="bg2"/>
                </a:solidFill>
              </a:rPr>
              <a:t>Swedish Air Force Helicopter Wing · military end-users · drone expert Isabella · a satellite company · fellow participants</a:t>
            </a:r>
            <a:endParaRPr lang="en-US" sz="1400" dirty="0"/>
          </a:p>
        </p:txBody>
      </p:sp>
      <p:sp>
        <p:nvSpPr>
          <p:cNvPr id="14" name="closing card"/>
          <p:cNvSpPr/>
          <p:nvPr/>
        </p:nvSpPr>
        <p:spPr>
          <a:xfrm>
            <a:off x="548640" y="4206240"/>
            <a:ext cx="11109960" cy="1828800"/>
          </a:xfrm>
          <a:prstGeom prst="roundRect">
            <a:avLst>
              <a:gd name="adj" fmla="val 7000"/>
            </a:avLst>
          </a:prstGeom>
          <a:solidFill>
            <a:schemeClr val="accent1"/>
          </a:solidFill>
          <a:ln w="12700">
            <a:solidFill>
              <a:schemeClr val="accent1"/>
            </a:solidFill>
            <a:prstDash val="solid"/>
          </a:ln>
        </p:spPr>
      </p:sp>
      <p:sp>
        <p:nvSpPr>
          <p:cNvPr id="15" name="Text 11"/>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chemeClr val="bg1"/>
                </a:solidFill>
              </a:rPr>
              <a:t>One drone gets jammed — the whole swarm learns.</a:t>
            </a:r>
            <a:endParaRPr lang="en-US" sz="2600" dirty="0"/>
          </a:p>
          <a:p>
            <a:pPr indent="0" marL="0">
              <a:buNone/>
            </a:pPr>
            <a:r>
              <a:rPr lang="en-US" sz="2600" b="1" dirty="0">
                <a:solidFill>
                  <a:schemeClr val="bg1"/>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Pitch: GNSS-denied navigation, Challenge 1</dc:subject>
  <dc:creator>Den and Guled</dc:creator>
  <cp:lastModifiedBy>Den and Guled</cp:lastModifiedBy>
  <cp:revision>1</cp:revision>
  <dcterms:created xsi:type="dcterms:W3CDTF">2026-10-16T21:19:06Z</dcterms:created>
  <dcterms:modified xsi:type="dcterms:W3CDTF">2026-10-16T21:19:06Z</dcterms:modified>
</cp:coreProperties>
</file>
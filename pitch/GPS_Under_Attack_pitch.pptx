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4.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media/image23.gif" ContentType="image/gif"/>
  <Override PartName="/ppt/media/image1.gif" ContentType="image/gif"/>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12192000" cy="6858000"/>
  <p:notesSz cx="6858000" cy="12192000"/>
  <p:extLst>
    <p:ext uri="{521415D9-36F7-43E2-AB2F-B90AF26B5E84}">
      <p14:sectionLst xmlns:p14="http://schemas.microsoft.com/office/powerpoint/2010/main">
        <p14:section name="Opening" id="{8cf7e43e-0179-893e-4325-48b0e94e706c}">
          <p14:sldIdLst>
            <p14:sldId id="256"/>
          </p14:sldIdLst>
        </p14:section>
        <p14:section name="Problem" id="{f24f98b4-a44f-d0d9-ceb5-8112089988e5}">
          <p14:sldIdLst>
            <p14:sldId id="257"/>
            <p14:sldId id="258"/>
          </p14:sldIdLst>
        </p14:section>
        <p14:section name="Solution" id="{6a1095de-4006-8bd2-ce65-cf23472e104e}">
          <p14:sldIdLst>
            <p14:sldId id="259"/>
            <p14:sldId id="260"/>
            <p14:sldId id="261"/>
            <p14:sldId id="262"/>
          </p14:sldIdLst>
        </p14:section>
        <p14:section name="Proof" id="{e7df7963-30e8-fb69-0829-82363b01225d}">
          <p14:sldIdLst>
            <p14:sldId id="263"/>
            <p14:sldId id="264"/>
            <p14:sldId id="265"/>
            <p14:sldId id="266"/>
          </p14:sldIdLst>
        </p14:section>
        <p14:section name="Progress and team" id="{954130e4-c341-28b2-0ea1-63c76745b0df}">
          <p14:sldIdLst>
            <p14:sldId id="267"/>
          </p14:sldIdLst>
        </p14:section>
      </p14:sectionLst>
    </p:ext>
  </p:ex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PlaceHolder 1"/>
          <p:cNvSpPr>
            <a:spLocks noGrp="1"/>
          </p:cNvSpPr>
          <p:nvPr>
            <p:ph type="sldImg"/>
          </p:nvPr>
        </p:nvSpPr>
        <p:spPr>
          <a:xfrm>
            <a:off x="0" y="812520"/>
            <a:ext cx="0" cy="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9"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10"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1" name="PlaceHolder 4"/>
          <p:cNvSpPr>
            <a:spLocks noGrp="1"/>
          </p:cNvSpPr>
          <p:nvPr>
            <p:ph type="dt" idx="2"/>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2" name="PlaceHolder 5"/>
          <p:cNvSpPr>
            <a:spLocks noGrp="1"/>
          </p:cNvSpPr>
          <p:nvPr>
            <p:ph type="ftr" idx="3"/>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3" name="PlaceHolder 6"/>
          <p:cNvSpPr>
            <a:spLocks noGrp="1"/>
          </p:cNvSpPr>
          <p:nvPr>
            <p:ph type="sldNum" idx="4"/>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05C379FD-BCBC-4407-BE10-977F04A65A3B}"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sldImg"/>
          </p:nvPr>
        </p:nvSpPr>
        <p:spPr>
          <a:xfrm>
            <a:off x="685800" y="1143000"/>
            <a:ext cx="5486040" cy="3085920"/>
          </a:xfrm>
          <a:prstGeom prst="rect">
            <a:avLst/>
          </a:prstGeom>
          <a:ln w="0">
            <a:noFill/>
          </a:ln>
        </p:spPr>
      </p:sp>
      <p:sp>
        <p:nvSpPr>
          <p:cNvPr id="30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0:00–0:10  DEN: Hi, we are Den and Guled. When one drone gets jammed, our whole swarm learns from it — and still completes the mission.</a:t>
            </a:r>
            <a:endParaRPr lang="en-US" sz="2000" b="0" u="none" strike="noStrike">
              <a:solidFill>
                <a:srgbClr val="000000"/>
              </a:solidFill>
              <a:effectLst/>
              <a:uFillTx/>
              <a:latin typeface="Arial"/>
            </a:endParaRPr>
          </a:p>
        </p:txBody>
      </p:sp>
      <p:sp>
        <p:nvSpPr>
          <p:cNvPr id="302"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1A36C29-BAF6-4AC7-B516-9D034B9E059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PlaceHolder 1"/>
          <p:cNvSpPr>
            <a:spLocks noGrp="1"/>
          </p:cNvSpPr>
          <p:nvPr>
            <p:ph type="sldImg"/>
          </p:nvPr>
        </p:nvSpPr>
        <p:spPr>
          <a:xfrm>
            <a:off x="685800" y="1143000"/>
            <a:ext cx="5486040" cy="3085920"/>
          </a:xfrm>
          <a:prstGeom prst="rect">
            <a:avLst/>
          </a:prstGeom>
          <a:ln w="0">
            <a:noFill/>
          </a:ln>
        </p:spPr>
      </p:sp>
      <p:sp>
        <p:nvSpPr>
          <p:cNvPr id="30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0:10–0:35  DEN: We started by talking to the Swedish Air Force: GPS jamming happens really often, and must be detected fast. Then we tested the real PX4 autopilot. After GPS is gone it needs 5 seconds — and then it lands blind, wherever it is.</a:t>
            </a:r>
            <a:endParaRPr lang="en-US" sz="2000" b="0" u="none" strike="noStrike">
              <a:solidFill>
                <a:srgbClr val="000000"/>
              </a:solidFill>
              <a:effectLst/>
              <a:uFillTx/>
              <a:latin typeface="Arial"/>
            </a:endParaRPr>
          </a:p>
        </p:txBody>
      </p:sp>
      <p:sp>
        <p:nvSpPr>
          <p:cNvPr id="305"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F40E0F5-50ED-499D-B4E0-8894908FB58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sldImg"/>
          </p:nvPr>
        </p:nvSpPr>
        <p:spPr>
          <a:xfrm>
            <a:off x="685800" y="1143000"/>
            <a:ext cx="5486040" cy="3085920"/>
          </a:xfrm>
          <a:prstGeom prst="rect">
            <a:avLst/>
          </a:prstGeom>
          <a:ln w="0">
            <a:noFill/>
          </a:ln>
        </p:spPr>
      </p:sp>
      <p:sp>
        <p:nvSpPr>
          <p:cNvPr id="30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0:35–0:55  GULED: On Friday the military told us: detect and return home — we already have that. What we need is a drone that warns the others, so the swarm still reaches the target. So we built this pipeline.</a:t>
            </a:r>
            <a:endParaRPr lang="en-US" sz="2000" b="0" u="none" strike="noStrike">
              <a:solidFill>
                <a:srgbClr val="000000"/>
              </a:solidFill>
              <a:effectLst/>
              <a:uFillTx/>
              <a:latin typeface="Arial"/>
            </a:endParaRPr>
          </a:p>
        </p:txBody>
      </p:sp>
      <p:sp>
        <p:nvSpPr>
          <p:cNvPr id="308"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35E7A20-5C3A-4F65-9C76-C2E8DC88C3A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sldImg"/>
          </p:nvPr>
        </p:nvSpPr>
        <p:spPr>
          <a:xfrm>
            <a:off x="685800" y="1143000"/>
            <a:ext cx="5486040" cy="3085920"/>
          </a:xfrm>
          <a:prstGeom prst="rect">
            <a:avLst/>
          </a:prstGeom>
          <a:ln w="0">
            <a:noFill/>
          </a:ln>
        </p:spPr>
      </p:sp>
      <p:sp>
        <p:nvSpPr>
          <p:cNvPr id="31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0:55–1:15  DEN: Step one: detect. Our monitor notices jamming in 1 second instead of 5. It even catches slow spoofing — fake GPS that looks perfect — by comparing GPS with the drone's own motion sensors.</a:t>
            </a:r>
            <a:endParaRPr lang="en-US" sz="2000" b="0" u="none" strike="noStrike">
              <a:solidFill>
                <a:srgbClr val="000000"/>
              </a:solidFill>
              <a:effectLst/>
              <a:uFillTx/>
              <a:latin typeface="Arial"/>
            </a:endParaRPr>
          </a:p>
        </p:txBody>
      </p:sp>
      <p:sp>
        <p:nvSpPr>
          <p:cNvPr id="311"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E0660B6-C4F0-4515-B42E-CACA0C5B475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sldImg"/>
          </p:nvPr>
        </p:nvSpPr>
        <p:spPr>
          <a:xfrm>
            <a:off x="685800" y="1143000"/>
            <a:ext cx="5486040" cy="3085920"/>
          </a:xfrm>
          <a:prstGeom prst="rect">
            <a:avLst/>
          </a:prstGeom>
          <a:ln w="0">
            <a:noFill/>
          </a:ln>
        </p:spPr>
      </p:sp>
      <p:sp>
        <p:nvSpPr>
          <p:cNvPr id="31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1:15–1:40  GULED: Without GPS, motion sensors alone drift 2 kilometres. In snow the camera sees nothing. But the shape of the hills survives snow: matching it with a laser altimeter keeps us within 14 metres. And jammed drones even help locate the jammer.</a:t>
            </a:r>
            <a:endParaRPr lang="en-US" sz="2000" b="0" u="none" strike="noStrike">
              <a:solidFill>
                <a:srgbClr val="000000"/>
              </a:solidFill>
              <a:effectLst/>
              <a:uFillTx/>
              <a:latin typeface="Arial"/>
            </a:endParaRPr>
          </a:p>
        </p:txBody>
      </p:sp>
      <p:sp>
        <p:nvSpPr>
          <p:cNvPr id="314"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9145DB0-D908-4774-94BC-9FF418966DF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PlaceHolder 1"/>
          <p:cNvSpPr>
            <a:spLocks noGrp="1"/>
          </p:cNvSpPr>
          <p:nvPr>
            <p:ph type="sldImg"/>
          </p:nvPr>
        </p:nvSpPr>
        <p:spPr>
          <a:xfrm>
            <a:off x="685800" y="1143000"/>
            <a:ext cx="5486040" cy="3085920"/>
          </a:xfrm>
          <a:prstGeom prst="rect">
            <a:avLst/>
          </a:prstGeom>
          <a:ln w="0">
            <a:noFill/>
          </a:ln>
        </p:spPr>
      </p:sp>
      <p:sp>
        <p:nvSpPr>
          <p:cNvPr id="31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1:40–2:00  GULED: The military asked for a swarm that finds its own solution. Our mission brain does that — with one rule: the AI decides what, tested code decides how. Every action passes a safety check.</a:t>
            </a:r>
            <a:endParaRPr lang="en-US" sz="2000" b="0" u="none" strike="noStrike">
              <a:solidFill>
                <a:srgbClr val="000000"/>
              </a:solidFill>
              <a:effectLst/>
              <a:uFillTx/>
              <a:latin typeface="Arial"/>
            </a:endParaRPr>
          </a:p>
        </p:txBody>
      </p:sp>
      <p:sp>
        <p:nvSpPr>
          <p:cNvPr id="317"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820CB63-D156-41B4-82D9-8D5D574FE59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PlaceHolder 1"/>
          <p:cNvSpPr>
            <a:spLocks noGrp="1"/>
          </p:cNvSpPr>
          <p:nvPr>
            <p:ph type="sldImg"/>
          </p:nvPr>
        </p:nvSpPr>
        <p:spPr>
          <a:xfrm>
            <a:off x="685800" y="1143000"/>
            <a:ext cx="5486040" cy="3085920"/>
          </a:xfrm>
          <a:prstGeom prst="rect">
            <a:avLst/>
          </a:prstGeom>
          <a:ln w="0">
            <a:noFill/>
          </a:ln>
        </p:spPr>
      </p:sp>
      <p:sp>
        <p:nvSpPr>
          <p:cNvPr id="31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3:30–3:50  GULED: And if the target is inside the jammed zone? Drones at the edge still have GPS and measure their radio distance to the drone inside. The swarm becomes its own GPS — accurate to about 1 metre.</a:t>
            </a:r>
            <a:endParaRPr lang="en-US" sz="2000" b="0" u="none" strike="noStrike">
              <a:solidFill>
                <a:srgbClr val="000000"/>
              </a:solidFill>
              <a:effectLst/>
              <a:uFillTx/>
              <a:latin typeface="Arial"/>
            </a:endParaRPr>
          </a:p>
        </p:txBody>
      </p:sp>
      <p:sp>
        <p:nvSpPr>
          <p:cNvPr id="320"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6E1B47F-C3F3-41AA-8220-AF68891CC19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type="sldImg"/>
          </p:nvPr>
        </p:nvSpPr>
        <p:spPr>
          <a:xfrm>
            <a:off x="685800" y="1143000"/>
            <a:ext cx="5486040" cy="3085920"/>
          </a:xfrm>
          <a:prstGeom prst="rect">
            <a:avLst/>
          </a:prstGeom>
          <a:ln w="0">
            <a:noFill/>
          </a:ln>
        </p:spPr>
      </p:sp>
      <p:sp>
        <p:nvSpPr>
          <p:cNvPr id="3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3:10–3:30  GULED: Then we left made-up terrain behind and used the real height map of Bråviken, near Norrköping. 25 out of 25 missions stayed on track. Where it gets hard — flat ground and water — we show that honestly.</a:t>
            </a:r>
            <a:endParaRPr lang="en-US" sz="2000" b="0" u="none" strike="noStrike">
              <a:solidFill>
                <a:srgbClr val="000000"/>
              </a:solidFill>
              <a:effectLst/>
              <a:uFillTx/>
              <a:latin typeface="Arial"/>
            </a:endParaRPr>
          </a:p>
        </p:txBody>
      </p:sp>
      <p:sp>
        <p:nvSpPr>
          <p:cNvPr id="323"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3A521C9-4484-4622-A477-165DE81142F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PlaceHolder 1"/>
          <p:cNvSpPr>
            <a:spLocks noGrp="1"/>
          </p:cNvSpPr>
          <p:nvPr>
            <p:ph type="sldImg"/>
          </p:nvPr>
        </p:nvSpPr>
        <p:spPr>
          <a:xfrm>
            <a:off x="685800" y="1143000"/>
            <a:ext cx="5486040" cy="3085920"/>
          </a:xfrm>
          <a:prstGeom prst="rect">
            <a:avLst/>
          </a:prstGeom>
          <a:ln w="0">
            <a:noFill/>
          </a:ln>
        </p:spPr>
      </p:sp>
      <p:sp>
        <p:nvSpPr>
          <p:cNvPr id="3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2:25–2:45  DEN: And it is not just a model. Three real PX4 autopilots fly this mission live in a simulator. The scout gets jammed, the others go around — 3 of 3 end on station.</a:t>
            </a:r>
            <a:endParaRPr lang="en-US" sz="2000" b="0" u="none" strike="noStrike">
              <a:solidFill>
                <a:srgbClr val="000000"/>
              </a:solidFill>
              <a:effectLst/>
              <a:uFillTx/>
              <a:latin typeface="Arial"/>
            </a:endParaRPr>
          </a:p>
        </p:txBody>
      </p:sp>
      <p:sp>
        <p:nvSpPr>
          <p:cNvPr id="326"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FA1FE61-437C-4E08-862F-ED2995E0EFA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PlaceHolder 1"/>
          <p:cNvSpPr>
            <a:spLocks noGrp="1"/>
          </p:cNvSpPr>
          <p:nvPr>
            <p:ph type="sldImg"/>
          </p:nvPr>
        </p:nvSpPr>
        <p:spPr>
          <a:xfrm>
            <a:off x="685800" y="1143000"/>
            <a:ext cx="5486040" cy="3085920"/>
          </a:xfrm>
          <a:prstGeom prst="rect">
            <a:avLst/>
          </a:prstGeom>
          <a:ln w="0">
            <a:noFill/>
          </a:ln>
        </p:spPr>
      </p:sp>
      <p:sp>
        <p:nvSpPr>
          <p:cNvPr id="3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2:45–3:10  DEN: Guled asked: what if the enemy fakes the warnings? So we attacked our own system. Our rule: a warning is cheap to believe, but an all-clear must be proven against real evidence. The liar was caught 6 out of 6 times.</a:t>
            </a:r>
            <a:endParaRPr lang="en-US" sz="2000" b="0" u="none" strike="noStrike">
              <a:solidFill>
                <a:srgbClr val="000000"/>
              </a:solidFill>
              <a:effectLst/>
              <a:uFillTx/>
              <a:latin typeface="Arial"/>
            </a:endParaRPr>
          </a:p>
        </p:txBody>
      </p:sp>
      <p:sp>
        <p:nvSpPr>
          <p:cNvPr id="329"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1786AD7-97F3-4F36-9E52-4973534FB71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sldImg"/>
          </p:nvPr>
        </p:nvSpPr>
        <p:spPr>
          <a:xfrm>
            <a:off x="685800" y="1143000"/>
            <a:ext cx="5486040" cy="3085920"/>
          </a:xfrm>
          <a:prstGeom prst="rect">
            <a:avLst/>
          </a:prstGeom>
          <a:ln w="0">
            <a:noFill/>
          </a:ln>
        </p:spPr>
      </p:sp>
      <p:sp>
        <p:nvSpPr>
          <p:cNvPr id="3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3:50–4:10  GULED: We did all this in 48 hours, shaped by four expert conversations. It is software only, so it runs on drones that already exist. Next: real drones in Terra lab, here at LiU.</a:t>
            </a:r>
            <a:endParaRPr lang="en-US" sz="2000" b="0" u="none" strike="noStrike">
              <a:solidFill>
                <a:srgbClr val="000000"/>
              </a:solidFill>
              <a:effectLst/>
              <a:uFillTx/>
              <a:latin typeface="Arial"/>
            </a:endParaRPr>
          </a:p>
        </p:txBody>
      </p:sp>
      <p:sp>
        <p:nvSpPr>
          <p:cNvPr id="332"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B9B9267-9755-4837-829F-78C8BA0C53D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PlaceHolder 1"/>
          <p:cNvSpPr>
            <a:spLocks noGrp="1"/>
          </p:cNvSpPr>
          <p:nvPr>
            <p:ph type="sldImg"/>
          </p:nvPr>
        </p:nvSpPr>
        <p:spPr>
          <a:xfrm>
            <a:off x="685800" y="1143000"/>
            <a:ext cx="5486040" cy="3085920"/>
          </a:xfrm>
          <a:prstGeom prst="rect">
            <a:avLst/>
          </a:prstGeom>
          <a:ln w="0">
            <a:noFill/>
          </a:ln>
        </p:spPr>
      </p:sp>
      <p:sp>
        <p:nvSpPr>
          <p:cNvPr id="33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4:10–4:25  DEN: One drone gets jammed — the whole swarm learns. And if the enemy fakes the warnings, physics exposes the liar. Thank you. (Pause before the last sentence.)</a:t>
            </a:r>
            <a:endParaRPr lang="en-US" sz="2000" b="0" u="none" strike="noStrike">
              <a:solidFill>
                <a:srgbClr val="000000"/>
              </a:solidFill>
              <a:effectLst/>
              <a:uFillTx/>
              <a:latin typeface="Arial"/>
            </a:endParaRPr>
          </a:p>
        </p:txBody>
      </p:sp>
      <p:sp>
        <p:nvSpPr>
          <p:cNvPr id="335"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EDE3F21-51A3-4EC6-B552-C4FE8C43569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DARK">
    <p:bg>
      <p:bgPr>
        <a:solidFill>
          <a:srgbClr val="0E162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40080" y="1417320"/>
            <a:ext cx="5668920" cy="2102760"/>
          </a:xfrm>
          <a:prstGeom prst="rect">
            <a:avLst/>
          </a:prstGeom>
          <a:noFill/>
          <a:ln w="0">
            <a:noFill/>
          </a:ln>
        </p:spPr>
        <p:txBody>
          <a:bodyPr lIns="90000" tIns="45000" rIns="90000" bIns="45000" anchor="t">
            <a:noAutofit/>
          </a:bodyPr>
          <a:lstStyle>
            <a:lvl1pPr indent="0" algn="l">
              <a:buNone/>
              <a:defRPr lang="en-US" sz="4000" b="0" u="none" strike="noStrike">
                <a:solidFill>
                  <a:schemeClr val="dk1"/>
                </a:solidFill>
                <a:effectLst/>
                <a:uFillTx/>
                <a:latin typeface="Calibri"/>
              </a:defRPr>
            </a:lvl1pPr>
          </a:lstStyle>
          <a:p>
            <a:pPr indent="0" algn="l">
              <a:buNone/>
            </a:pPr>
            <a:r>
              <a:rPr lang="en-US" sz="4000" b="0" u="none" strike="noStrike">
                <a:solidFill>
                  <a:schemeClr val="dk1"/>
                </a:solidFill>
                <a:effectLst/>
                <a:uFillTx/>
                <a:latin typeface="Calibri"/>
              </a:rPr>
              <a:t>Click to edit the title text format</a:t>
            </a:r>
            <a:endParaRPr lang="en-US" sz="4000" b="0" u="none" strike="noStrike">
              <a:solidFill>
                <a:schemeClr val="dk1"/>
              </a:solidFill>
              <a:effectLst/>
              <a:uFillTx/>
              <a:latin typeface="Calibri"/>
            </a:endParaRPr>
          </a:p>
        </p:txBody>
      </p:sp>
      <p:sp>
        <p:nvSpPr>
          <p:cNvPr id="3" name="PlaceHolder 2"/>
          <p:cNvSpPr>
            <a:spLocks noGrp="1"/>
          </p:cNvSpPr>
          <p:nvPr>
            <p:ph type="body"/>
          </p:nvPr>
        </p:nvSpPr>
        <p:spPr>
          <a:xfrm>
            <a:off x="640080" y="3657600"/>
            <a:ext cx="5486040" cy="1096920"/>
          </a:xfrm>
          <a:prstGeom prst="rect">
            <a:avLst/>
          </a:prstGeom>
          <a:noFill/>
          <a:ln w="0">
            <a:noFill/>
          </a:ln>
        </p:spPr>
        <p:txBody>
          <a:bodyPr lIns="90000" tIns="45000" rIns="90000" bIns="45000" anchor="t">
            <a:noAutofit/>
          </a:bodyPr>
          <a:lstStyle>
            <a:lvl1pPr algn="l">
              <a:spcBef>
                <a:spcPts val="1417"/>
              </a:spcBef>
              <a:buClr>
                <a:srgbClr val="FFFFFF"/>
              </a:buClr>
              <a:buSzPct val="45000"/>
              <a:buFont typeface="Wingdings" charset="2"/>
              <a:buChar char=""/>
              <a:defRPr lang="en-US" sz="1800" b="0" u="none" strike="noStrike">
                <a:solidFill>
                  <a:schemeClr val="dk1"/>
                </a:solidFill>
                <a:effectLst/>
                <a:uFillTx/>
                <a:latin typeface="Calibri"/>
              </a:defRPr>
            </a:lvl1pPr>
            <a:lvl2pPr lvl="1" algn="l">
              <a:spcBef>
                <a:spcPts val="1134"/>
              </a:spcBef>
              <a:buClr>
                <a:srgbClr val="FFFFFF"/>
              </a:buClr>
              <a:buSzPct val="75000"/>
              <a:buFont typeface="Symbol" charset="2"/>
              <a:buChar char=""/>
              <a:defRPr lang="en-US" sz="1800" b="0" u="none" strike="noStrike">
                <a:solidFill>
                  <a:schemeClr val="dk1"/>
                </a:solidFill>
                <a:effectLst/>
                <a:uFillTx/>
                <a:latin typeface="Calibri"/>
              </a:defRPr>
            </a:lvl2pPr>
            <a:lvl3pPr lvl="2" algn="l">
              <a:spcBef>
                <a:spcPts val="850"/>
              </a:spcBef>
              <a:buClr>
                <a:srgbClr val="FFFFFF"/>
              </a:buClr>
              <a:buSzPct val="45000"/>
              <a:buFont typeface="Wingdings" charset="2"/>
              <a:buChar char=""/>
              <a:defRPr lang="en-US" sz="1800" b="0" u="none" strike="noStrike">
                <a:solidFill>
                  <a:schemeClr val="dk1"/>
                </a:solidFill>
                <a:effectLst/>
                <a:uFillTx/>
                <a:latin typeface="Calibri"/>
              </a:defRPr>
            </a:lvl3pPr>
            <a:lvl4pPr lvl="3" algn="l">
              <a:spcBef>
                <a:spcPts val="567"/>
              </a:spcBef>
              <a:buClr>
                <a:srgbClr val="FFFFFF"/>
              </a:buClr>
              <a:buSzPct val="75000"/>
              <a:buFont typeface="Symbol" charset="2"/>
              <a:buChar char=""/>
              <a:defRPr lang="en-US" sz="1800" b="0" u="none" strike="noStrike">
                <a:solidFill>
                  <a:schemeClr val="dk1"/>
                </a:solidFill>
                <a:effectLst/>
                <a:uFillTx/>
                <a:latin typeface="Calibri"/>
              </a:defRPr>
            </a:lvl4pPr>
            <a:lvl5pPr lvl="4" algn="l">
              <a:spcBef>
                <a:spcPts val="283"/>
              </a:spcBef>
              <a:buClr>
                <a:srgbClr val="FFFFFF"/>
              </a:buClr>
              <a:buSzPct val="45000"/>
              <a:buFont typeface="Wingdings" charset="2"/>
              <a:buChar char=""/>
              <a:defRPr lang="en-US" sz="1800" b="0" u="none" strike="noStrike">
                <a:solidFill>
                  <a:schemeClr val="dk1"/>
                </a:solidFill>
                <a:effectLst/>
                <a:uFillTx/>
                <a:latin typeface="Calibri"/>
              </a:defRPr>
            </a:lvl5pPr>
            <a:lvl6pPr lvl="5" algn="l">
              <a:spcBef>
                <a:spcPts val="283"/>
              </a:spcBef>
              <a:buClr>
                <a:srgbClr val="FFFFFF"/>
              </a:buClr>
              <a:buSzPct val="45000"/>
              <a:buFont typeface="Wingdings" charset="2"/>
              <a:buChar char=""/>
              <a:defRPr lang="en-US" sz="1800" b="0" u="none" strike="noStrike">
                <a:solidFill>
                  <a:schemeClr val="dk1"/>
                </a:solidFill>
                <a:effectLst/>
                <a:uFillTx/>
                <a:latin typeface="Calibri"/>
              </a:defRPr>
            </a:lvl6pPr>
            <a:lvl7pPr lvl="6" algn="l">
              <a:spcBef>
                <a:spcPts val="283"/>
              </a:spcBef>
              <a:buClr>
                <a:srgbClr val="FFFFFF"/>
              </a:buClr>
              <a:buSzPct val="45000"/>
              <a:buFont typeface="Wingdings" charset="2"/>
              <a:buChar char=""/>
              <a:defRPr lang="en-US" sz="1800" b="0" u="none" strike="noStrike">
                <a:solidFill>
                  <a:schemeClr val="dk1"/>
                </a:solidFill>
                <a:effectLst/>
                <a:uFillTx/>
                <a:latin typeface="Calibri"/>
              </a:defRPr>
            </a:lvl7pPr>
          </a:lstStyle>
          <a:p>
            <a:pPr algn="l">
              <a:spcBef>
                <a:spcPts val="1417"/>
              </a:spcBef>
              <a:buClr>
                <a:srgbClr val="FFFFFF"/>
              </a:buClr>
              <a:buSzPct val="45000"/>
              <a:buFont typeface="Wingdings" charset="2"/>
              <a:buChar char=""/>
            </a:pPr>
            <a:r>
              <a:rPr lang="en-US" sz="1800" b="0" u="none" strike="noStrike">
                <a:solidFill>
                  <a:schemeClr val="dk1"/>
                </a:solidFill>
                <a:effectLst/>
                <a:uFillTx/>
                <a:latin typeface="Calibri"/>
              </a:rPr>
              <a:t>Click to edit the outline text format</a:t>
            </a:r>
            <a:endParaRPr lang="en-US" sz="1800" b="0" u="none" strike="noStrike">
              <a:solidFill>
                <a:schemeClr val="dk1"/>
              </a:solidFill>
              <a:effectLst/>
              <a:uFillTx/>
              <a:latin typeface="Calibri"/>
            </a:endParaRPr>
          </a:p>
          <a:p>
            <a:pPr marL="743040" lvl="1" indent="-285840" algn="l">
              <a:spcBef>
                <a:spcPts val="1134"/>
              </a:spcBef>
              <a:buClr>
                <a:srgbClr val="FFFFFF"/>
              </a:buClr>
              <a:buSzPct val="75000"/>
              <a:buFont typeface="Symbol" charset="2"/>
              <a:buChar char=""/>
            </a:pPr>
            <a:r>
              <a:rPr lang="en-US" sz="1800" b="0" u="none" strike="noStrike">
                <a:solidFill>
                  <a:schemeClr val="dk1"/>
                </a:solidFill>
                <a:effectLst/>
                <a:uFillTx/>
                <a:latin typeface="Calibri"/>
              </a:rPr>
              <a:t>Second Outline Level</a:t>
            </a:r>
            <a:endParaRPr lang="en-US" sz="1800" b="0" u="none" strike="noStrike">
              <a:solidFill>
                <a:schemeClr val="dk1"/>
              </a:solidFill>
              <a:effectLst/>
              <a:uFillTx/>
              <a:latin typeface="Calibri"/>
            </a:endParaRPr>
          </a:p>
          <a:p>
            <a:pPr marL="1143000" lvl="2" indent="-228600" algn="l">
              <a:spcBef>
                <a:spcPts val="850"/>
              </a:spcBef>
              <a:buClr>
                <a:srgbClr val="FFFFFF"/>
              </a:buClr>
              <a:buSzPct val="45000"/>
              <a:buFont typeface="Wingdings" charset="2"/>
              <a:buChar char=""/>
            </a:pPr>
            <a:r>
              <a:rPr lang="en-US" sz="1800" b="0" u="none" strike="noStrike">
                <a:solidFill>
                  <a:schemeClr val="dk1"/>
                </a:solidFill>
                <a:effectLst/>
                <a:uFillTx/>
                <a:latin typeface="Calibri"/>
              </a:rPr>
              <a:t>Third Outline Level</a:t>
            </a:r>
            <a:endParaRPr lang="en-US" sz="1800" b="0" u="none" strike="noStrike">
              <a:solidFill>
                <a:schemeClr val="dk1"/>
              </a:solidFill>
              <a:effectLst/>
              <a:uFillTx/>
              <a:latin typeface="Calibri"/>
            </a:endParaRPr>
          </a:p>
          <a:p>
            <a:pPr marL="1600200" lvl="3" indent="-228600" algn="l">
              <a:spcBef>
                <a:spcPts val="567"/>
              </a:spcBef>
              <a:buClr>
                <a:srgbClr val="FFFFFF"/>
              </a:buClr>
              <a:buSzPct val="75000"/>
              <a:buFont typeface="Symbol" charset="2"/>
              <a:buChar char=""/>
            </a:pPr>
            <a:r>
              <a:rPr lang="en-US" sz="1800" b="0" u="none" strike="noStrike">
                <a:solidFill>
                  <a:schemeClr val="dk1"/>
                </a:solidFill>
                <a:effectLst/>
                <a:uFillTx/>
                <a:latin typeface="Calibri"/>
              </a:rPr>
              <a:t>Fourth Outline Level</a:t>
            </a:r>
            <a:endParaRPr lang="en-US" sz="1800" b="0" u="none" strike="noStrike">
              <a:solidFill>
                <a:schemeClr val="dk1"/>
              </a:solidFill>
              <a:effectLst/>
              <a:uFillTx/>
              <a:latin typeface="Calibri"/>
            </a:endParaRPr>
          </a:p>
          <a:p>
            <a:pPr marL="2057400" lvl="4" indent="-228600" algn="l">
              <a:spcBef>
                <a:spcPts val="283"/>
              </a:spcBef>
              <a:buClr>
                <a:srgbClr val="FFFFFF"/>
              </a:buClr>
              <a:buSzPct val="45000"/>
              <a:buFont typeface="Wingdings" charset="2"/>
              <a:buChar char=""/>
            </a:pPr>
            <a:r>
              <a:rPr lang="en-US" sz="1800" b="0" u="none" strike="noStrike">
                <a:solidFill>
                  <a:schemeClr val="dk1"/>
                </a:solidFill>
                <a:effectLst/>
                <a:uFillTx/>
                <a:latin typeface="Calibri"/>
              </a:rPr>
              <a:t>Fifth Outline Level</a:t>
            </a:r>
            <a:endParaRPr lang="en-US" sz="1800" b="0" u="none" strike="noStrike">
              <a:solidFill>
                <a:schemeClr val="dk1"/>
              </a:solidFill>
              <a:effectLst/>
              <a:uFillTx/>
              <a:latin typeface="Calibri"/>
            </a:endParaRPr>
          </a:p>
          <a:p>
            <a:pPr marL="2514600" lvl="5" indent="-228600" algn="l">
              <a:spcBef>
                <a:spcPts val="283"/>
              </a:spcBef>
              <a:buClr>
                <a:srgbClr val="FFFFFF"/>
              </a:buClr>
              <a:buSzPct val="45000"/>
              <a:buFont typeface="Wingdings" charset="2"/>
              <a:buChar char=""/>
            </a:pPr>
            <a:r>
              <a:rPr lang="en-US" sz="1800" b="0" u="none" strike="noStrike">
                <a:solidFill>
                  <a:schemeClr val="dk1"/>
                </a:solidFill>
                <a:effectLst/>
                <a:uFillTx/>
                <a:latin typeface="Calibri"/>
              </a:rPr>
              <a:t>Sixth Outline Level</a:t>
            </a:r>
            <a:endParaRPr lang="en-US" sz="1800" b="0" u="none" strike="noStrike">
              <a:solidFill>
                <a:schemeClr val="dk1"/>
              </a:solidFill>
              <a:effectLst/>
              <a:uFillTx/>
              <a:latin typeface="Calibri"/>
            </a:endParaRPr>
          </a:p>
          <a:p>
            <a:pPr marL="2971800" lvl="6" indent="-228600" algn="l">
              <a:spcBef>
                <a:spcPts val="283"/>
              </a:spcBef>
              <a:buClr>
                <a:srgbClr val="FFFFFF"/>
              </a:buClr>
              <a:buSzPct val="45000"/>
              <a:buFont typeface="Wingdings" charset="2"/>
              <a:buChar char=""/>
            </a:pPr>
            <a:r>
              <a:rPr lang="en-US" sz="1800" b="0" u="none" strike="noStrike">
                <a:solidFill>
                  <a:schemeClr val="dk1"/>
                </a:solidFill>
                <a:effectLst/>
                <a:uFillTx/>
                <a:latin typeface="Calibri"/>
              </a:rPr>
              <a:t>Seventh Outline Level</a:t>
            </a:r>
            <a:endParaRPr lang="en-US" sz="1800" b="0" u="none" strike="noStrike">
              <a:solidFill>
                <a:schemeClr val="dk1"/>
              </a:solidFill>
              <a:effectLst/>
              <a:uFillTx/>
              <a:latin typeface="Calibri"/>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_DARK">
    <p:bg>
      <p:bgPr>
        <a:solidFill>
          <a:srgbClr val="0E1621"/>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548640" y="347400"/>
            <a:ext cx="9143640" cy="776880"/>
          </a:xfrm>
          <a:prstGeom prst="rect">
            <a:avLst/>
          </a:prstGeom>
          <a:noFill/>
          <a:ln w="0">
            <a:noFill/>
          </a:ln>
        </p:spPr>
        <p:txBody>
          <a:bodyPr lIns="90000" tIns="45000" rIns="90000" bIns="45000" anchor="t">
            <a:noAutofit/>
          </a:bodyPr>
          <a:lstStyle>
            <a:lvl1pPr indent="0" algn="l">
              <a:buNone/>
              <a:defRPr lang="en-US" sz="2800" b="0" u="none" strike="noStrike">
                <a:solidFill>
                  <a:schemeClr val="dk1"/>
                </a:solidFill>
                <a:effectLst/>
                <a:uFillTx/>
                <a:latin typeface="Calibri"/>
              </a:defRPr>
            </a:lvl1pPr>
          </a:lstStyle>
          <a:p>
            <a:pPr indent="0" algn="l">
              <a:buNone/>
            </a:pPr>
            <a:r>
              <a:rPr lang="en-US" sz="2800" b="0" u="none" strike="noStrike">
                <a:solidFill>
                  <a:schemeClr val="dk1"/>
                </a:solidFill>
                <a:effectLst/>
                <a:uFillTx/>
                <a:latin typeface="Calibri"/>
              </a:rPr>
              <a:t>Click to edit the title text format</a:t>
            </a:r>
            <a:endParaRPr lang="en-US" sz="2800" b="0" u="none" strike="noStrike">
              <a:solidFill>
                <a:schemeClr val="dk1"/>
              </a:solidFill>
              <a:effectLst/>
              <a:uFillTx/>
              <a:latin typeface="Calibri"/>
            </a:endParaRPr>
          </a:p>
        </p:txBody>
      </p:sp>
      <p:sp>
        <p:nvSpPr>
          <p:cNvPr id="5" name="Text 0"/>
          <p:cNvSpPr/>
          <p:nvPr/>
        </p:nvSpPr>
        <p:spPr>
          <a:xfrm>
            <a:off x="548640" y="6446520"/>
            <a:ext cx="6583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93A1B3"/>
                </a:solidFill>
                <a:effectLst/>
                <a:uFillTx/>
                <a:latin typeface="Calibri"/>
              </a:rPr>
              <a:t>EUDIS Defence Hackathon 2026 · Challenge 1 · GNSS-denied navigation · Den &amp; Guled</a:t>
            </a:r>
            <a:endParaRPr lang="en-US" sz="1000" b="0" u="none" strike="noStrike">
              <a:solidFill>
                <a:srgbClr val="FFFFFF"/>
              </a:solidFill>
              <a:effectLst/>
              <a:uFillTx/>
              <a:latin typeface="Arial"/>
            </a:endParaRPr>
          </a:p>
        </p:txBody>
      </p:sp>
      <p:sp>
        <p:nvSpPr>
          <p:cNvPr id="6" name="PlaceHolder 2"/>
          <p:cNvSpPr>
            <a:spLocks noGrp="1"/>
          </p:cNvSpPr>
          <p:nvPr>
            <p:ph type="sldNum" idx="1"/>
          </p:nvPr>
        </p:nvSpPr>
        <p:spPr>
          <a:xfrm>
            <a:off x="11247120" y="6446520"/>
            <a:ext cx="41112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93A1B3"/>
                </a:solidFill>
                <a:effectLst/>
                <a:uFillTx/>
                <a:latin typeface="Calibri"/>
              </a:defRPr>
            </a:lvl1pPr>
          </a:lstStyle>
          <a:p>
            <a:pPr indent="0" algn="r" defTabSz="914400">
              <a:lnSpc>
                <a:spcPct val="100000"/>
              </a:lnSpc>
              <a:buNone/>
            </a:pPr>
            <a:fld id="{D2D9DA69-457F-444E-ACE7-974D2B7E719E}" type="slidenum">
              <a:rPr lang="en-US" sz="1000" b="0" u="none" strike="noStrike">
                <a:solidFill>
                  <a:srgbClr val="93A1B3"/>
                </a:solidFill>
                <a:effectLst/>
                <a:uFillTx/>
                <a:latin typeface="Calibri"/>
              </a:rPr>
              <a:t>&lt;number&gt;</a:t>
            </a:fld>
            <a:endParaRPr lang="en-US" sz="1000" b="0" u="none" strike="noStrike">
              <a:solidFill>
                <a:srgbClr val="FFFFFF"/>
              </a:solidFill>
              <a:effectLst/>
              <a:uFillTx/>
              <a:latin typeface="Times New Roman"/>
            </a:endParaRPr>
          </a:p>
        </p:txBody>
      </p:sp>
      <p:sp>
        <p:nvSpPr>
          <p:cNvPr id="7"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FFFFFF"/>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FFFFFF"/>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FFFFFF"/>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FFFFFF"/>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FFFFFF"/>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FFFFFF"/>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FFFFFF"/>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FFFFFF"/>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FFFFFF"/>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FFFFFF"/>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FFFFFF"/>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FFFFFF"/>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FFFFFF"/>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FFFFFF"/>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1.gif"/><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slideLayout" Target="../slideLayouts/slideLayout3.xml"/><Relationship Id="rId7"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slideLayout" Target="../slideLayouts/slideLayout3.xml"/><Relationship Id="rId8"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3.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slideLayout" Target="../slideLayouts/slideLayout3.xml"/><Relationship Id="rId6"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slideLayout" Target="../slideLayouts/slideLayout3.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3.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3.gif"/><Relationship Id="rId2" Type="http://schemas.openxmlformats.org/officeDocument/2006/relationships/slideLayout" Target="../slideLayouts/slideLayout3.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3.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slideLayout" Target="../slideLayouts/slideLayout3.xml"/><Relationship Id="rId6"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0.png"/><Relationship Id="rId3" Type="http://schemas.openxmlformats.org/officeDocument/2006/relationships/slideLayout" Target="../slideLayouts/slideLayout3.xml"/><Relationship Id="rId4" Type="http://schemas.openxmlformats.org/officeDocument/2006/relationships/notesSlide" Target="../notesSlides/notesSlide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 name="Text 0"/>
          <p:cNvSpPr/>
          <p:nvPr/>
        </p:nvSpPr>
        <p:spPr>
          <a:xfrm>
            <a:off x="640080" y="822960"/>
            <a:ext cx="59432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201" strike="noStrike">
                <a:solidFill>
                  <a:srgbClr val="F26B1D"/>
                </a:solidFill>
                <a:effectLst/>
                <a:uFillTx/>
                <a:latin typeface="Calibri"/>
              </a:rPr>
              <a:t>EUDIS DEFENCE HACKATHON 2026 · CHALLENGE 1</a:t>
            </a:r>
            <a:endParaRPr lang="en-US" sz="1300" b="0" u="none" strike="noStrike">
              <a:solidFill>
                <a:srgbClr val="FFFFFF"/>
              </a:solidFill>
              <a:effectLst/>
              <a:uFillTx/>
              <a:latin typeface="Arial"/>
            </a:endParaRPr>
          </a:p>
        </p:txBody>
      </p:sp>
      <p:sp>
        <p:nvSpPr>
          <p:cNvPr id="15" name="PlaceHolder 1"/>
          <p:cNvSpPr>
            <a:spLocks noGrp="1"/>
          </p:cNvSpPr>
          <p:nvPr>
            <p:ph type="title" hasCustomPrompt="1"/>
          </p:nvPr>
        </p:nvSpPr>
        <p:spPr>
          <a:xfrm>
            <a:off x="640080" y="1417320"/>
            <a:ext cx="5668920" cy="2102760"/>
          </a:xfrm>
          <a:prstGeom prst="rect">
            <a:avLst/>
          </a:prstGeom>
          <a:noFill/>
          <a:ln w="0">
            <a:noFill/>
          </a:ln>
        </p:spPr>
        <p:txBody>
          <a:bodyPr lIns="0" tIns="0" rIns="0" bIns="0" anchor="t">
            <a:noAutofit/>
          </a:bodyPr>
          <a:p>
            <a:pPr indent="0" algn="l" defTabSz="914400">
              <a:lnSpc>
                <a:spcPct val="100000"/>
              </a:lnSpc>
              <a:buNone/>
              <a:tabLst>
                <a:tab pos="0" algn="l"/>
              </a:tabLst>
            </a:pPr>
            <a:r>
              <a:rPr lang="en-US" sz="4000" b="1" u="none" strike="noStrike">
                <a:solidFill>
                  <a:srgbClr val="FFFFFF"/>
                </a:solidFill>
                <a:effectLst/>
                <a:uFillTx/>
                <a:latin typeface="Arial"/>
              </a:rPr>
              <a:t>One drone gets jammed — the whole swarm learns</a:t>
            </a:r>
            <a:endParaRPr lang="en-US" sz="4000" b="0" u="none" strike="noStrike">
              <a:solidFill>
                <a:schemeClr val="dk1"/>
              </a:solidFill>
              <a:effectLst/>
              <a:uFillTx/>
              <a:latin typeface="Calibri"/>
            </a:endParaRPr>
          </a:p>
        </p:txBody>
      </p:sp>
      <p:sp>
        <p:nvSpPr>
          <p:cNvPr id="16" name="PlaceHolder 2"/>
          <p:cNvSpPr>
            <a:spLocks noGrp="1"/>
          </p:cNvSpPr>
          <p:nvPr>
            <p:ph hasCustomPrompt="1"/>
          </p:nvPr>
        </p:nvSpPr>
        <p:spPr>
          <a:xfrm>
            <a:off x="640080" y="3657600"/>
            <a:ext cx="5486040" cy="1096920"/>
          </a:xfrm>
          <a:prstGeom prst="rect">
            <a:avLst/>
          </a:prstGeom>
          <a:noFill/>
          <a:ln w="0">
            <a:noFill/>
          </a:ln>
        </p:spPr>
        <p:txBody>
          <a:bodyPr lIns="0" tIns="0" rIns="0" bIns="0" anchor="t">
            <a:noAutofit/>
          </a:bodyPr>
          <a:p>
            <a:pPr indent="0" algn="l" defTabSz="914400">
              <a:lnSpc>
                <a:spcPct val="100000"/>
              </a:lnSpc>
              <a:spcBef>
                <a:spcPts val="360"/>
              </a:spcBef>
              <a:buNone/>
              <a:tabLst>
                <a:tab pos="0" algn="l"/>
              </a:tabLst>
            </a:pPr>
            <a:r>
              <a:rPr lang="en-US" sz="1800" b="0" u="none" strike="noStrike">
                <a:solidFill>
                  <a:srgbClr val="E8EDF2"/>
                </a:solidFill>
                <a:effectLst/>
                <a:uFillTx/>
                <a:latin typeface="Calibri"/>
              </a:rPr>
              <a:t>GPS-denied navigation that detects the attack, shares it, and still completes the mission</a:t>
            </a:r>
            <a:endParaRPr lang="en-US" sz="1800" b="0" u="none" strike="noStrike">
              <a:solidFill>
                <a:schemeClr val="dk1"/>
              </a:solidFill>
              <a:effectLst/>
              <a:uFillTx/>
              <a:latin typeface="Calibri"/>
            </a:endParaRPr>
          </a:p>
        </p:txBody>
      </p:sp>
      <p:sp>
        <p:nvSpPr>
          <p:cNvPr id="17" name="Text 3"/>
          <p:cNvSpPr/>
          <p:nvPr/>
        </p:nvSpPr>
        <p:spPr>
          <a:xfrm>
            <a:off x="640080" y="5120640"/>
            <a:ext cx="56689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FFF"/>
                </a:solidFill>
                <a:effectLst/>
                <a:uFillTx/>
                <a:latin typeface="Calibri"/>
              </a:rPr>
              <a:t>Den</a:t>
            </a:r>
            <a:r>
              <a:rPr lang="en-US" sz="1500" b="0" u="none" strike="noStrike">
                <a:solidFill>
                  <a:srgbClr val="93A1B3"/>
                </a:solidFill>
                <a:effectLst/>
                <a:uFillTx/>
                <a:latin typeface="Calibri"/>
              </a:rPr>
              <a:t>  cyber security    </a:t>
            </a:r>
            <a:r>
              <a:rPr lang="en-US" sz="1500" b="1" u="none" strike="noStrike">
                <a:solidFill>
                  <a:srgbClr val="FFFFFF"/>
                </a:solidFill>
                <a:effectLst/>
                <a:uFillTx/>
                <a:latin typeface="Calibri"/>
              </a:rPr>
              <a:t>Guled</a:t>
            </a:r>
            <a:r>
              <a:rPr lang="en-US" sz="1500" b="0" u="none" strike="noStrike">
                <a:solidFill>
                  <a:srgbClr val="93A1B3"/>
                </a:solidFill>
                <a:effectLst/>
                <a:uFillTx/>
                <a:latin typeface="Calibri"/>
              </a:rPr>
              <a:t>  computer engineering</a:t>
            </a:r>
            <a:endParaRPr lang="en-US" sz="1500" b="0" u="none" strike="noStrike">
              <a:solidFill>
                <a:srgbClr val="FFFFFF"/>
              </a:solidFill>
              <a:effectLst/>
              <a:uFillTx/>
              <a:latin typeface="Arial"/>
            </a:endParaRPr>
          </a:p>
        </p:txBody>
      </p:sp>
      <p:sp>
        <p:nvSpPr>
          <p:cNvPr id="18" name="Animated swarm mission on a satellite map frame"/>
          <p:cNvSpPr/>
          <p:nvPr/>
        </p:nvSpPr>
        <p:spPr>
          <a:xfrm>
            <a:off x="6565320" y="1353240"/>
            <a:ext cx="5157000" cy="3175560"/>
          </a:xfrm>
          <a:prstGeom prst="roundRect">
            <a:avLst>
              <a:gd name="adj" fmla="val 2303"/>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19" name="Animated swarm mission on a satellite map" descr="Animated swarm mission on a satellite map"/>
          <p:cNvPicPr/>
          <p:nvPr/>
        </p:nvPicPr>
        <p:blipFill>
          <a:blip r:embed="rId1"/>
          <a:stretch/>
        </p:blipFill>
        <p:spPr>
          <a:xfrm>
            <a:off x="6629400" y="1417320"/>
            <a:ext cx="5028840" cy="3047760"/>
          </a:xfrm>
          <a:prstGeom prst="rect">
            <a:avLst/>
          </a:prstGeom>
          <a:noFill/>
          <a:ln w="0">
            <a:noFill/>
          </a:ln>
        </p:spPr>
      </p:pic>
      <p:sp>
        <p:nvSpPr>
          <p:cNvPr id="20" name="caption"/>
          <p:cNvSpPr/>
          <p:nvPr/>
        </p:nvSpPr>
        <p:spPr>
          <a:xfrm>
            <a:off x="6629400" y="4602600"/>
            <a:ext cx="502884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i="1" u="none" strike="noStrike">
                <a:solidFill>
                  <a:srgbClr val="93A1B3"/>
                </a:solidFill>
                <a:effectLst/>
                <a:uFillTx/>
                <a:latin typeface="Calibri"/>
              </a:rPr>
              <a:t>Our swarm mission on a real satellite map (animated). Illustrative location: Gotland, Baltic Sea.</a:t>
            </a:r>
            <a:endParaRPr lang="en-US" sz="1100" b="0" u="none" strike="noStrike">
              <a:solidFill>
                <a:srgbClr val="FFFFFF"/>
              </a:solidFill>
              <a:effectLst/>
              <a:uFillTx/>
              <a:latin typeface="Arial"/>
            </a:endParaRPr>
          </a:p>
        </p:txBody>
      </p:sp>
      <p:sp>
        <p:nvSpPr>
          <p:cNvPr id="21" name="imagery credit"/>
          <p:cNvSpPr/>
          <p:nvPr/>
        </p:nvSpPr>
        <p:spPr>
          <a:xfrm>
            <a:off x="6629400" y="5014080"/>
            <a:ext cx="50288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93A1B3"/>
                </a:solidFill>
                <a:effectLst/>
                <a:uFillTx/>
                <a:latin typeface="Calibri"/>
              </a:rPr>
              <a:t>Satellite: Sentinel-2 cloudless 2016 © EOX IT Services GmbH (CC BY 4.0), contains modified Copernicus Sentinel data</a:t>
            </a:r>
            <a:endParaRPr lang="en-US"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 name="PlaceHolder 1"/>
          <p:cNvSpPr>
            <a:spLocks noGrp="1"/>
          </p:cNvSpPr>
          <p:nvPr>
            <p:ph type="title" hasCustomPrompt="1"/>
          </p:nvPr>
        </p:nvSpPr>
        <p:spPr>
          <a:xfrm>
            <a:off x="548640" y="347400"/>
            <a:ext cx="9143640" cy="7768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800" b="1" u="none" strike="noStrike">
                <a:solidFill>
                  <a:srgbClr val="FFFFFF"/>
                </a:solidFill>
                <a:effectLst/>
                <a:uFillTx/>
                <a:latin typeface="Arial"/>
              </a:rPr>
              <a:t>GPS is attacked “really often” — drones land blind</a:t>
            </a:r>
            <a:endParaRPr lang="en-US" sz="2800" b="0" u="none" strike="noStrike">
              <a:solidFill>
                <a:schemeClr val="dk1"/>
              </a:solidFill>
              <a:effectLst/>
              <a:uFillTx/>
              <a:latin typeface="Calibri"/>
            </a:endParaRPr>
          </a:p>
        </p:txBody>
      </p:sp>
      <p:sp>
        <p:nvSpPr>
          <p:cNvPr id="23" name="criterion tag"/>
          <p:cNvSpPr/>
          <p:nvPr/>
        </p:nvSpPr>
        <p:spPr>
          <a:xfrm>
            <a:off x="9921240" y="502920"/>
            <a:ext cx="1737000" cy="383760"/>
          </a:xfrm>
          <a:prstGeom prst="roundRect">
            <a:avLst>
              <a:gd name="adj" fmla="val 50000"/>
            </a:avLst>
          </a:prstGeom>
          <a:solidFill>
            <a:srgbClr val="1E3246"/>
          </a:solidFill>
          <a:ln w="15875">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4" name="criterion tag text"/>
          <p:cNvSpPr/>
          <p:nvPr/>
        </p:nvSpPr>
        <p:spPr>
          <a:xfrm>
            <a:off x="9921240" y="502920"/>
            <a:ext cx="173700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pc="201" strike="noStrike">
                <a:solidFill>
                  <a:srgbClr val="F26B1D"/>
                </a:solidFill>
                <a:effectLst/>
                <a:uFillTx/>
                <a:latin typeface="Calibri"/>
              </a:rPr>
              <a:t>RELEVANCE</a:t>
            </a:r>
            <a:endParaRPr lang="en-US" sz="1100" b="0" u="none" strike="noStrike">
              <a:solidFill>
                <a:srgbClr val="FFFFFF"/>
              </a:solidFill>
              <a:effectLst/>
              <a:uFillTx/>
              <a:latin typeface="Arial"/>
            </a:endParaRPr>
          </a:p>
        </p:txBody>
      </p:sp>
      <p:sp>
        <p:nvSpPr>
          <p:cNvPr id="25" name="colour key"/>
          <p:cNvSpPr/>
          <p:nvPr/>
        </p:nvSpPr>
        <p:spPr>
          <a:xfrm>
            <a:off x="7223760" y="6446520"/>
            <a:ext cx="393156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34C77B"/>
                </a:solidFill>
                <a:effectLst/>
                <a:uFillTx/>
                <a:latin typeface="Calibri"/>
              </a:rPr>
              <a:t>● </a:t>
            </a:r>
            <a:r>
              <a:rPr lang="en-US" sz="1000" b="0" u="none" strike="noStrike">
                <a:solidFill>
                  <a:srgbClr val="93A1B3"/>
                </a:solidFill>
                <a:effectLst/>
                <a:uFillTx/>
                <a:latin typeface="Calibri"/>
              </a:rPr>
              <a:t>our result   </a:t>
            </a:r>
            <a:r>
              <a:rPr lang="en-US" sz="1000" b="0" u="none" strike="noStrike">
                <a:solidFill>
                  <a:srgbClr val="FF5A5F"/>
                </a:solidFill>
                <a:effectLst/>
                <a:uFillTx/>
                <a:latin typeface="Calibri"/>
              </a:rPr>
              <a:t>● </a:t>
            </a:r>
            <a:r>
              <a:rPr lang="en-US" sz="1000" b="0" u="none" strike="noStrike">
                <a:solidFill>
                  <a:srgbClr val="93A1B3"/>
                </a:solidFill>
                <a:effectLst/>
                <a:uFillTx/>
                <a:latin typeface="Calibri"/>
              </a:rPr>
              <a:t>today   </a:t>
            </a:r>
            <a:r>
              <a:rPr lang="en-US" sz="1000" b="0" u="none" strike="noStrike">
                <a:solidFill>
                  <a:srgbClr val="F5C451"/>
                </a:solidFill>
                <a:effectLst/>
                <a:uFillTx/>
                <a:latin typeface="Calibri"/>
              </a:rPr>
              <a:t>● </a:t>
            </a:r>
            <a:r>
              <a:rPr lang="en-US" sz="1000" b="0" u="none" strike="noStrike">
                <a:solidFill>
                  <a:srgbClr val="93A1B3"/>
                </a:solidFill>
                <a:effectLst/>
                <a:uFillTx/>
                <a:latin typeface="Calibri"/>
              </a:rPr>
              <a:t>partial / limit   </a:t>
            </a:r>
            <a:r>
              <a:rPr lang="en-US" sz="1000" b="0" u="none" strike="noStrike">
                <a:solidFill>
                  <a:srgbClr val="5AB4F0"/>
                </a:solidFill>
                <a:effectLst/>
                <a:uFillTx/>
                <a:latin typeface="Calibri"/>
              </a:rPr>
              <a:t>● </a:t>
            </a:r>
            <a:r>
              <a:rPr lang="en-US" sz="1000" b="0" u="none" strike="noStrike">
                <a:solidFill>
                  <a:srgbClr val="93A1B3"/>
                </a:solidFill>
                <a:effectLst/>
                <a:uFillTx/>
                <a:latin typeface="Calibri"/>
              </a:rPr>
              <a:t>fact</a:t>
            </a:r>
            <a:endParaRPr lang="en-US" sz="1000" b="0" u="none" strike="noStrike">
              <a:solidFill>
                <a:srgbClr val="FFFFFF"/>
              </a:solidFill>
              <a:effectLst/>
              <a:uFillTx/>
              <a:latin typeface="Arial"/>
            </a:endParaRPr>
          </a:p>
        </p:txBody>
      </p:sp>
      <p:sp>
        <p:nvSpPr>
          <p:cNvPr id="26" name="Text 4"/>
          <p:cNvSpPr/>
          <p:nvPr/>
        </p:nvSpPr>
        <p:spPr>
          <a:xfrm>
            <a:off x="548640" y="1371600"/>
            <a:ext cx="57603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26B1D"/>
                </a:solidFill>
                <a:effectLst/>
                <a:uFillTx/>
                <a:latin typeface="Calibri"/>
              </a:rPr>
              <a:t>What the Swedish Air Force (Helicopter Wing) told us</a:t>
            </a:r>
            <a:endParaRPr lang="en-US" sz="1500" b="0" u="none" strike="noStrike">
              <a:solidFill>
                <a:srgbClr val="FFFFFF"/>
              </a:solidFill>
              <a:effectLst/>
              <a:uFillTx/>
              <a:latin typeface="Arial"/>
            </a:endParaRPr>
          </a:p>
        </p:txBody>
      </p:sp>
      <p:sp>
        <p:nvSpPr>
          <p:cNvPr id="27" name="icon circle “It happens really often”"/>
          <p:cNvSpPr/>
          <p:nvPr/>
        </p:nvSpPr>
        <p:spPr>
          <a:xfrm>
            <a:off x="548640" y="1920240"/>
            <a:ext cx="548280" cy="548280"/>
          </a:xfrm>
          <a:prstGeom prst="ellipse">
            <a:avLst/>
          </a:prstGeom>
          <a:solidFill>
            <a:srgbClr val="1E3246"/>
          </a:solidFill>
          <a:ln w="19050">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8" name="Image 0" descr="“It happens really often”"/>
          <p:cNvPicPr/>
          <p:nvPr/>
        </p:nvPicPr>
        <p:blipFill>
          <a:blip r:embed="rId1"/>
          <a:stretch/>
        </p:blipFill>
        <p:spPr>
          <a:xfrm>
            <a:off x="685800" y="2057400"/>
            <a:ext cx="273960" cy="273960"/>
          </a:xfrm>
          <a:prstGeom prst="rect">
            <a:avLst/>
          </a:prstGeom>
          <a:noFill/>
          <a:ln w="0">
            <a:noFill/>
          </a:ln>
        </p:spPr>
      </p:pic>
      <p:sp>
        <p:nvSpPr>
          <p:cNvPr id="29" name="row “It happens really often”"/>
          <p:cNvSpPr/>
          <p:nvPr/>
        </p:nvSpPr>
        <p:spPr>
          <a:xfrm>
            <a:off x="1280160" y="1874520"/>
            <a:ext cx="512028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rgbClr val="FFFFFF"/>
                </a:solidFill>
                <a:effectLst/>
                <a:uFillTx/>
                <a:latin typeface="Calibri"/>
              </a:rPr>
              <a:t>“It happens really often”</a:t>
            </a:r>
            <a:endParaRPr lang="en-US" sz="15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E8EDF2"/>
                </a:solidFill>
                <a:effectLst/>
                <a:uFillTx/>
                <a:latin typeface="Calibri"/>
              </a:rPr>
              <a:t>Jamming and spoofing — widely reported over the Baltic</a:t>
            </a:r>
            <a:endParaRPr lang="en-US" sz="1300" b="0" u="none" strike="noStrike">
              <a:solidFill>
                <a:srgbClr val="FFFFFF"/>
              </a:solidFill>
              <a:effectLst/>
              <a:uFillTx/>
              <a:latin typeface="Arial"/>
            </a:endParaRPr>
          </a:p>
        </p:txBody>
      </p:sp>
      <p:sp>
        <p:nvSpPr>
          <p:cNvPr id="30" name="icon circle “Detect it as soon as possible”"/>
          <p:cNvSpPr/>
          <p:nvPr/>
        </p:nvSpPr>
        <p:spPr>
          <a:xfrm>
            <a:off x="548640" y="2880360"/>
            <a:ext cx="548280" cy="548280"/>
          </a:xfrm>
          <a:prstGeom prst="ellipse">
            <a:avLst/>
          </a:prstGeom>
          <a:solidFill>
            <a:srgbClr val="1E3246"/>
          </a:solidFill>
          <a:ln w="19050">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31" name="Image 1" descr="“Detect it as soon as possible”"/>
          <p:cNvPicPr/>
          <p:nvPr/>
        </p:nvPicPr>
        <p:blipFill>
          <a:blip r:embed="rId2"/>
          <a:stretch/>
        </p:blipFill>
        <p:spPr>
          <a:xfrm>
            <a:off x="685800" y="3017520"/>
            <a:ext cx="273960" cy="273960"/>
          </a:xfrm>
          <a:prstGeom prst="rect">
            <a:avLst/>
          </a:prstGeom>
          <a:noFill/>
          <a:ln w="0">
            <a:noFill/>
          </a:ln>
        </p:spPr>
      </p:pic>
      <p:sp>
        <p:nvSpPr>
          <p:cNvPr id="32" name="row “Detect it as soon as possible”"/>
          <p:cNvSpPr/>
          <p:nvPr/>
        </p:nvSpPr>
        <p:spPr>
          <a:xfrm>
            <a:off x="1280160" y="2834640"/>
            <a:ext cx="512028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rgbClr val="FFFFFF"/>
                </a:solidFill>
                <a:effectLst/>
                <a:uFillTx/>
                <a:latin typeface="Calibri"/>
              </a:rPr>
              <a:t>“Detect it as soon as possible”</a:t>
            </a:r>
            <a:endParaRPr lang="en-US" sz="15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E8EDF2"/>
                </a:solidFill>
                <a:effectLst/>
                <a:uFillTx/>
                <a:latin typeface="Calibri"/>
              </a:rPr>
              <a:t>Both jamming and spoofing, depending on the mission</a:t>
            </a:r>
            <a:endParaRPr lang="en-US" sz="1300" b="0" u="none" strike="noStrike">
              <a:solidFill>
                <a:srgbClr val="FFFFFF"/>
              </a:solidFill>
              <a:effectLst/>
              <a:uFillTx/>
              <a:latin typeface="Arial"/>
            </a:endParaRPr>
          </a:p>
        </p:txBody>
      </p:sp>
      <p:sp>
        <p:nvSpPr>
          <p:cNvPr id="33" name="icon circle “Snow hides the landmarks”"/>
          <p:cNvSpPr/>
          <p:nvPr/>
        </p:nvSpPr>
        <p:spPr>
          <a:xfrm>
            <a:off x="548640" y="3840480"/>
            <a:ext cx="548280" cy="548280"/>
          </a:xfrm>
          <a:prstGeom prst="ellipse">
            <a:avLst/>
          </a:prstGeom>
          <a:solidFill>
            <a:srgbClr val="1E3246"/>
          </a:solidFill>
          <a:ln w="19050">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34" name="Image 2" descr="“Snow hides the landmarks”"/>
          <p:cNvPicPr/>
          <p:nvPr/>
        </p:nvPicPr>
        <p:blipFill>
          <a:blip r:embed="rId3"/>
          <a:stretch/>
        </p:blipFill>
        <p:spPr>
          <a:xfrm>
            <a:off x="685800" y="3977640"/>
            <a:ext cx="273960" cy="273960"/>
          </a:xfrm>
          <a:prstGeom prst="rect">
            <a:avLst/>
          </a:prstGeom>
          <a:noFill/>
          <a:ln w="0">
            <a:noFill/>
          </a:ln>
        </p:spPr>
      </p:pic>
      <p:sp>
        <p:nvSpPr>
          <p:cNvPr id="35" name="row “Snow hides the landmarks”"/>
          <p:cNvSpPr/>
          <p:nvPr/>
        </p:nvSpPr>
        <p:spPr>
          <a:xfrm>
            <a:off x="1280160" y="3794760"/>
            <a:ext cx="512028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rgbClr val="FFFFFF"/>
                </a:solidFill>
                <a:effectLst/>
                <a:uFillTx/>
                <a:latin typeface="Calibri"/>
              </a:rPr>
              <a:t>“Snow hides the landmarks”</a:t>
            </a:r>
            <a:endParaRPr lang="en-US" sz="15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E8EDF2"/>
                </a:solidFill>
                <a:effectLst/>
                <a:uFillTx/>
                <a:latin typeface="Calibri"/>
              </a:rPr>
              <a:t>Pre-made maps stop matching in winter</a:t>
            </a:r>
            <a:endParaRPr lang="en-US" sz="1300" b="0" u="none" strike="noStrike">
              <a:solidFill>
                <a:srgbClr val="FFFFFF"/>
              </a:solidFill>
              <a:effectLst/>
              <a:uFillTx/>
              <a:latin typeface="Arial"/>
            </a:endParaRPr>
          </a:p>
        </p:txBody>
      </p:sp>
      <p:sp>
        <p:nvSpPr>
          <p:cNvPr id="36" name="icon circle “A drone once built its own map to get home”"/>
          <p:cNvSpPr/>
          <p:nvPr/>
        </p:nvSpPr>
        <p:spPr>
          <a:xfrm>
            <a:off x="548640" y="4800600"/>
            <a:ext cx="548280" cy="548280"/>
          </a:xfrm>
          <a:prstGeom prst="ellipse">
            <a:avLst/>
          </a:prstGeom>
          <a:solidFill>
            <a:srgbClr val="1E3246"/>
          </a:solidFill>
          <a:ln w="19050">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37" name="Image 3" descr="“A drone once built its own map to get home”"/>
          <p:cNvPicPr/>
          <p:nvPr/>
        </p:nvPicPr>
        <p:blipFill>
          <a:blip r:embed="rId4"/>
          <a:stretch/>
        </p:blipFill>
        <p:spPr>
          <a:xfrm>
            <a:off x="685800" y="4937760"/>
            <a:ext cx="273960" cy="273960"/>
          </a:xfrm>
          <a:prstGeom prst="rect">
            <a:avLst/>
          </a:prstGeom>
          <a:noFill/>
          <a:ln w="0">
            <a:noFill/>
          </a:ln>
        </p:spPr>
      </p:pic>
      <p:sp>
        <p:nvSpPr>
          <p:cNvPr id="38" name="row “A drone once built its own map to get home”"/>
          <p:cNvSpPr/>
          <p:nvPr/>
        </p:nvSpPr>
        <p:spPr>
          <a:xfrm>
            <a:off x="1280160" y="4754880"/>
            <a:ext cx="512028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rgbClr val="FFFFFF"/>
                </a:solidFill>
                <a:effectLst/>
                <a:uFillTx/>
                <a:latin typeface="Calibri"/>
              </a:rPr>
              <a:t>“A drone once built its own map to get home”</a:t>
            </a:r>
            <a:endParaRPr lang="en-US" sz="15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E8EDF2"/>
                </a:solidFill>
                <a:effectLst/>
                <a:uFillTx/>
                <a:latin typeface="Calibri"/>
              </a:rPr>
              <a:t>That real case is our starting point</a:t>
            </a:r>
            <a:endParaRPr lang="en-US" sz="1300" b="0" u="none" strike="noStrike">
              <a:solidFill>
                <a:srgbClr val="FFFFFF"/>
              </a:solidFill>
              <a:effectLst/>
              <a:uFillTx/>
              <a:latin typeface="Arial"/>
            </a:endParaRPr>
          </a:p>
        </p:txBody>
      </p:sp>
      <p:sp>
        <p:nvSpPr>
          <p:cNvPr id="39" name="caption"/>
          <p:cNvSpPr/>
          <p:nvPr/>
        </p:nvSpPr>
        <p:spPr>
          <a:xfrm>
            <a:off x="548640" y="5806440"/>
            <a:ext cx="603468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i="1" u="none" strike="noStrike">
                <a:solidFill>
                  <a:srgbClr val="93A1B3"/>
                </a:solidFill>
                <a:effectLst/>
                <a:uFillTx/>
                <a:latin typeface="Calibri"/>
              </a:rPr>
              <a:t>Public evidence: GNSS interference over the Baltic is mapped every day from airliner data (gpsjam.org).</a:t>
            </a:r>
            <a:endParaRPr lang="en-US" sz="1100" b="0" u="none" strike="noStrike">
              <a:solidFill>
                <a:srgbClr val="FFFFFF"/>
              </a:solidFill>
              <a:effectLst/>
              <a:uFillTx/>
              <a:latin typeface="Arial"/>
            </a:endParaRPr>
          </a:p>
        </p:txBody>
      </p:sp>
      <p:sp>
        <p:nvSpPr>
          <p:cNvPr id="40" name="PX4 flight log during GPS jamming frame"/>
          <p:cNvSpPr/>
          <p:nvPr/>
        </p:nvSpPr>
        <p:spPr>
          <a:xfrm>
            <a:off x="6885360" y="1307520"/>
            <a:ext cx="4288320" cy="3909960"/>
          </a:xfrm>
          <a:prstGeom prst="roundRect">
            <a:avLst>
              <a:gd name="adj" fmla="val 1871"/>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41" name="PX4 flight log during GPS jamming" descr="PX4 flight log during GPS jamming"/>
          <p:cNvPicPr/>
          <p:nvPr/>
        </p:nvPicPr>
        <p:blipFill>
          <a:blip r:embed="rId5"/>
          <a:stretch/>
        </p:blipFill>
        <p:spPr>
          <a:xfrm>
            <a:off x="6949440" y="1371600"/>
            <a:ext cx="4160160" cy="3781800"/>
          </a:xfrm>
          <a:prstGeom prst="rect">
            <a:avLst/>
          </a:prstGeom>
          <a:noFill/>
          <a:ln w="0">
            <a:noFill/>
          </a:ln>
        </p:spPr>
      </p:pic>
      <p:sp>
        <p:nvSpPr>
          <p:cNvPr id="42" name="stat card 5 s"/>
          <p:cNvSpPr/>
          <p:nvPr/>
        </p:nvSpPr>
        <p:spPr>
          <a:xfrm>
            <a:off x="6949440" y="5349240"/>
            <a:ext cx="2011320" cy="914040"/>
          </a:xfrm>
          <a:prstGeom prst="roundRect">
            <a:avLst>
              <a:gd name="adj" fmla="val 10000"/>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3" name="stat value 5 s"/>
          <p:cNvSpPr/>
          <p:nvPr/>
        </p:nvSpPr>
        <p:spPr>
          <a:xfrm>
            <a:off x="7086600" y="5422320"/>
            <a:ext cx="1737000" cy="50256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600" b="1" u="none" strike="noStrike">
                <a:solidFill>
                  <a:srgbClr val="FF5A5F"/>
                </a:solidFill>
                <a:effectLst/>
                <a:uFillTx/>
                <a:latin typeface="Calibri"/>
              </a:rPr>
              <a:t>5 s</a:t>
            </a:r>
            <a:endParaRPr lang="en-US" sz="2600" b="0" u="none" strike="noStrike">
              <a:solidFill>
                <a:srgbClr val="FFFFFF"/>
              </a:solidFill>
              <a:effectLst/>
              <a:uFillTx/>
              <a:latin typeface="Arial"/>
            </a:endParaRPr>
          </a:p>
        </p:txBody>
      </p:sp>
      <p:sp>
        <p:nvSpPr>
          <p:cNvPr id="44" name="stat label 5 s"/>
          <p:cNvSpPr/>
          <p:nvPr/>
        </p:nvSpPr>
        <p:spPr>
          <a:xfrm>
            <a:off x="7086600" y="5943600"/>
            <a:ext cx="173700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autopilot reaction time</a:t>
            </a:r>
            <a:endParaRPr lang="en-US" sz="1200" b="0" u="none" strike="noStrike">
              <a:solidFill>
                <a:srgbClr val="FFFFFF"/>
              </a:solidFill>
              <a:effectLst/>
              <a:uFillTx/>
              <a:latin typeface="Arial"/>
            </a:endParaRPr>
          </a:p>
        </p:txBody>
      </p:sp>
      <p:sp>
        <p:nvSpPr>
          <p:cNvPr id="45" name="stat card blind"/>
          <p:cNvSpPr/>
          <p:nvPr/>
        </p:nvSpPr>
        <p:spPr>
          <a:xfrm>
            <a:off x="9098280" y="5349240"/>
            <a:ext cx="2011320" cy="914040"/>
          </a:xfrm>
          <a:prstGeom prst="roundRect">
            <a:avLst>
              <a:gd name="adj" fmla="val 10000"/>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6" name="stat value blind"/>
          <p:cNvSpPr/>
          <p:nvPr/>
        </p:nvSpPr>
        <p:spPr>
          <a:xfrm>
            <a:off x="9235440" y="5422320"/>
            <a:ext cx="1737000" cy="50256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600" b="1" u="none" strike="noStrike">
                <a:solidFill>
                  <a:srgbClr val="FF5A5F"/>
                </a:solidFill>
                <a:effectLst/>
                <a:uFillTx/>
                <a:latin typeface="Calibri"/>
              </a:rPr>
              <a:t>blind</a:t>
            </a:r>
            <a:endParaRPr lang="en-US" sz="2600" b="0" u="none" strike="noStrike">
              <a:solidFill>
                <a:srgbClr val="FFFFFF"/>
              </a:solidFill>
              <a:effectLst/>
              <a:uFillTx/>
              <a:latin typeface="Arial"/>
            </a:endParaRPr>
          </a:p>
        </p:txBody>
      </p:sp>
      <p:sp>
        <p:nvSpPr>
          <p:cNvPr id="47" name="stat label blind"/>
          <p:cNvSpPr/>
          <p:nvPr/>
        </p:nvSpPr>
        <p:spPr>
          <a:xfrm>
            <a:off x="9235440" y="5943600"/>
            <a:ext cx="173700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landing — never flies home</a:t>
            </a:r>
            <a:endParaRPr lang="en-US" sz="1200" b="0" u="none" strike="noStrike">
              <a:solidFill>
                <a:srgbClr val="FFFFFF"/>
              </a:solidFill>
              <a:effectLst/>
              <a:uFillTx/>
              <a:latin typeface="Arial"/>
            </a:endParaRPr>
          </a:p>
        </p:txBody>
      </p:sp>
      <p:sp>
        <p:nvSpPr>
          <p:cNvPr id="48" name="PlaceHolder 2"/>
          <p:cNvSpPr>
            <a:spLocks noGrp="1"/>
          </p:cNvSpPr>
          <p:nvPr>
            <p:ph type="sldNum" idx="5"/>
          </p:nvPr>
        </p:nvSpPr>
        <p:spPr>
          <a:xfrm>
            <a:off x="11247120" y="6446520"/>
            <a:ext cx="41112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93A1B3"/>
                </a:solidFill>
                <a:effectLst/>
                <a:uFillTx/>
                <a:latin typeface="Calibri"/>
              </a:defRPr>
            </a:lvl1pPr>
          </a:lstStyle>
          <a:p>
            <a:pPr indent="0" algn="r" defTabSz="914400">
              <a:lnSpc>
                <a:spcPct val="100000"/>
              </a:lnSpc>
              <a:buNone/>
            </a:pPr>
            <a:fld id="{0AD0B90F-E4BF-4DBC-BE3C-4640C33F1534}" type="slidenum">
              <a:rPr lang="en-US" sz="1000" b="0" u="none" strike="noStrike">
                <a:solidFill>
                  <a:srgbClr val="93A1B3"/>
                </a:solidFill>
                <a:effectLst/>
                <a:uFillTx/>
                <a:latin typeface="Calibri"/>
              </a:rPr>
              <a:t>2</a:t>
            </a:fld>
            <a:endParaRPr lang="en-US" sz="10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
          <p:cNvSpPr>
            <a:spLocks noGrp="1"/>
          </p:cNvSpPr>
          <p:nvPr>
            <p:ph type="title" hasCustomPrompt="1"/>
          </p:nvPr>
        </p:nvSpPr>
        <p:spPr>
          <a:xfrm>
            <a:off x="548640" y="347400"/>
            <a:ext cx="9143640" cy="7768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800" b="1" u="none" strike="noStrike">
                <a:solidFill>
                  <a:srgbClr val="FFFFFF"/>
                </a:solidFill>
                <a:effectLst/>
                <a:uFillTx/>
                <a:latin typeface="Arial"/>
              </a:rPr>
              <a:t>The military told us what is really missing</a:t>
            </a:r>
            <a:endParaRPr lang="en-US" sz="2800" b="0" u="none" strike="noStrike">
              <a:solidFill>
                <a:schemeClr val="dk1"/>
              </a:solidFill>
              <a:effectLst/>
              <a:uFillTx/>
              <a:latin typeface="Calibri"/>
            </a:endParaRPr>
          </a:p>
        </p:txBody>
      </p:sp>
      <p:sp>
        <p:nvSpPr>
          <p:cNvPr id="50" name="criterion tag"/>
          <p:cNvSpPr/>
          <p:nvPr/>
        </p:nvSpPr>
        <p:spPr>
          <a:xfrm>
            <a:off x="9921240" y="502920"/>
            <a:ext cx="1737000" cy="383760"/>
          </a:xfrm>
          <a:prstGeom prst="roundRect">
            <a:avLst>
              <a:gd name="adj" fmla="val 50000"/>
            </a:avLst>
          </a:prstGeom>
          <a:solidFill>
            <a:srgbClr val="1E3246"/>
          </a:solidFill>
          <a:ln w="15875">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1" name="criterion tag text"/>
          <p:cNvSpPr/>
          <p:nvPr/>
        </p:nvSpPr>
        <p:spPr>
          <a:xfrm>
            <a:off x="9921240" y="502920"/>
            <a:ext cx="173700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pc="201" strike="noStrike">
                <a:solidFill>
                  <a:srgbClr val="F26B1D"/>
                </a:solidFill>
                <a:effectLst/>
                <a:uFillTx/>
                <a:latin typeface="Calibri"/>
              </a:rPr>
              <a:t>RELEVANCE</a:t>
            </a:r>
            <a:endParaRPr lang="en-US" sz="1100" b="0" u="none" strike="noStrike">
              <a:solidFill>
                <a:srgbClr val="FFFFFF"/>
              </a:solidFill>
              <a:effectLst/>
              <a:uFillTx/>
              <a:latin typeface="Arial"/>
            </a:endParaRPr>
          </a:p>
        </p:txBody>
      </p:sp>
      <p:sp>
        <p:nvSpPr>
          <p:cNvPr id="52" name="colour key"/>
          <p:cNvSpPr/>
          <p:nvPr/>
        </p:nvSpPr>
        <p:spPr>
          <a:xfrm>
            <a:off x="7223760" y="6446520"/>
            <a:ext cx="393156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34C77B"/>
                </a:solidFill>
                <a:effectLst/>
                <a:uFillTx/>
                <a:latin typeface="Calibri"/>
              </a:rPr>
              <a:t>● </a:t>
            </a:r>
            <a:r>
              <a:rPr lang="en-US" sz="1000" b="0" u="none" strike="noStrike">
                <a:solidFill>
                  <a:srgbClr val="93A1B3"/>
                </a:solidFill>
                <a:effectLst/>
                <a:uFillTx/>
                <a:latin typeface="Calibri"/>
              </a:rPr>
              <a:t>our result   </a:t>
            </a:r>
            <a:r>
              <a:rPr lang="en-US" sz="1000" b="0" u="none" strike="noStrike">
                <a:solidFill>
                  <a:srgbClr val="FF5A5F"/>
                </a:solidFill>
                <a:effectLst/>
                <a:uFillTx/>
                <a:latin typeface="Calibri"/>
              </a:rPr>
              <a:t>● </a:t>
            </a:r>
            <a:r>
              <a:rPr lang="en-US" sz="1000" b="0" u="none" strike="noStrike">
                <a:solidFill>
                  <a:srgbClr val="93A1B3"/>
                </a:solidFill>
                <a:effectLst/>
                <a:uFillTx/>
                <a:latin typeface="Calibri"/>
              </a:rPr>
              <a:t>today   </a:t>
            </a:r>
            <a:r>
              <a:rPr lang="en-US" sz="1000" b="0" u="none" strike="noStrike">
                <a:solidFill>
                  <a:srgbClr val="F5C451"/>
                </a:solidFill>
                <a:effectLst/>
                <a:uFillTx/>
                <a:latin typeface="Calibri"/>
              </a:rPr>
              <a:t>● </a:t>
            </a:r>
            <a:r>
              <a:rPr lang="en-US" sz="1000" b="0" u="none" strike="noStrike">
                <a:solidFill>
                  <a:srgbClr val="93A1B3"/>
                </a:solidFill>
                <a:effectLst/>
                <a:uFillTx/>
                <a:latin typeface="Calibri"/>
              </a:rPr>
              <a:t>partial / limit   </a:t>
            </a:r>
            <a:r>
              <a:rPr lang="en-US" sz="1000" b="0" u="none" strike="noStrike">
                <a:solidFill>
                  <a:srgbClr val="5AB4F0"/>
                </a:solidFill>
                <a:effectLst/>
                <a:uFillTx/>
                <a:latin typeface="Calibri"/>
              </a:rPr>
              <a:t>● </a:t>
            </a:r>
            <a:r>
              <a:rPr lang="en-US" sz="1000" b="0" u="none" strike="noStrike">
                <a:solidFill>
                  <a:srgbClr val="93A1B3"/>
                </a:solidFill>
                <a:effectLst/>
                <a:uFillTx/>
                <a:latin typeface="Calibri"/>
              </a:rPr>
              <a:t>fact</a:t>
            </a:r>
            <a:endParaRPr lang="en-US" sz="1000" b="0" u="none" strike="noStrike">
              <a:solidFill>
                <a:srgbClr val="FFFFFF"/>
              </a:solidFill>
              <a:effectLst/>
              <a:uFillTx/>
              <a:latin typeface="Arial"/>
            </a:endParaRPr>
          </a:p>
        </p:txBody>
      </p:sp>
      <p:sp>
        <p:nvSpPr>
          <p:cNvPr id="53" name="military quote card"/>
          <p:cNvSpPr/>
          <p:nvPr/>
        </p:nvSpPr>
        <p:spPr>
          <a:xfrm>
            <a:off x="548640" y="1371600"/>
            <a:ext cx="11109600" cy="1416960"/>
          </a:xfrm>
          <a:prstGeom prst="roundRect">
            <a:avLst>
              <a:gd name="adj" fmla="val 7742"/>
            </a:avLst>
          </a:prstGeom>
          <a:solidFill>
            <a:srgbClr val="1E3246"/>
          </a:solidFill>
          <a:ln w="15875">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4" name="Text 5"/>
          <p:cNvSpPr/>
          <p:nvPr/>
        </p:nvSpPr>
        <p:spPr>
          <a:xfrm>
            <a:off x="868680" y="1463040"/>
            <a:ext cx="1051524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0" i="1" u="none" strike="noStrike">
                <a:solidFill>
                  <a:srgbClr val="E8EDF2"/>
                </a:solidFill>
                <a:effectLst/>
                <a:uFillTx/>
                <a:latin typeface="Calibri"/>
              </a:rPr>
              <a:t>“Detect and return home — we already have that. </a:t>
            </a:r>
            <a:r>
              <a:rPr lang="en-US" sz="1900" b="1" i="1" u="none" strike="noStrike">
                <a:solidFill>
                  <a:srgbClr val="FFFFFF"/>
                </a:solidFill>
                <a:effectLst/>
                <a:uFillTx/>
                <a:latin typeface="Calibri"/>
              </a:rPr>
              <a:t>We need the drone to tell the others, and the swarm to find its own way to the target.”</a:t>
            </a:r>
            <a:endParaRPr lang="en-US" sz="1900" b="0" u="none" strike="noStrike">
              <a:solidFill>
                <a:srgbClr val="FFFFFF"/>
              </a:solidFill>
              <a:effectLst/>
              <a:uFillTx/>
              <a:latin typeface="Arial"/>
            </a:endParaRPr>
          </a:p>
        </p:txBody>
      </p:sp>
      <p:sp>
        <p:nvSpPr>
          <p:cNvPr id="55" name="Text 6"/>
          <p:cNvSpPr/>
          <p:nvPr/>
        </p:nvSpPr>
        <p:spPr>
          <a:xfrm>
            <a:off x="868680" y="2331720"/>
            <a:ext cx="105152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93A1B3"/>
                </a:solidFill>
                <a:effectLst/>
                <a:uFillTx/>
                <a:latin typeface="Calibri"/>
              </a:rPr>
              <a:t>Military end-users, Friday — this changed our project</a:t>
            </a:r>
            <a:endParaRPr lang="en-US" sz="1200" b="0" u="none" strike="noStrike">
              <a:solidFill>
                <a:srgbClr val="FFFFFF"/>
              </a:solidFill>
              <a:effectLst/>
              <a:uFillTx/>
              <a:latin typeface="Arial"/>
            </a:endParaRPr>
          </a:p>
        </p:txBody>
      </p:sp>
      <p:sp>
        <p:nvSpPr>
          <p:cNvPr id="56" name="step DETECT"/>
          <p:cNvSpPr/>
          <p:nvPr/>
        </p:nvSpPr>
        <p:spPr>
          <a:xfrm>
            <a:off x="548640" y="3246120"/>
            <a:ext cx="1663920" cy="2514240"/>
          </a:xfrm>
          <a:prstGeom prst="roundRect">
            <a:avLst>
              <a:gd name="adj" fmla="val 6593"/>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7" name="step icon circle DETECT"/>
          <p:cNvSpPr/>
          <p:nvPr/>
        </p:nvSpPr>
        <p:spPr>
          <a:xfrm>
            <a:off x="1014840" y="3474720"/>
            <a:ext cx="731160" cy="731160"/>
          </a:xfrm>
          <a:prstGeom prst="ellipse">
            <a:avLst/>
          </a:prstGeom>
          <a:solidFill>
            <a:srgbClr val="F26B1D"/>
          </a:solidFill>
          <a:ln w="12700">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58" name="Image 0" descr="DETECT"/>
          <p:cNvPicPr/>
          <p:nvPr/>
        </p:nvPicPr>
        <p:blipFill>
          <a:blip r:embed="rId1"/>
          <a:stretch/>
        </p:blipFill>
        <p:spPr>
          <a:xfrm>
            <a:off x="1197720" y="3657600"/>
            <a:ext cx="365400" cy="365400"/>
          </a:xfrm>
          <a:prstGeom prst="rect">
            <a:avLst/>
          </a:prstGeom>
          <a:noFill/>
          <a:ln w="0">
            <a:noFill/>
          </a:ln>
        </p:spPr>
      </p:pic>
      <p:sp>
        <p:nvSpPr>
          <p:cNvPr id="59" name="Text 9"/>
          <p:cNvSpPr/>
          <p:nvPr/>
        </p:nvSpPr>
        <p:spPr>
          <a:xfrm>
            <a:off x="640080" y="4343400"/>
            <a:ext cx="1481040" cy="4568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400" b="1" u="none" strike="noStrike">
                <a:solidFill>
                  <a:srgbClr val="FFFFFF"/>
                </a:solidFill>
                <a:effectLst/>
                <a:uFillTx/>
                <a:latin typeface="Calibri"/>
              </a:rPr>
              <a:t>DETECT</a:t>
            </a:r>
            <a:endParaRPr lang="en-US" sz="1400" b="0" u="none" strike="noStrike">
              <a:solidFill>
                <a:srgbClr val="FFFFFF"/>
              </a:solidFill>
              <a:effectLst/>
              <a:uFillTx/>
              <a:latin typeface="Arial"/>
            </a:endParaRPr>
          </a:p>
        </p:txBody>
      </p:sp>
      <p:sp>
        <p:nvSpPr>
          <p:cNvPr id="60" name="Text 10"/>
          <p:cNvSpPr/>
          <p:nvPr/>
        </p:nvSpPr>
        <p:spPr>
          <a:xfrm>
            <a:off x="640080" y="4800600"/>
            <a:ext cx="1481040" cy="4568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200" b="0" u="none" strike="noStrike">
                <a:solidFill>
                  <a:srgbClr val="E8EDF2"/>
                </a:solidFill>
                <a:effectLst/>
                <a:uFillTx/>
                <a:latin typeface="Calibri"/>
              </a:rPr>
              <a:t>jamming &amp; spoofing</a:t>
            </a:r>
            <a:endParaRPr lang="en-US" sz="1200" b="0" u="none" strike="noStrike">
              <a:solidFill>
                <a:srgbClr val="FFFFFF"/>
              </a:solidFill>
              <a:effectLst/>
              <a:uFillTx/>
              <a:latin typeface="Arial"/>
            </a:endParaRPr>
          </a:p>
        </p:txBody>
      </p:sp>
      <p:sp>
        <p:nvSpPr>
          <p:cNvPr id="61" name="Text 11"/>
          <p:cNvSpPr/>
          <p:nvPr/>
        </p:nvSpPr>
        <p:spPr>
          <a:xfrm>
            <a:off x="640080" y="5303520"/>
            <a:ext cx="148104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26B1D"/>
                </a:solidFill>
                <a:effectLst/>
                <a:uFillTx/>
                <a:latin typeface="Calibri"/>
              </a:rPr>
              <a:t>Den</a:t>
            </a:r>
            <a:endParaRPr lang="en-US" sz="1200" b="0" u="none" strike="noStrike">
              <a:solidFill>
                <a:srgbClr val="FFFFFF"/>
              </a:solidFill>
              <a:effectLst/>
              <a:uFillTx/>
              <a:latin typeface="Arial"/>
            </a:endParaRPr>
          </a:p>
        </p:txBody>
      </p:sp>
      <p:sp>
        <p:nvSpPr>
          <p:cNvPr id="62" name="arrow 0"/>
          <p:cNvSpPr/>
          <p:nvPr/>
        </p:nvSpPr>
        <p:spPr>
          <a:xfrm>
            <a:off x="2240280" y="4434840"/>
            <a:ext cx="168840" cy="273960"/>
          </a:xfrm>
          <a:prstGeom prst="rightArrow">
            <a:avLst>
              <a:gd name="adj1" fmla="val 50000"/>
              <a:gd name="adj2" fmla="val 50000"/>
            </a:avLst>
          </a:prstGeom>
          <a:solidFill>
            <a:srgbClr val="93A1B3"/>
          </a:solidFill>
          <a:ln w="12700">
            <a:solidFill>
              <a:srgbClr val="93A1B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3" name="step NAVIGATE"/>
          <p:cNvSpPr/>
          <p:nvPr/>
        </p:nvSpPr>
        <p:spPr>
          <a:xfrm>
            <a:off x="2436840" y="3246120"/>
            <a:ext cx="1663920" cy="2514240"/>
          </a:xfrm>
          <a:prstGeom prst="roundRect">
            <a:avLst>
              <a:gd name="adj" fmla="val 6593"/>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4" name="step icon circle NAVIGATE"/>
          <p:cNvSpPr/>
          <p:nvPr/>
        </p:nvSpPr>
        <p:spPr>
          <a:xfrm>
            <a:off x="2903400" y="3474720"/>
            <a:ext cx="731160" cy="731160"/>
          </a:xfrm>
          <a:prstGeom prst="ellipse">
            <a:avLst/>
          </a:prstGeom>
          <a:solidFill>
            <a:srgbClr val="F26B1D"/>
          </a:solidFill>
          <a:ln w="12700">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65" name="Image 1" descr="NAVIGATE"/>
          <p:cNvPicPr/>
          <p:nvPr/>
        </p:nvPicPr>
        <p:blipFill>
          <a:blip r:embed="rId2"/>
          <a:stretch/>
        </p:blipFill>
        <p:spPr>
          <a:xfrm>
            <a:off x="3086280" y="3657600"/>
            <a:ext cx="365400" cy="365400"/>
          </a:xfrm>
          <a:prstGeom prst="rect">
            <a:avLst/>
          </a:prstGeom>
          <a:noFill/>
          <a:ln w="0">
            <a:noFill/>
          </a:ln>
        </p:spPr>
      </p:pic>
      <p:sp>
        <p:nvSpPr>
          <p:cNvPr id="66" name="Text 15"/>
          <p:cNvSpPr/>
          <p:nvPr/>
        </p:nvSpPr>
        <p:spPr>
          <a:xfrm>
            <a:off x="2528280" y="4343400"/>
            <a:ext cx="1481040" cy="4568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400" b="1" u="none" strike="noStrike">
                <a:solidFill>
                  <a:srgbClr val="FFFFFF"/>
                </a:solidFill>
                <a:effectLst/>
                <a:uFillTx/>
                <a:latin typeface="Calibri"/>
              </a:rPr>
              <a:t>NAVIGATE</a:t>
            </a:r>
            <a:endParaRPr lang="en-US" sz="1400" b="0" u="none" strike="noStrike">
              <a:solidFill>
                <a:srgbClr val="FFFFFF"/>
              </a:solidFill>
              <a:effectLst/>
              <a:uFillTx/>
              <a:latin typeface="Arial"/>
            </a:endParaRPr>
          </a:p>
        </p:txBody>
      </p:sp>
      <p:sp>
        <p:nvSpPr>
          <p:cNvPr id="67" name="Text 16"/>
          <p:cNvSpPr/>
          <p:nvPr/>
        </p:nvSpPr>
        <p:spPr>
          <a:xfrm>
            <a:off x="2528280" y="4800600"/>
            <a:ext cx="1481040" cy="4568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200" b="0" u="none" strike="noStrike">
                <a:solidFill>
                  <a:srgbClr val="E8EDF2"/>
                </a:solidFill>
                <a:effectLst/>
                <a:uFillTx/>
                <a:latin typeface="Calibri"/>
              </a:rPr>
              <a:t>without GPS, in snow</a:t>
            </a:r>
            <a:endParaRPr lang="en-US" sz="1200" b="0" u="none" strike="noStrike">
              <a:solidFill>
                <a:srgbClr val="FFFFFF"/>
              </a:solidFill>
              <a:effectLst/>
              <a:uFillTx/>
              <a:latin typeface="Arial"/>
            </a:endParaRPr>
          </a:p>
        </p:txBody>
      </p:sp>
      <p:sp>
        <p:nvSpPr>
          <p:cNvPr id="68" name="Text 17"/>
          <p:cNvSpPr/>
          <p:nvPr/>
        </p:nvSpPr>
        <p:spPr>
          <a:xfrm>
            <a:off x="2528280" y="5303520"/>
            <a:ext cx="148104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26B1D"/>
                </a:solidFill>
                <a:effectLst/>
                <a:uFillTx/>
                <a:latin typeface="Calibri"/>
              </a:rPr>
              <a:t>Guled</a:t>
            </a:r>
            <a:endParaRPr lang="en-US" sz="1200" b="0" u="none" strike="noStrike">
              <a:solidFill>
                <a:srgbClr val="FFFFFF"/>
              </a:solidFill>
              <a:effectLst/>
              <a:uFillTx/>
              <a:latin typeface="Arial"/>
            </a:endParaRPr>
          </a:p>
        </p:txBody>
      </p:sp>
      <p:sp>
        <p:nvSpPr>
          <p:cNvPr id="69" name="arrow 1"/>
          <p:cNvSpPr/>
          <p:nvPr/>
        </p:nvSpPr>
        <p:spPr>
          <a:xfrm>
            <a:off x="4128480" y="4434840"/>
            <a:ext cx="168840" cy="273960"/>
          </a:xfrm>
          <a:prstGeom prst="rightArrow">
            <a:avLst>
              <a:gd name="adj1" fmla="val 50000"/>
              <a:gd name="adj2" fmla="val 50000"/>
            </a:avLst>
          </a:prstGeom>
          <a:solidFill>
            <a:srgbClr val="93A1B3"/>
          </a:solidFill>
          <a:ln w="12700">
            <a:solidFill>
              <a:srgbClr val="93A1B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70" name="step LOCATE"/>
          <p:cNvSpPr/>
          <p:nvPr/>
        </p:nvSpPr>
        <p:spPr>
          <a:xfrm>
            <a:off x="4325040" y="3246120"/>
            <a:ext cx="1663920" cy="2514240"/>
          </a:xfrm>
          <a:prstGeom prst="roundRect">
            <a:avLst>
              <a:gd name="adj" fmla="val 6593"/>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71" name="step icon circle LOCATE"/>
          <p:cNvSpPr/>
          <p:nvPr/>
        </p:nvSpPr>
        <p:spPr>
          <a:xfrm>
            <a:off x="4791600" y="3474720"/>
            <a:ext cx="731160" cy="731160"/>
          </a:xfrm>
          <a:prstGeom prst="ellipse">
            <a:avLst/>
          </a:prstGeom>
          <a:solidFill>
            <a:srgbClr val="F26B1D"/>
          </a:solidFill>
          <a:ln w="12700">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72" name="Image 2" descr="LOCATE"/>
          <p:cNvPicPr/>
          <p:nvPr/>
        </p:nvPicPr>
        <p:blipFill>
          <a:blip r:embed="rId3"/>
          <a:stretch/>
        </p:blipFill>
        <p:spPr>
          <a:xfrm>
            <a:off x="4974480" y="3657600"/>
            <a:ext cx="365400" cy="365400"/>
          </a:xfrm>
          <a:prstGeom prst="rect">
            <a:avLst/>
          </a:prstGeom>
          <a:noFill/>
          <a:ln w="0">
            <a:noFill/>
          </a:ln>
        </p:spPr>
      </p:pic>
      <p:sp>
        <p:nvSpPr>
          <p:cNvPr id="73" name="Text 21"/>
          <p:cNvSpPr/>
          <p:nvPr/>
        </p:nvSpPr>
        <p:spPr>
          <a:xfrm>
            <a:off x="4416480" y="4343400"/>
            <a:ext cx="1481040" cy="4568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400" b="1" u="none" strike="noStrike">
                <a:solidFill>
                  <a:srgbClr val="FFFFFF"/>
                </a:solidFill>
                <a:effectLst/>
                <a:uFillTx/>
                <a:latin typeface="Calibri"/>
              </a:rPr>
              <a:t>LOCATE</a:t>
            </a:r>
            <a:endParaRPr lang="en-US" sz="1400" b="0" u="none" strike="noStrike">
              <a:solidFill>
                <a:srgbClr val="FFFFFF"/>
              </a:solidFill>
              <a:effectLst/>
              <a:uFillTx/>
              <a:latin typeface="Arial"/>
            </a:endParaRPr>
          </a:p>
        </p:txBody>
      </p:sp>
      <p:sp>
        <p:nvSpPr>
          <p:cNvPr id="74" name="Text 22"/>
          <p:cNvSpPr/>
          <p:nvPr/>
        </p:nvSpPr>
        <p:spPr>
          <a:xfrm>
            <a:off x="4416480" y="4800600"/>
            <a:ext cx="1481040" cy="4568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200" b="0" u="none" strike="noStrike">
                <a:solidFill>
                  <a:srgbClr val="E8EDF2"/>
                </a:solidFill>
                <a:effectLst/>
                <a:uFillTx/>
                <a:latin typeface="Calibri"/>
              </a:rPr>
              <a:t>the jammer</a:t>
            </a:r>
            <a:endParaRPr lang="en-US" sz="1200" b="0" u="none" strike="noStrike">
              <a:solidFill>
                <a:srgbClr val="FFFFFF"/>
              </a:solidFill>
              <a:effectLst/>
              <a:uFillTx/>
              <a:latin typeface="Arial"/>
            </a:endParaRPr>
          </a:p>
        </p:txBody>
      </p:sp>
      <p:sp>
        <p:nvSpPr>
          <p:cNvPr id="75" name="Text 23"/>
          <p:cNvSpPr/>
          <p:nvPr/>
        </p:nvSpPr>
        <p:spPr>
          <a:xfrm>
            <a:off x="4416480" y="5303520"/>
            <a:ext cx="148104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26B1D"/>
                </a:solidFill>
                <a:effectLst/>
                <a:uFillTx/>
                <a:latin typeface="Calibri"/>
              </a:rPr>
              <a:t>Guled</a:t>
            </a:r>
            <a:endParaRPr lang="en-US" sz="1200" b="0" u="none" strike="noStrike">
              <a:solidFill>
                <a:srgbClr val="FFFFFF"/>
              </a:solidFill>
              <a:effectLst/>
              <a:uFillTx/>
              <a:latin typeface="Arial"/>
            </a:endParaRPr>
          </a:p>
        </p:txBody>
      </p:sp>
      <p:sp>
        <p:nvSpPr>
          <p:cNvPr id="76" name="arrow 2"/>
          <p:cNvSpPr/>
          <p:nvPr/>
        </p:nvSpPr>
        <p:spPr>
          <a:xfrm>
            <a:off x="6016680" y="4434840"/>
            <a:ext cx="168840" cy="273960"/>
          </a:xfrm>
          <a:prstGeom prst="rightArrow">
            <a:avLst>
              <a:gd name="adj1" fmla="val 50000"/>
              <a:gd name="adj2" fmla="val 50000"/>
            </a:avLst>
          </a:prstGeom>
          <a:solidFill>
            <a:srgbClr val="93A1B3"/>
          </a:solidFill>
          <a:ln w="12700">
            <a:solidFill>
              <a:srgbClr val="93A1B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77" name="step DECIDE"/>
          <p:cNvSpPr/>
          <p:nvPr/>
        </p:nvSpPr>
        <p:spPr>
          <a:xfrm>
            <a:off x="6213240" y="3246120"/>
            <a:ext cx="1663920" cy="2514240"/>
          </a:xfrm>
          <a:prstGeom prst="roundRect">
            <a:avLst>
              <a:gd name="adj" fmla="val 6593"/>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78" name="step icon circle DECIDE"/>
          <p:cNvSpPr/>
          <p:nvPr/>
        </p:nvSpPr>
        <p:spPr>
          <a:xfrm>
            <a:off x="6679800" y="3474720"/>
            <a:ext cx="731160" cy="731160"/>
          </a:xfrm>
          <a:prstGeom prst="ellipse">
            <a:avLst/>
          </a:prstGeom>
          <a:solidFill>
            <a:srgbClr val="F26B1D"/>
          </a:solidFill>
          <a:ln w="12700">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79" name="Image 3" descr="DECIDE"/>
          <p:cNvPicPr/>
          <p:nvPr/>
        </p:nvPicPr>
        <p:blipFill>
          <a:blip r:embed="rId4"/>
          <a:stretch/>
        </p:blipFill>
        <p:spPr>
          <a:xfrm>
            <a:off x="6862680" y="3657600"/>
            <a:ext cx="365400" cy="365400"/>
          </a:xfrm>
          <a:prstGeom prst="rect">
            <a:avLst/>
          </a:prstGeom>
          <a:noFill/>
          <a:ln w="0">
            <a:noFill/>
          </a:ln>
        </p:spPr>
      </p:pic>
      <p:sp>
        <p:nvSpPr>
          <p:cNvPr id="80" name="Text 27"/>
          <p:cNvSpPr/>
          <p:nvPr/>
        </p:nvSpPr>
        <p:spPr>
          <a:xfrm>
            <a:off x="6304680" y="4343400"/>
            <a:ext cx="1481040" cy="4568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400" b="1" u="none" strike="noStrike">
                <a:solidFill>
                  <a:srgbClr val="FFFFFF"/>
                </a:solidFill>
                <a:effectLst/>
                <a:uFillTx/>
                <a:latin typeface="Calibri"/>
              </a:rPr>
              <a:t>DECIDE</a:t>
            </a:r>
            <a:endParaRPr lang="en-US" sz="1400" b="0" u="none" strike="noStrike">
              <a:solidFill>
                <a:srgbClr val="FFFFFF"/>
              </a:solidFill>
              <a:effectLst/>
              <a:uFillTx/>
              <a:latin typeface="Arial"/>
            </a:endParaRPr>
          </a:p>
        </p:txBody>
      </p:sp>
      <p:sp>
        <p:nvSpPr>
          <p:cNvPr id="81" name="Text 28"/>
          <p:cNvSpPr/>
          <p:nvPr/>
        </p:nvSpPr>
        <p:spPr>
          <a:xfrm>
            <a:off x="6304680" y="4800600"/>
            <a:ext cx="1481040" cy="4568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200" b="0" u="none" strike="noStrike">
                <a:solidFill>
                  <a:srgbClr val="E8EDF2"/>
                </a:solidFill>
                <a:effectLst/>
                <a:uFillTx/>
                <a:latin typeface="Calibri"/>
              </a:rPr>
              <a:t>AI mission brain</a:t>
            </a:r>
            <a:endParaRPr lang="en-US" sz="1200" b="0" u="none" strike="noStrike">
              <a:solidFill>
                <a:srgbClr val="FFFFFF"/>
              </a:solidFill>
              <a:effectLst/>
              <a:uFillTx/>
              <a:latin typeface="Arial"/>
            </a:endParaRPr>
          </a:p>
        </p:txBody>
      </p:sp>
      <p:sp>
        <p:nvSpPr>
          <p:cNvPr id="82" name="Text 29"/>
          <p:cNvSpPr/>
          <p:nvPr/>
        </p:nvSpPr>
        <p:spPr>
          <a:xfrm>
            <a:off x="6304680" y="5303520"/>
            <a:ext cx="148104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26B1D"/>
                </a:solidFill>
                <a:effectLst/>
                <a:uFillTx/>
                <a:latin typeface="Calibri"/>
              </a:rPr>
              <a:t>Guled</a:t>
            </a:r>
            <a:endParaRPr lang="en-US" sz="1200" b="0" u="none" strike="noStrike">
              <a:solidFill>
                <a:srgbClr val="FFFFFF"/>
              </a:solidFill>
              <a:effectLst/>
              <a:uFillTx/>
              <a:latin typeface="Arial"/>
            </a:endParaRPr>
          </a:p>
        </p:txBody>
      </p:sp>
      <p:sp>
        <p:nvSpPr>
          <p:cNvPr id="83" name="arrow 3"/>
          <p:cNvSpPr/>
          <p:nvPr/>
        </p:nvSpPr>
        <p:spPr>
          <a:xfrm>
            <a:off x="7904880" y="4434840"/>
            <a:ext cx="168840" cy="273960"/>
          </a:xfrm>
          <a:prstGeom prst="rightArrow">
            <a:avLst>
              <a:gd name="adj1" fmla="val 50000"/>
              <a:gd name="adj2" fmla="val 50000"/>
            </a:avLst>
          </a:prstGeom>
          <a:solidFill>
            <a:srgbClr val="93A1B3"/>
          </a:solidFill>
          <a:ln w="12700">
            <a:solidFill>
              <a:srgbClr val="93A1B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84" name="step SHARE + REROUTE"/>
          <p:cNvSpPr/>
          <p:nvPr/>
        </p:nvSpPr>
        <p:spPr>
          <a:xfrm>
            <a:off x="8101440" y="3246120"/>
            <a:ext cx="1663920" cy="2514240"/>
          </a:xfrm>
          <a:prstGeom prst="roundRect">
            <a:avLst>
              <a:gd name="adj" fmla="val 6593"/>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85" name="step icon circle SHARE + REROUTE"/>
          <p:cNvSpPr/>
          <p:nvPr/>
        </p:nvSpPr>
        <p:spPr>
          <a:xfrm>
            <a:off x="8568000" y="3474720"/>
            <a:ext cx="731160" cy="731160"/>
          </a:xfrm>
          <a:prstGeom prst="ellipse">
            <a:avLst/>
          </a:prstGeom>
          <a:solidFill>
            <a:srgbClr val="F26B1D"/>
          </a:solidFill>
          <a:ln w="12700">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86" name="Image 4" descr="SHARE + REROUTE"/>
          <p:cNvPicPr/>
          <p:nvPr/>
        </p:nvPicPr>
        <p:blipFill>
          <a:blip r:embed="rId5"/>
          <a:stretch/>
        </p:blipFill>
        <p:spPr>
          <a:xfrm>
            <a:off x="8750880" y="3657600"/>
            <a:ext cx="365400" cy="365400"/>
          </a:xfrm>
          <a:prstGeom prst="rect">
            <a:avLst/>
          </a:prstGeom>
          <a:noFill/>
          <a:ln w="0">
            <a:noFill/>
          </a:ln>
        </p:spPr>
      </p:pic>
      <p:sp>
        <p:nvSpPr>
          <p:cNvPr id="87" name="Text 33"/>
          <p:cNvSpPr/>
          <p:nvPr/>
        </p:nvSpPr>
        <p:spPr>
          <a:xfrm>
            <a:off x="8192880" y="4343400"/>
            <a:ext cx="1481040" cy="4568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400" b="1" u="none" strike="noStrike">
                <a:solidFill>
                  <a:srgbClr val="FFFFFF"/>
                </a:solidFill>
                <a:effectLst/>
                <a:uFillTx/>
                <a:latin typeface="Calibri"/>
              </a:rPr>
              <a:t>SHARE + REROUTE</a:t>
            </a:r>
            <a:endParaRPr lang="en-US" sz="1400" b="0" u="none" strike="noStrike">
              <a:solidFill>
                <a:srgbClr val="FFFFFF"/>
              </a:solidFill>
              <a:effectLst/>
              <a:uFillTx/>
              <a:latin typeface="Arial"/>
            </a:endParaRPr>
          </a:p>
        </p:txBody>
      </p:sp>
      <p:sp>
        <p:nvSpPr>
          <p:cNvPr id="88" name="Text 34"/>
          <p:cNvSpPr/>
          <p:nvPr/>
        </p:nvSpPr>
        <p:spPr>
          <a:xfrm>
            <a:off x="8192880" y="4800600"/>
            <a:ext cx="1481040" cy="4568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200" b="0" u="none" strike="noStrike">
                <a:solidFill>
                  <a:srgbClr val="E8EDF2"/>
                </a:solidFill>
                <a:effectLst/>
                <a:uFillTx/>
                <a:latin typeface="Calibri"/>
              </a:rPr>
              <a:t>the whole swarm</a:t>
            </a:r>
            <a:endParaRPr lang="en-US" sz="1200" b="0" u="none" strike="noStrike">
              <a:solidFill>
                <a:srgbClr val="FFFFFF"/>
              </a:solidFill>
              <a:effectLst/>
              <a:uFillTx/>
              <a:latin typeface="Arial"/>
            </a:endParaRPr>
          </a:p>
        </p:txBody>
      </p:sp>
      <p:sp>
        <p:nvSpPr>
          <p:cNvPr id="89" name="Text 35"/>
          <p:cNvSpPr/>
          <p:nvPr/>
        </p:nvSpPr>
        <p:spPr>
          <a:xfrm>
            <a:off x="8192880" y="5303520"/>
            <a:ext cx="148104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26B1D"/>
                </a:solidFill>
                <a:effectLst/>
                <a:uFillTx/>
                <a:latin typeface="Calibri"/>
              </a:rPr>
              <a:t>Den</a:t>
            </a:r>
            <a:endParaRPr lang="en-US" sz="1200" b="0" u="none" strike="noStrike">
              <a:solidFill>
                <a:srgbClr val="FFFFFF"/>
              </a:solidFill>
              <a:effectLst/>
              <a:uFillTx/>
              <a:latin typeface="Arial"/>
            </a:endParaRPr>
          </a:p>
        </p:txBody>
      </p:sp>
      <p:sp>
        <p:nvSpPr>
          <p:cNvPr id="90" name="arrow 4"/>
          <p:cNvSpPr/>
          <p:nvPr/>
        </p:nvSpPr>
        <p:spPr>
          <a:xfrm>
            <a:off x="9793080" y="4434840"/>
            <a:ext cx="168840" cy="273960"/>
          </a:xfrm>
          <a:prstGeom prst="rightArrow">
            <a:avLst>
              <a:gd name="adj1" fmla="val 50000"/>
              <a:gd name="adj2" fmla="val 50000"/>
            </a:avLst>
          </a:prstGeom>
          <a:solidFill>
            <a:srgbClr val="93A1B3"/>
          </a:solidFill>
          <a:ln w="12700">
            <a:solidFill>
              <a:srgbClr val="93A1B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91" name="step SECURE"/>
          <p:cNvSpPr/>
          <p:nvPr/>
        </p:nvSpPr>
        <p:spPr>
          <a:xfrm>
            <a:off x="9990000" y="3246120"/>
            <a:ext cx="1663920" cy="2514240"/>
          </a:xfrm>
          <a:prstGeom prst="roundRect">
            <a:avLst>
              <a:gd name="adj" fmla="val 6593"/>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92" name="step icon circle SECURE"/>
          <p:cNvSpPr/>
          <p:nvPr/>
        </p:nvSpPr>
        <p:spPr>
          <a:xfrm>
            <a:off x="10456200" y="3474720"/>
            <a:ext cx="731160" cy="731160"/>
          </a:xfrm>
          <a:prstGeom prst="ellipse">
            <a:avLst/>
          </a:prstGeom>
          <a:solidFill>
            <a:srgbClr val="F26B1D"/>
          </a:solidFill>
          <a:ln w="12700">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93" name="Image 5" descr="SECURE"/>
          <p:cNvPicPr/>
          <p:nvPr/>
        </p:nvPicPr>
        <p:blipFill>
          <a:blip r:embed="rId6"/>
          <a:stretch/>
        </p:blipFill>
        <p:spPr>
          <a:xfrm>
            <a:off x="10639080" y="3657600"/>
            <a:ext cx="365400" cy="365400"/>
          </a:xfrm>
          <a:prstGeom prst="rect">
            <a:avLst/>
          </a:prstGeom>
          <a:noFill/>
          <a:ln w="0">
            <a:noFill/>
          </a:ln>
        </p:spPr>
      </p:pic>
      <p:sp>
        <p:nvSpPr>
          <p:cNvPr id="94" name="Text 39"/>
          <p:cNvSpPr/>
          <p:nvPr/>
        </p:nvSpPr>
        <p:spPr>
          <a:xfrm>
            <a:off x="10081440" y="4343400"/>
            <a:ext cx="1481040" cy="4568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400" b="1" u="none" strike="noStrike">
                <a:solidFill>
                  <a:srgbClr val="FFFFFF"/>
                </a:solidFill>
                <a:effectLst/>
                <a:uFillTx/>
                <a:latin typeface="Calibri"/>
              </a:rPr>
              <a:t>SECURE</a:t>
            </a:r>
            <a:endParaRPr lang="en-US" sz="1400" b="0" u="none" strike="noStrike">
              <a:solidFill>
                <a:srgbClr val="FFFFFF"/>
              </a:solidFill>
              <a:effectLst/>
              <a:uFillTx/>
              <a:latin typeface="Arial"/>
            </a:endParaRPr>
          </a:p>
        </p:txBody>
      </p:sp>
      <p:sp>
        <p:nvSpPr>
          <p:cNvPr id="95" name="Text 40"/>
          <p:cNvSpPr/>
          <p:nvPr/>
        </p:nvSpPr>
        <p:spPr>
          <a:xfrm>
            <a:off x="10081440" y="4800600"/>
            <a:ext cx="1481040" cy="4568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200" b="0" u="none" strike="noStrike">
                <a:solidFill>
                  <a:srgbClr val="E8EDF2"/>
                </a:solidFill>
                <a:effectLst/>
                <a:uFillTx/>
                <a:latin typeface="Calibri"/>
              </a:rPr>
              <a:t>against fake warnings</a:t>
            </a:r>
            <a:endParaRPr lang="en-US" sz="1200" b="0" u="none" strike="noStrike">
              <a:solidFill>
                <a:srgbClr val="FFFFFF"/>
              </a:solidFill>
              <a:effectLst/>
              <a:uFillTx/>
              <a:latin typeface="Arial"/>
            </a:endParaRPr>
          </a:p>
        </p:txBody>
      </p:sp>
      <p:sp>
        <p:nvSpPr>
          <p:cNvPr id="96" name="Text 41"/>
          <p:cNvSpPr/>
          <p:nvPr/>
        </p:nvSpPr>
        <p:spPr>
          <a:xfrm>
            <a:off x="10081440" y="5303520"/>
            <a:ext cx="148104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26B1D"/>
                </a:solidFill>
                <a:effectLst/>
                <a:uFillTx/>
                <a:latin typeface="Calibri"/>
              </a:rPr>
              <a:t>Den</a:t>
            </a:r>
            <a:endParaRPr lang="en-US" sz="1200" b="0" u="none" strike="noStrike">
              <a:solidFill>
                <a:srgbClr val="FFFFFF"/>
              </a:solidFill>
              <a:effectLst/>
              <a:uFillTx/>
              <a:latin typeface="Arial"/>
            </a:endParaRPr>
          </a:p>
        </p:txBody>
      </p:sp>
      <p:sp>
        <p:nvSpPr>
          <p:cNvPr id="97" name="PlaceHolder 2"/>
          <p:cNvSpPr>
            <a:spLocks noGrp="1"/>
          </p:cNvSpPr>
          <p:nvPr>
            <p:ph type="sldNum" idx="6"/>
          </p:nvPr>
        </p:nvSpPr>
        <p:spPr>
          <a:xfrm>
            <a:off x="11247120" y="6446520"/>
            <a:ext cx="41112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93A1B3"/>
                </a:solidFill>
                <a:effectLst/>
                <a:uFillTx/>
                <a:latin typeface="Calibri"/>
              </a:defRPr>
            </a:lvl1pPr>
          </a:lstStyle>
          <a:p>
            <a:pPr indent="0" algn="r" defTabSz="914400">
              <a:lnSpc>
                <a:spcPct val="100000"/>
              </a:lnSpc>
              <a:buNone/>
            </a:pPr>
            <a:fld id="{F02E0D5F-BA44-454A-B225-BA603E79F481}" type="slidenum">
              <a:rPr lang="en-US" sz="1000" b="0" u="none" strike="noStrike">
                <a:solidFill>
                  <a:srgbClr val="93A1B3"/>
                </a:solidFill>
                <a:effectLst/>
                <a:uFillTx/>
                <a:latin typeface="Calibri"/>
              </a:rPr>
              <a:t>3</a:t>
            </a:fld>
            <a:endParaRPr lang="en-US" sz="10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hasCustomPrompt="1"/>
          </p:nvPr>
        </p:nvSpPr>
        <p:spPr>
          <a:xfrm>
            <a:off x="548640" y="347400"/>
            <a:ext cx="9143640" cy="7768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800" b="1" u="none" strike="noStrike">
                <a:solidFill>
                  <a:srgbClr val="FFFFFF"/>
                </a:solidFill>
                <a:effectLst/>
                <a:uFillTx/>
                <a:latin typeface="Arial"/>
              </a:rPr>
              <a:t>Detect: jamming in 1 s, slow spoofing in 13 s</a:t>
            </a:r>
            <a:endParaRPr lang="en-US" sz="2800" b="0" u="none" strike="noStrike">
              <a:solidFill>
                <a:schemeClr val="dk1"/>
              </a:solidFill>
              <a:effectLst/>
              <a:uFillTx/>
              <a:latin typeface="Calibri"/>
            </a:endParaRPr>
          </a:p>
        </p:txBody>
      </p:sp>
      <p:sp>
        <p:nvSpPr>
          <p:cNvPr id="99" name="criterion tag"/>
          <p:cNvSpPr/>
          <p:nvPr/>
        </p:nvSpPr>
        <p:spPr>
          <a:xfrm>
            <a:off x="9921240" y="502920"/>
            <a:ext cx="1737000" cy="383760"/>
          </a:xfrm>
          <a:prstGeom prst="roundRect">
            <a:avLst>
              <a:gd name="adj" fmla="val 50000"/>
            </a:avLst>
          </a:prstGeom>
          <a:solidFill>
            <a:srgbClr val="1E3246"/>
          </a:solidFill>
          <a:ln w="15875">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00" name="criterion tag text"/>
          <p:cNvSpPr/>
          <p:nvPr/>
        </p:nvSpPr>
        <p:spPr>
          <a:xfrm>
            <a:off x="9921240" y="502920"/>
            <a:ext cx="173700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pc="201" strike="noStrike">
                <a:solidFill>
                  <a:srgbClr val="F26B1D"/>
                </a:solidFill>
                <a:effectLst/>
                <a:uFillTx/>
                <a:latin typeface="Calibri"/>
              </a:rPr>
              <a:t>INNOVATION</a:t>
            </a:r>
            <a:endParaRPr lang="en-US" sz="1100" b="0" u="none" strike="noStrike">
              <a:solidFill>
                <a:srgbClr val="FFFFFF"/>
              </a:solidFill>
              <a:effectLst/>
              <a:uFillTx/>
              <a:latin typeface="Arial"/>
            </a:endParaRPr>
          </a:p>
        </p:txBody>
      </p:sp>
      <p:sp>
        <p:nvSpPr>
          <p:cNvPr id="101" name="colour key"/>
          <p:cNvSpPr/>
          <p:nvPr/>
        </p:nvSpPr>
        <p:spPr>
          <a:xfrm>
            <a:off x="7223760" y="6446520"/>
            <a:ext cx="393156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34C77B"/>
                </a:solidFill>
                <a:effectLst/>
                <a:uFillTx/>
                <a:latin typeface="Calibri"/>
              </a:rPr>
              <a:t>● </a:t>
            </a:r>
            <a:r>
              <a:rPr lang="en-US" sz="1000" b="0" u="none" strike="noStrike">
                <a:solidFill>
                  <a:srgbClr val="93A1B3"/>
                </a:solidFill>
                <a:effectLst/>
                <a:uFillTx/>
                <a:latin typeface="Calibri"/>
              </a:rPr>
              <a:t>our result   </a:t>
            </a:r>
            <a:r>
              <a:rPr lang="en-US" sz="1000" b="0" u="none" strike="noStrike">
                <a:solidFill>
                  <a:srgbClr val="FF5A5F"/>
                </a:solidFill>
                <a:effectLst/>
                <a:uFillTx/>
                <a:latin typeface="Calibri"/>
              </a:rPr>
              <a:t>● </a:t>
            </a:r>
            <a:r>
              <a:rPr lang="en-US" sz="1000" b="0" u="none" strike="noStrike">
                <a:solidFill>
                  <a:srgbClr val="93A1B3"/>
                </a:solidFill>
                <a:effectLst/>
                <a:uFillTx/>
                <a:latin typeface="Calibri"/>
              </a:rPr>
              <a:t>today   </a:t>
            </a:r>
            <a:r>
              <a:rPr lang="en-US" sz="1000" b="0" u="none" strike="noStrike">
                <a:solidFill>
                  <a:srgbClr val="F5C451"/>
                </a:solidFill>
                <a:effectLst/>
                <a:uFillTx/>
                <a:latin typeface="Calibri"/>
              </a:rPr>
              <a:t>● </a:t>
            </a:r>
            <a:r>
              <a:rPr lang="en-US" sz="1000" b="0" u="none" strike="noStrike">
                <a:solidFill>
                  <a:srgbClr val="93A1B3"/>
                </a:solidFill>
                <a:effectLst/>
                <a:uFillTx/>
                <a:latin typeface="Calibri"/>
              </a:rPr>
              <a:t>partial / limit   </a:t>
            </a:r>
            <a:r>
              <a:rPr lang="en-US" sz="1000" b="0" u="none" strike="noStrike">
                <a:solidFill>
                  <a:srgbClr val="5AB4F0"/>
                </a:solidFill>
                <a:effectLst/>
                <a:uFillTx/>
                <a:latin typeface="Calibri"/>
              </a:rPr>
              <a:t>● </a:t>
            </a:r>
            <a:r>
              <a:rPr lang="en-US" sz="1000" b="0" u="none" strike="noStrike">
                <a:solidFill>
                  <a:srgbClr val="93A1B3"/>
                </a:solidFill>
                <a:effectLst/>
                <a:uFillTx/>
                <a:latin typeface="Calibri"/>
              </a:rPr>
              <a:t>fact</a:t>
            </a:r>
            <a:endParaRPr lang="en-US" sz="1000" b="0" u="none" strike="noStrike">
              <a:solidFill>
                <a:srgbClr val="FFFFFF"/>
              </a:solidFill>
              <a:effectLst/>
              <a:uFillTx/>
              <a:latin typeface="Arial"/>
            </a:endParaRPr>
          </a:p>
        </p:txBody>
      </p:sp>
      <p:sp>
        <p:nvSpPr>
          <p:cNvPr id="102" name="stat card 1 s vs 5 s"/>
          <p:cNvSpPr/>
          <p:nvPr/>
        </p:nvSpPr>
        <p:spPr>
          <a:xfrm>
            <a:off x="548640" y="1325880"/>
            <a:ext cx="2605680" cy="1051200"/>
          </a:xfrm>
          <a:prstGeom prst="roundRect">
            <a:avLst>
              <a:gd name="adj" fmla="val 8696"/>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03" name="stat value 1 s vs 5 s"/>
          <p:cNvSpPr/>
          <p:nvPr/>
        </p:nvSpPr>
        <p:spPr>
          <a:xfrm>
            <a:off x="685800" y="1398960"/>
            <a:ext cx="2331360" cy="57816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600" b="1" u="none" strike="noStrike">
                <a:solidFill>
                  <a:srgbClr val="34C77B"/>
                </a:solidFill>
                <a:effectLst/>
                <a:uFillTx/>
                <a:latin typeface="Calibri"/>
              </a:rPr>
              <a:t>1 s vs 5 s</a:t>
            </a:r>
            <a:endParaRPr lang="en-US" sz="2600" b="0" u="none" strike="noStrike">
              <a:solidFill>
                <a:srgbClr val="FFFFFF"/>
              </a:solidFill>
              <a:effectLst/>
              <a:uFillTx/>
              <a:latin typeface="Arial"/>
            </a:endParaRPr>
          </a:p>
        </p:txBody>
      </p:sp>
      <p:sp>
        <p:nvSpPr>
          <p:cNvPr id="104" name="stat label 1 s vs 5 s"/>
          <p:cNvSpPr/>
          <p:nvPr/>
        </p:nvSpPr>
        <p:spPr>
          <a:xfrm>
            <a:off x="685800" y="1995840"/>
            <a:ext cx="233136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jamming: our monitor vs PX4 (live)</a:t>
            </a:r>
            <a:endParaRPr lang="en-US" sz="1200" b="0" u="none" strike="noStrike">
              <a:solidFill>
                <a:srgbClr val="FFFFFF"/>
              </a:solidFill>
              <a:effectLst/>
              <a:uFillTx/>
              <a:latin typeface="Arial"/>
            </a:endParaRPr>
          </a:p>
        </p:txBody>
      </p:sp>
      <p:sp>
        <p:nvSpPr>
          <p:cNvPr id="105" name="stat card 13 s"/>
          <p:cNvSpPr/>
          <p:nvPr/>
        </p:nvSpPr>
        <p:spPr>
          <a:xfrm>
            <a:off x="3383280" y="1325880"/>
            <a:ext cx="2605680" cy="1051200"/>
          </a:xfrm>
          <a:prstGeom prst="roundRect">
            <a:avLst>
              <a:gd name="adj" fmla="val 8696"/>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06" name="stat value 13 s"/>
          <p:cNvSpPr/>
          <p:nvPr/>
        </p:nvSpPr>
        <p:spPr>
          <a:xfrm>
            <a:off x="3520440" y="1398960"/>
            <a:ext cx="2331360" cy="57816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600" b="1" u="none" strike="noStrike">
                <a:solidFill>
                  <a:srgbClr val="34C77B"/>
                </a:solidFill>
                <a:effectLst/>
                <a:uFillTx/>
                <a:latin typeface="Calibri"/>
              </a:rPr>
              <a:t>13 s</a:t>
            </a:r>
            <a:endParaRPr lang="en-US" sz="2600" b="0" u="none" strike="noStrike">
              <a:solidFill>
                <a:srgbClr val="FFFFFF"/>
              </a:solidFill>
              <a:effectLst/>
              <a:uFillTx/>
              <a:latin typeface="Arial"/>
            </a:endParaRPr>
          </a:p>
        </p:txBody>
      </p:sp>
      <p:sp>
        <p:nvSpPr>
          <p:cNvPr id="107" name="stat label 13 s"/>
          <p:cNvSpPr/>
          <p:nvPr/>
        </p:nvSpPr>
        <p:spPr>
          <a:xfrm>
            <a:off x="3520440" y="1995840"/>
            <a:ext cx="233136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0.5 m/s spoof caught (real flight data)</a:t>
            </a:r>
            <a:endParaRPr lang="en-US" sz="1200" b="0" u="none" strike="noStrike">
              <a:solidFill>
                <a:srgbClr val="FFFFFF"/>
              </a:solidFill>
              <a:effectLst/>
              <a:uFillTx/>
              <a:latin typeface="Arial"/>
            </a:endParaRPr>
          </a:p>
        </p:txBody>
      </p:sp>
      <p:sp>
        <p:nvSpPr>
          <p:cNvPr id="108" name="stat card never"/>
          <p:cNvSpPr/>
          <p:nvPr/>
        </p:nvSpPr>
        <p:spPr>
          <a:xfrm>
            <a:off x="6217920" y="1325880"/>
            <a:ext cx="2605680" cy="1051200"/>
          </a:xfrm>
          <a:prstGeom prst="roundRect">
            <a:avLst>
              <a:gd name="adj" fmla="val 8696"/>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09" name="stat value never"/>
          <p:cNvSpPr/>
          <p:nvPr/>
        </p:nvSpPr>
        <p:spPr>
          <a:xfrm>
            <a:off x="6355080" y="1398960"/>
            <a:ext cx="2331360" cy="57816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600" b="1" u="none" strike="noStrike">
                <a:solidFill>
                  <a:srgbClr val="FF5A5F"/>
                </a:solidFill>
                <a:effectLst/>
                <a:uFillTx/>
                <a:latin typeface="Calibri"/>
              </a:rPr>
              <a:t>never</a:t>
            </a:r>
            <a:endParaRPr lang="en-US" sz="2600" b="0" u="none" strike="noStrike">
              <a:solidFill>
                <a:srgbClr val="FFFFFF"/>
              </a:solidFill>
              <a:effectLst/>
              <a:uFillTx/>
              <a:latin typeface="Arial"/>
            </a:endParaRPr>
          </a:p>
        </p:txBody>
      </p:sp>
      <p:sp>
        <p:nvSpPr>
          <p:cNvPr id="110" name="stat label never"/>
          <p:cNvSpPr/>
          <p:nvPr/>
        </p:nvSpPr>
        <p:spPr>
          <a:xfrm>
            <a:off x="6355080" y="1995840"/>
            <a:ext cx="233136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PX4-style check notices that spoof</a:t>
            </a:r>
            <a:endParaRPr lang="en-US" sz="1200" b="0" u="none" strike="noStrike">
              <a:solidFill>
                <a:srgbClr val="FFFFFF"/>
              </a:solidFill>
              <a:effectLst/>
              <a:uFillTx/>
              <a:latin typeface="Arial"/>
            </a:endParaRPr>
          </a:p>
        </p:txBody>
      </p:sp>
      <p:sp>
        <p:nvSpPr>
          <p:cNvPr id="111" name="stat card 2 / 50"/>
          <p:cNvSpPr/>
          <p:nvPr/>
        </p:nvSpPr>
        <p:spPr>
          <a:xfrm>
            <a:off x="9052560" y="1325880"/>
            <a:ext cx="2605680" cy="1051200"/>
          </a:xfrm>
          <a:prstGeom prst="roundRect">
            <a:avLst>
              <a:gd name="adj" fmla="val 8696"/>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12" name="stat value 2 / 50"/>
          <p:cNvSpPr/>
          <p:nvPr/>
        </p:nvSpPr>
        <p:spPr>
          <a:xfrm>
            <a:off x="9189720" y="1398960"/>
            <a:ext cx="2331360" cy="57816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600" b="1" u="none" strike="noStrike">
                <a:solidFill>
                  <a:srgbClr val="5AB4F0"/>
                </a:solidFill>
                <a:effectLst/>
                <a:uFillTx/>
                <a:latin typeface="Calibri"/>
              </a:rPr>
              <a:t>2 / 50</a:t>
            </a:r>
            <a:endParaRPr lang="en-US" sz="2600" b="0" u="none" strike="noStrike">
              <a:solidFill>
                <a:srgbClr val="FFFFFF"/>
              </a:solidFill>
              <a:effectLst/>
              <a:uFillTx/>
              <a:latin typeface="Arial"/>
            </a:endParaRPr>
          </a:p>
        </p:txBody>
      </p:sp>
      <p:sp>
        <p:nvSpPr>
          <p:cNvPr id="113" name="stat label 2 / 50"/>
          <p:cNvSpPr/>
          <p:nvPr/>
        </p:nvSpPr>
        <p:spPr>
          <a:xfrm>
            <a:off x="9189720" y="1995840"/>
            <a:ext cx="233136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false alarms without attack</a:t>
            </a:r>
            <a:endParaRPr lang="en-US" sz="1200" b="0" u="none" strike="noStrike">
              <a:solidFill>
                <a:srgbClr val="FFFFFF"/>
              </a:solidFill>
              <a:effectLst/>
              <a:uFillTx/>
              <a:latin typeface="Arial"/>
            </a:endParaRPr>
          </a:p>
        </p:txBody>
      </p:sp>
      <p:sp>
        <p:nvSpPr>
          <p:cNvPr id="114" name="Text 16"/>
          <p:cNvSpPr/>
          <p:nvPr/>
        </p:nvSpPr>
        <p:spPr>
          <a:xfrm>
            <a:off x="548640" y="2560320"/>
            <a:ext cx="111096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FFF"/>
                </a:solidFill>
                <a:effectLst/>
                <a:uFillTx/>
                <a:latin typeface="Calibri"/>
              </a:rPr>
              <a:t>GPS noise is random — a spoofer always pushes the same way. </a:t>
            </a:r>
            <a:r>
              <a:rPr lang="en-US" sz="1500" b="0" u="none" strike="noStrike">
                <a:solidFill>
                  <a:srgbClr val="E8EDF2"/>
                </a:solidFill>
                <a:effectLst/>
                <a:uFillTx/>
                <a:latin typeface="Calibri"/>
              </a:rPr>
              <a:t>We compare GPS with the drone's own motion sensors (IMU) over a 20 s window and catch the push.</a:t>
            </a:r>
            <a:endParaRPr lang="en-US" sz="1500" b="0" u="none" strike="noStrike">
              <a:solidFill>
                <a:srgbClr val="FFFFFF"/>
              </a:solidFill>
              <a:effectLst/>
              <a:uFillTx/>
              <a:latin typeface="Arial"/>
            </a:endParaRPr>
          </a:p>
        </p:txBody>
      </p:sp>
      <p:sp>
        <p:nvSpPr>
          <p:cNvPr id="115" name="Spoofing detection on real PX4 data frame"/>
          <p:cNvSpPr/>
          <p:nvPr/>
        </p:nvSpPr>
        <p:spPr>
          <a:xfrm>
            <a:off x="530280" y="3136320"/>
            <a:ext cx="11146320" cy="3368520"/>
          </a:xfrm>
          <a:prstGeom prst="roundRect">
            <a:avLst>
              <a:gd name="adj" fmla="val 2171"/>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116" name="Spoofing detection on real PX4 data" descr="Spoofing detection on real PX4 data"/>
          <p:cNvPicPr/>
          <p:nvPr/>
        </p:nvPicPr>
        <p:blipFill>
          <a:blip r:embed="rId1"/>
          <a:stretch/>
        </p:blipFill>
        <p:spPr>
          <a:xfrm>
            <a:off x="594360" y="3200400"/>
            <a:ext cx="11018160" cy="3240360"/>
          </a:xfrm>
          <a:prstGeom prst="rect">
            <a:avLst/>
          </a:prstGeom>
          <a:noFill/>
          <a:ln w="0">
            <a:noFill/>
          </a:ln>
        </p:spPr>
      </p:pic>
      <p:sp>
        <p:nvSpPr>
          <p:cNvPr id="117" name="PlaceHolder 2"/>
          <p:cNvSpPr>
            <a:spLocks noGrp="1"/>
          </p:cNvSpPr>
          <p:nvPr>
            <p:ph type="sldNum" idx="7"/>
          </p:nvPr>
        </p:nvSpPr>
        <p:spPr>
          <a:xfrm>
            <a:off x="11247120" y="6446520"/>
            <a:ext cx="41112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93A1B3"/>
                </a:solidFill>
                <a:effectLst/>
                <a:uFillTx/>
                <a:latin typeface="Calibri"/>
              </a:defRPr>
            </a:lvl1pPr>
          </a:lstStyle>
          <a:p>
            <a:pPr indent="0" algn="r" defTabSz="914400">
              <a:lnSpc>
                <a:spcPct val="100000"/>
              </a:lnSpc>
              <a:buNone/>
            </a:pPr>
            <a:fld id="{3A5DEF24-1E49-44BA-AF86-2460C7A0A8ED}" type="slidenum">
              <a:rPr lang="en-US" sz="1000" b="0" u="none" strike="noStrike">
                <a:solidFill>
                  <a:srgbClr val="93A1B3"/>
                </a:solidFill>
                <a:effectLst/>
                <a:uFillTx/>
                <a:latin typeface="Calibri"/>
              </a:rPr>
              <a:t>4</a:t>
            </a:fld>
            <a:endParaRPr lang="en-US" sz="10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hasCustomPrompt="1"/>
          </p:nvPr>
        </p:nvSpPr>
        <p:spPr>
          <a:xfrm>
            <a:off x="548640" y="347400"/>
            <a:ext cx="9143640" cy="7768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800" b="1" u="none" strike="noStrike">
                <a:solidFill>
                  <a:srgbClr val="FFFFFF"/>
                </a:solidFill>
                <a:effectLst/>
                <a:uFillTx/>
                <a:latin typeface="Arial"/>
              </a:rPr>
              <a:t>Navigate in snow — then find the jammer</a:t>
            </a:r>
            <a:endParaRPr lang="en-US" sz="2800" b="0" u="none" strike="noStrike">
              <a:solidFill>
                <a:schemeClr val="dk1"/>
              </a:solidFill>
              <a:effectLst/>
              <a:uFillTx/>
              <a:latin typeface="Calibri"/>
            </a:endParaRPr>
          </a:p>
        </p:txBody>
      </p:sp>
      <p:sp>
        <p:nvSpPr>
          <p:cNvPr id="119" name="criterion tag"/>
          <p:cNvSpPr/>
          <p:nvPr/>
        </p:nvSpPr>
        <p:spPr>
          <a:xfrm>
            <a:off x="9921240" y="502920"/>
            <a:ext cx="1737000" cy="383760"/>
          </a:xfrm>
          <a:prstGeom prst="roundRect">
            <a:avLst>
              <a:gd name="adj" fmla="val 50000"/>
            </a:avLst>
          </a:prstGeom>
          <a:solidFill>
            <a:srgbClr val="1E3246"/>
          </a:solidFill>
          <a:ln w="15875">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20" name="criterion tag text"/>
          <p:cNvSpPr/>
          <p:nvPr/>
        </p:nvSpPr>
        <p:spPr>
          <a:xfrm>
            <a:off x="9921240" y="502920"/>
            <a:ext cx="173700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pc="201" strike="noStrike">
                <a:solidFill>
                  <a:srgbClr val="F26B1D"/>
                </a:solidFill>
                <a:effectLst/>
                <a:uFillTx/>
                <a:latin typeface="Calibri"/>
              </a:rPr>
              <a:t>INNOVATION</a:t>
            </a:r>
            <a:endParaRPr lang="en-US" sz="1100" b="0" u="none" strike="noStrike">
              <a:solidFill>
                <a:srgbClr val="FFFFFF"/>
              </a:solidFill>
              <a:effectLst/>
              <a:uFillTx/>
              <a:latin typeface="Arial"/>
            </a:endParaRPr>
          </a:p>
        </p:txBody>
      </p:sp>
      <p:sp>
        <p:nvSpPr>
          <p:cNvPr id="121" name="colour key"/>
          <p:cNvSpPr/>
          <p:nvPr/>
        </p:nvSpPr>
        <p:spPr>
          <a:xfrm>
            <a:off x="7223760" y="6446520"/>
            <a:ext cx="393156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34C77B"/>
                </a:solidFill>
                <a:effectLst/>
                <a:uFillTx/>
                <a:latin typeface="Calibri"/>
              </a:rPr>
              <a:t>● </a:t>
            </a:r>
            <a:r>
              <a:rPr lang="en-US" sz="1000" b="0" u="none" strike="noStrike">
                <a:solidFill>
                  <a:srgbClr val="93A1B3"/>
                </a:solidFill>
                <a:effectLst/>
                <a:uFillTx/>
                <a:latin typeface="Calibri"/>
              </a:rPr>
              <a:t>our result   </a:t>
            </a:r>
            <a:r>
              <a:rPr lang="en-US" sz="1000" b="0" u="none" strike="noStrike">
                <a:solidFill>
                  <a:srgbClr val="FF5A5F"/>
                </a:solidFill>
                <a:effectLst/>
                <a:uFillTx/>
                <a:latin typeface="Calibri"/>
              </a:rPr>
              <a:t>● </a:t>
            </a:r>
            <a:r>
              <a:rPr lang="en-US" sz="1000" b="0" u="none" strike="noStrike">
                <a:solidFill>
                  <a:srgbClr val="93A1B3"/>
                </a:solidFill>
                <a:effectLst/>
                <a:uFillTx/>
                <a:latin typeface="Calibri"/>
              </a:rPr>
              <a:t>today   </a:t>
            </a:r>
            <a:r>
              <a:rPr lang="en-US" sz="1000" b="0" u="none" strike="noStrike">
                <a:solidFill>
                  <a:srgbClr val="F5C451"/>
                </a:solidFill>
                <a:effectLst/>
                <a:uFillTx/>
                <a:latin typeface="Calibri"/>
              </a:rPr>
              <a:t>● </a:t>
            </a:r>
            <a:r>
              <a:rPr lang="en-US" sz="1000" b="0" u="none" strike="noStrike">
                <a:solidFill>
                  <a:srgbClr val="93A1B3"/>
                </a:solidFill>
                <a:effectLst/>
                <a:uFillTx/>
                <a:latin typeface="Calibri"/>
              </a:rPr>
              <a:t>partial / limit   </a:t>
            </a:r>
            <a:r>
              <a:rPr lang="en-US" sz="1000" b="0" u="none" strike="noStrike">
                <a:solidFill>
                  <a:srgbClr val="5AB4F0"/>
                </a:solidFill>
                <a:effectLst/>
                <a:uFillTx/>
                <a:latin typeface="Calibri"/>
              </a:rPr>
              <a:t>● </a:t>
            </a:r>
            <a:r>
              <a:rPr lang="en-US" sz="1000" b="0" u="none" strike="noStrike">
                <a:solidFill>
                  <a:srgbClr val="93A1B3"/>
                </a:solidFill>
                <a:effectLst/>
                <a:uFillTx/>
                <a:latin typeface="Calibri"/>
              </a:rPr>
              <a:t>fact</a:t>
            </a:r>
            <a:endParaRPr lang="en-US" sz="1000" b="0" u="none" strike="noStrike">
              <a:solidFill>
                <a:srgbClr val="FFFFFF"/>
              </a:solidFill>
              <a:effectLst/>
              <a:uFillTx/>
              <a:latin typeface="Arial"/>
            </a:endParaRPr>
          </a:p>
        </p:txBody>
      </p:sp>
      <p:sp>
        <p:nvSpPr>
          <p:cNvPr id="122" name="Text 4"/>
          <p:cNvSpPr/>
          <p:nvPr/>
        </p:nvSpPr>
        <p:spPr>
          <a:xfrm>
            <a:off x="548640" y="1325880"/>
            <a:ext cx="54860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F26B1D"/>
                </a:solidFill>
                <a:effectLst/>
                <a:uFillTx/>
                <a:latin typeface="Calibri"/>
              </a:rPr>
              <a:t>NAVIGATE  ·  8.8 km without GPS, snowy day</a:t>
            </a:r>
            <a:endParaRPr lang="en-US" sz="1400" b="0" u="none" strike="noStrike">
              <a:solidFill>
                <a:srgbClr val="FFFFFF"/>
              </a:solidFill>
              <a:effectLst/>
              <a:uFillTx/>
              <a:latin typeface="Arial"/>
            </a:endParaRPr>
          </a:p>
        </p:txBody>
      </p:sp>
      <p:sp>
        <p:nvSpPr>
          <p:cNvPr id="123" name="Long-range navigation in snow frame"/>
          <p:cNvSpPr/>
          <p:nvPr/>
        </p:nvSpPr>
        <p:spPr>
          <a:xfrm>
            <a:off x="530280" y="1719000"/>
            <a:ext cx="5522760" cy="2319480"/>
          </a:xfrm>
          <a:prstGeom prst="roundRect">
            <a:avLst>
              <a:gd name="adj" fmla="val 3153"/>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124" name="Long-range navigation in snow" descr="Long-range navigation in snow"/>
          <p:cNvPicPr/>
          <p:nvPr/>
        </p:nvPicPr>
        <p:blipFill>
          <a:blip r:embed="rId1"/>
          <a:stretch/>
        </p:blipFill>
        <p:spPr>
          <a:xfrm>
            <a:off x="594360" y="1783080"/>
            <a:ext cx="5394600" cy="2191320"/>
          </a:xfrm>
          <a:prstGeom prst="rect">
            <a:avLst/>
          </a:prstGeom>
          <a:noFill/>
          <a:ln w="0">
            <a:noFill/>
          </a:ln>
        </p:spPr>
      </p:pic>
      <p:sp>
        <p:nvSpPr>
          <p:cNvPr id="125" name="stat card 1 974 m"/>
          <p:cNvSpPr/>
          <p:nvPr/>
        </p:nvSpPr>
        <p:spPr>
          <a:xfrm>
            <a:off x="548640" y="4249080"/>
            <a:ext cx="1737000" cy="1051200"/>
          </a:xfrm>
          <a:prstGeom prst="roundRect">
            <a:avLst>
              <a:gd name="adj" fmla="val 8696"/>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26" name="stat value 1 974 m"/>
          <p:cNvSpPr/>
          <p:nvPr/>
        </p:nvSpPr>
        <p:spPr>
          <a:xfrm>
            <a:off x="685800" y="4322160"/>
            <a:ext cx="1462680" cy="57816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200" b="1" u="none" strike="noStrike">
                <a:solidFill>
                  <a:srgbClr val="FF5A5F"/>
                </a:solidFill>
                <a:effectLst/>
                <a:uFillTx/>
                <a:latin typeface="Calibri"/>
              </a:rPr>
              <a:t>1 974 m</a:t>
            </a:r>
            <a:endParaRPr lang="en-US" sz="2200" b="0" u="none" strike="noStrike">
              <a:solidFill>
                <a:srgbClr val="FFFFFF"/>
              </a:solidFill>
              <a:effectLst/>
              <a:uFillTx/>
              <a:latin typeface="Arial"/>
            </a:endParaRPr>
          </a:p>
        </p:txBody>
      </p:sp>
      <p:sp>
        <p:nvSpPr>
          <p:cNvPr id="127" name="stat label 1 974 m"/>
          <p:cNvSpPr/>
          <p:nvPr/>
        </p:nvSpPr>
        <p:spPr>
          <a:xfrm>
            <a:off x="685800" y="4919040"/>
            <a:ext cx="146268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off: IMU only</a:t>
            </a:r>
            <a:endParaRPr lang="en-US" sz="1200" b="0" u="none" strike="noStrike">
              <a:solidFill>
                <a:srgbClr val="FFFFFF"/>
              </a:solidFill>
              <a:effectLst/>
              <a:uFillTx/>
              <a:latin typeface="Arial"/>
            </a:endParaRPr>
          </a:p>
        </p:txBody>
      </p:sp>
      <p:sp>
        <p:nvSpPr>
          <p:cNvPr id="128" name="stat card 1 874 m"/>
          <p:cNvSpPr/>
          <p:nvPr/>
        </p:nvSpPr>
        <p:spPr>
          <a:xfrm>
            <a:off x="2377440" y="4249080"/>
            <a:ext cx="1737000" cy="1051200"/>
          </a:xfrm>
          <a:prstGeom prst="roundRect">
            <a:avLst>
              <a:gd name="adj" fmla="val 8696"/>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29" name="stat value 1 874 m"/>
          <p:cNvSpPr/>
          <p:nvPr/>
        </p:nvSpPr>
        <p:spPr>
          <a:xfrm>
            <a:off x="2514600" y="4322160"/>
            <a:ext cx="1462680" cy="57816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200" b="1" u="none" strike="noStrike">
                <a:solidFill>
                  <a:srgbClr val="FF5A5F"/>
                </a:solidFill>
                <a:effectLst/>
                <a:uFillTx/>
                <a:latin typeface="Calibri"/>
              </a:rPr>
              <a:t>1 874 m</a:t>
            </a:r>
            <a:endParaRPr lang="en-US" sz="2200" b="0" u="none" strike="noStrike">
              <a:solidFill>
                <a:srgbClr val="FFFFFF"/>
              </a:solidFill>
              <a:effectLst/>
              <a:uFillTx/>
              <a:latin typeface="Arial"/>
            </a:endParaRPr>
          </a:p>
        </p:txBody>
      </p:sp>
      <p:sp>
        <p:nvSpPr>
          <p:cNvPr id="130" name="stat label 1 874 m"/>
          <p:cNvSpPr/>
          <p:nvPr/>
        </p:nvSpPr>
        <p:spPr>
          <a:xfrm>
            <a:off x="2514600" y="4919040"/>
            <a:ext cx="146268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off: camera in snow (0/8 landmarks)</a:t>
            </a:r>
            <a:endParaRPr lang="en-US" sz="1200" b="0" u="none" strike="noStrike">
              <a:solidFill>
                <a:srgbClr val="FFFFFF"/>
              </a:solidFill>
              <a:effectLst/>
              <a:uFillTx/>
              <a:latin typeface="Arial"/>
            </a:endParaRPr>
          </a:p>
        </p:txBody>
      </p:sp>
      <p:sp>
        <p:nvSpPr>
          <p:cNvPr id="131" name="stat card 14.5 m"/>
          <p:cNvSpPr/>
          <p:nvPr/>
        </p:nvSpPr>
        <p:spPr>
          <a:xfrm>
            <a:off x="4206240" y="4249080"/>
            <a:ext cx="1828440" cy="1051200"/>
          </a:xfrm>
          <a:prstGeom prst="roundRect">
            <a:avLst>
              <a:gd name="adj" fmla="val 8696"/>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32" name="stat value 14.5 m"/>
          <p:cNvSpPr/>
          <p:nvPr/>
        </p:nvSpPr>
        <p:spPr>
          <a:xfrm>
            <a:off x="4343400" y="4322160"/>
            <a:ext cx="1554120" cy="57816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200" b="1" u="none" strike="noStrike">
                <a:solidFill>
                  <a:srgbClr val="34C77B"/>
                </a:solidFill>
                <a:effectLst/>
                <a:uFillTx/>
                <a:latin typeface="Calibri"/>
              </a:rPr>
              <a:t>14.5 m</a:t>
            </a:r>
            <a:endParaRPr lang="en-US" sz="2200" b="0" u="none" strike="noStrike">
              <a:solidFill>
                <a:srgbClr val="FFFFFF"/>
              </a:solidFill>
              <a:effectLst/>
              <a:uFillTx/>
              <a:latin typeface="Arial"/>
            </a:endParaRPr>
          </a:p>
        </p:txBody>
      </p:sp>
      <p:sp>
        <p:nvSpPr>
          <p:cNvPr id="133" name="stat label 14.5 m"/>
          <p:cNvSpPr/>
          <p:nvPr/>
        </p:nvSpPr>
        <p:spPr>
          <a:xfrm>
            <a:off x="4343400" y="4919040"/>
            <a:ext cx="155412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off: terrain matching</a:t>
            </a:r>
            <a:endParaRPr lang="en-US" sz="1200" b="0" u="none" strike="noStrike">
              <a:solidFill>
                <a:srgbClr val="FFFFFF"/>
              </a:solidFill>
              <a:effectLst/>
              <a:uFillTx/>
              <a:latin typeface="Arial"/>
            </a:endParaRPr>
          </a:p>
        </p:txBody>
      </p:sp>
      <p:sp>
        <p:nvSpPr>
          <p:cNvPr id="134" name="caption"/>
          <p:cNvSpPr/>
          <p:nvPr/>
        </p:nvSpPr>
        <p:spPr>
          <a:xfrm>
            <a:off x="548640" y="5392080"/>
            <a:ext cx="54860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i="1" u="none" strike="noStrike">
                <a:solidFill>
                  <a:srgbClr val="93A1B3"/>
                </a:solidFill>
                <a:effectLst/>
                <a:uFillTx/>
                <a:latin typeface="Calibri"/>
              </a:rPr>
              <a:t>Laser altimeter vs height map: the shape of the hills survives snow. Re-tested on the REAL Bråviken height map (SRTM) — see slide 10.</a:t>
            </a:r>
            <a:endParaRPr lang="en-US" sz="1100" b="0" u="none" strike="noStrike">
              <a:solidFill>
                <a:srgbClr val="FFFFFF"/>
              </a:solidFill>
              <a:effectLst/>
              <a:uFillTx/>
              <a:latin typeface="Arial"/>
            </a:endParaRPr>
          </a:p>
        </p:txBody>
      </p:sp>
      <p:sp>
        <p:nvSpPr>
          <p:cNvPr id="135" name="Text 16"/>
          <p:cNvSpPr/>
          <p:nvPr/>
        </p:nvSpPr>
        <p:spPr>
          <a:xfrm>
            <a:off x="6263640" y="1325880"/>
            <a:ext cx="53946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F26B1D"/>
                </a:solidFill>
                <a:effectLst/>
                <a:uFillTx/>
                <a:latin typeface="Calibri"/>
              </a:rPr>
              <a:t>LOCATE  ·  every jammer gives itself away</a:t>
            </a:r>
            <a:endParaRPr lang="en-US" sz="1400" b="0" u="none" strike="noStrike">
              <a:solidFill>
                <a:srgbClr val="FFFFFF"/>
              </a:solidFill>
              <a:effectLst/>
              <a:uFillTx/>
              <a:latin typeface="Arial"/>
            </a:endParaRPr>
          </a:p>
        </p:txBody>
      </p:sp>
      <p:sp>
        <p:nvSpPr>
          <p:cNvPr id="136" name="Jammer localisation with two drones frame"/>
          <p:cNvSpPr/>
          <p:nvPr/>
        </p:nvSpPr>
        <p:spPr>
          <a:xfrm>
            <a:off x="6245280" y="1719000"/>
            <a:ext cx="5431320" cy="2248920"/>
          </a:xfrm>
          <a:prstGeom prst="roundRect">
            <a:avLst>
              <a:gd name="adj" fmla="val 3252"/>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137" name="Jammer localisation with two drones" descr="Jammer localisation with two drones"/>
          <p:cNvPicPr/>
          <p:nvPr/>
        </p:nvPicPr>
        <p:blipFill>
          <a:blip r:embed="rId2"/>
          <a:stretch/>
        </p:blipFill>
        <p:spPr>
          <a:xfrm>
            <a:off x="6309360" y="1783080"/>
            <a:ext cx="5303160" cy="2121120"/>
          </a:xfrm>
          <a:prstGeom prst="rect">
            <a:avLst/>
          </a:prstGeom>
          <a:noFill/>
          <a:ln w="0">
            <a:noFill/>
          </a:ln>
        </p:spPr>
      </p:pic>
      <p:sp>
        <p:nvSpPr>
          <p:cNvPr id="138" name="stat card ~300 m"/>
          <p:cNvSpPr/>
          <p:nvPr/>
        </p:nvSpPr>
        <p:spPr>
          <a:xfrm>
            <a:off x="6263640" y="4178880"/>
            <a:ext cx="2605680" cy="1051200"/>
          </a:xfrm>
          <a:prstGeom prst="roundRect">
            <a:avLst>
              <a:gd name="adj" fmla="val 8696"/>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39" name="stat value ~300 m"/>
          <p:cNvSpPr/>
          <p:nvPr/>
        </p:nvSpPr>
        <p:spPr>
          <a:xfrm>
            <a:off x="6400800" y="4251960"/>
            <a:ext cx="2331360" cy="57816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200" b="1" u="none" strike="noStrike">
                <a:solidFill>
                  <a:srgbClr val="F5C451"/>
                </a:solidFill>
                <a:effectLst/>
                <a:uFillTx/>
                <a:latin typeface="Calibri"/>
              </a:rPr>
              <a:t>~300 m</a:t>
            </a:r>
            <a:endParaRPr lang="en-US" sz="2200" b="0" u="none" strike="noStrike">
              <a:solidFill>
                <a:srgbClr val="FFFFFF"/>
              </a:solidFill>
              <a:effectLst/>
              <a:uFillTx/>
              <a:latin typeface="Arial"/>
            </a:endParaRPr>
          </a:p>
        </p:txBody>
      </p:sp>
      <p:sp>
        <p:nvSpPr>
          <p:cNvPr id="140" name="stat label ~300 m"/>
          <p:cNvSpPr/>
          <p:nvPr/>
        </p:nvSpPr>
        <p:spPr>
          <a:xfrm>
            <a:off x="6400800" y="4848480"/>
            <a:ext cx="233136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one drone (typical)</a:t>
            </a:r>
            <a:endParaRPr lang="en-US" sz="1200" b="0" u="none" strike="noStrike">
              <a:solidFill>
                <a:srgbClr val="FFFFFF"/>
              </a:solidFill>
              <a:effectLst/>
              <a:uFillTx/>
              <a:latin typeface="Arial"/>
            </a:endParaRPr>
          </a:p>
        </p:txBody>
      </p:sp>
      <p:sp>
        <p:nvSpPr>
          <p:cNvPr id="141" name="stat card ~120 m"/>
          <p:cNvSpPr/>
          <p:nvPr/>
        </p:nvSpPr>
        <p:spPr>
          <a:xfrm>
            <a:off x="9052560" y="4178880"/>
            <a:ext cx="2605680" cy="1051200"/>
          </a:xfrm>
          <a:prstGeom prst="roundRect">
            <a:avLst>
              <a:gd name="adj" fmla="val 8696"/>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42" name="stat value ~120 m"/>
          <p:cNvSpPr/>
          <p:nvPr/>
        </p:nvSpPr>
        <p:spPr>
          <a:xfrm>
            <a:off x="9189720" y="4251960"/>
            <a:ext cx="2331360" cy="57816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200" b="1" u="none" strike="noStrike">
                <a:solidFill>
                  <a:srgbClr val="34C77B"/>
                </a:solidFill>
                <a:effectLst/>
                <a:uFillTx/>
                <a:latin typeface="Calibri"/>
              </a:rPr>
              <a:t>~120 m</a:t>
            </a:r>
            <a:endParaRPr lang="en-US" sz="2200" b="0" u="none" strike="noStrike">
              <a:solidFill>
                <a:srgbClr val="FFFFFF"/>
              </a:solidFill>
              <a:effectLst/>
              <a:uFillTx/>
              <a:latin typeface="Arial"/>
            </a:endParaRPr>
          </a:p>
        </p:txBody>
      </p:sp>
      <p:sp>
        <p:nvSpPr>
          <p:cNvPr id="143" name="stat label ~120 m"/>
          <p:cNvSpPr/>
          <p:nvPr/>
        </p:nvSpPr>
        <p:spPr>
          <a:xfrm>
            <a:off x="9189720" y="4848480"/>
            <a:ext cx="233136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two drones (typical, 10 runs)</a:t>
            </a:r>
            <a:endParaRPr lang="en-US" sz="1200" b="0" u="none" strike="noStrike">
              <a:solidFill>
                <a:srgbClr val="FFFFFF"/>
              </a:solidFill>
              <a:effectLst/>
              <a:uFillTx/>
              <a:latin typeface="Arial"/>
            </a:endParaRPr>
          </a:p>
        </p:txBody>
      </p:sp>
      <p:sp>
        <p:nvSpPr>
          <p:cNvPr id="144" name="caption"/>
          <p:cNvSpPr/>
          <p:nvPr/>
        </p:nvSpPr>
        <p:spPr>
          <a:xfrm>
            <a:off x="6263640" y="5321880"/>
            <a:ext cx="539460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i="1" u="none" strike="noStrike">
                <a:solidFill>
                  <a:srgbClr val="93A1B3"/>
                </a:solidFill>
                <a:effectLst/>
                <a:uFillTx/>
                <a:latin typeface="Calibri"/>
              </a:rPr>
              <a:t>GPS receivers measure interference — louder means closer.</a:t>
            </a:r>
            <a:endParaRPr lang="en-US" sz="1100" b="0" u="none" strike="noStrike">
              <a:solidFill>
                <a:srgbClr val="FFFFFF"/>
              </a:solidFill>
              <a:effectLst/>
              <a:uFillTx/>
              <a:latin typeface="Arial"/>
            </a:endParaRPr>
          </a:p>
        </p:txBody>
      </p:sp>
      <p:sp>
        <p:nvSpPr>
          <p:cNvPr id="145" name="PlaceHolder 2"/>
          <p:cNvSpPr>
            <a:spLocks noGrp="1"/>
          </p:cNvSpPr>
          <p:nvPr>
            <p:ph type="sldNum" idx="8"/>
          </p:nvPr>
        </p:nvSpPr>
        <p:spPr>
          <a:xfrm>
            <a:off x="11247120" y="6446520"/>
            <a:ext cx="41112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93A1B3"/>
                </a:solidFill>
                <a:effectLst/>
                <a:uFillTx/>
                <a:latin typeface="Calibri"/>
              </a:defRPr>
            </a:lvl1pPr>
          </a:lstStyle>
          <a:p>
            <a:pPr indent="0" algn="r" defTabSz="914400">
              <a:lnSpc>
                <a:spcPct val="100000"/>
              </a:lnSpc>
              <a:buNone/>
            </a:pPr>
            <a:fld id="{BDCAE2DC-F652-42EF-83E2-15D0BBAB212D}" type="slidenum">
              <a:rPr lang="en-US" sz="1000" b="0" u="none" strike="noStrike">
                <a:solidFill>
                  <a:srgbClr val="93A1B3"/>
                </a:solidFill>
                <a:effectLst/>
                <a:uFillTx/>
                <a:latin typeface="Calibri"/>
              </a:rPr>
              <a:t>5</a:t>
            </a:fld>
            <a:endParaRPr lang="en-US" sz="10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hasCustomPrompt="1"/>
          </p:nvPr>
        </p:nvSpPr>
        <p:spPr>
          <a:xfrm>
            <a:off x="548640" y="347400"/>
            <a:ext cx="9143640" cy="7768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800" b="1" u="none" strike="noStrike">
                <a:solidFill>
                  <a:srgbClr val="FFFFFF"/>
                </a:solidFill>
                <a:effectLst/>
                <a:uFillTx/>
                <a:latin typeface="Arial"/>
              </a:rPr>
              <a:t>Decide: an AI mission brain that can't break the rules</a:t>
            </a:r>
            <a:endParaRPr lang="en-US" sz="2800" b="0" u="none" strike="noStrike">
              <a:solidFill>
                <a:schemeClr val="dk1"/>
              </a:solidFill>
              <a:effectLst/>
              <a:uFillTx/>
              <a:latin typeface="Calibri"/>
            </a:endParaRPr>
          </a:p>
        </p:txBody>
      </p:sp>
      <p:sp>
        <p:nvSpPr>
          <p:cNvPr id="147" name="criterion tag"/>
          <p:cNvSpPr/>
          <p:nvPr/>
        </p:nvSpPr>
        <p:spPr>
          <a:xfrm>
            <a:off x="9921240" y="502920"/>
            <a:ext cx="1737000" cy="383760"/>
          </a:xfrm>
          <a:prstGeom prst="roundRect">
            <a:avLst>
              <a:gd name="adj" fmla="val 50000"/>
            </a:avLst>
          </a:prstGeom>
          <a:solidFill>
            <a:srgbClr val="1E3246"/>
          </a:solidFill>
          <a:ln w="15875">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48" name="criterion tag text"/>
          <p:cNvSpPr/>
          <p:nvPr/>
        </p:nvSpPr>
        <p:spPr>
          <a:xfrm>
            <a:off x="9921240" y="502920"/>
            <a:ext cx="173700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pc="201" strike="noStrike">
                <a:solidFill>
                  <a:srgbClr val="F26B1D"/>
                </a:solidFill>
                <a:effectLst/>
                <a:uFillTx/>
                <a:latin typeface="Calibri"/>
              </a:rPr>
              <a:t>INNOVATION</a:t>
            </a:r>
            <a:endParaRPr lang="en-US" sz="1100" b="0" u="none" strike="noStrike">
              <a:solidFill>
                <a:srgbClr val="FFFFFF"/>
              </a:solidFill>
              <a:effectLst/>
              <a:uFillTx/>
              <a:latin typeface="Arial"/>
            </a:endParaRPr>
          </a:p>
        </p:txBody>
      </p:sp>
      <p:sp>
        <p:nvSpPr>
          <p:cNvPr id="149" name="colour key"/>
          <p:cNvSpPr/>
          <p:nvPr/>
        </p:nvSpPr>
        <p:spPr>
          <a:xfrm>
            <a:off x="7223760" y="6446520"/>
            <a:ext cx="393156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34C77B"/>
                </a:solidFill>
                <a:effectLst/>
                <a:uFillTx/>
                <a:latin typeface="Calibri"/>
              </a:rPr>
              <a:t>● </a:t>
            </a:r>
            <a:r>
              <a:rPr lang="en-US" sz="1000" b="0" u="none" strike="noStrike">
                <a:solidFill>
                  <a:srgbClr val="93A1B3"/>
                </a:solidFill>
                <a:effectLst/>
                <a:uFillTx/>
                <a:latin typeface="Calibri"/>
              </a:rPr>
              <a:t>our result   </a:t>
            </a:r>
            <a:r>
              <a:rPr lang="en-US" sz="1000" b="0" u="none" strike="noStrike">
                <a:solidFill>
                  <a:srgbClr val="FF5A5F"/>
                </a:solidFill>
                <a:effectLst/>
                <a:uFillTx/>
                <a:latin typeface="Calibri"/>
              </a:rPr>
              <a:t>● </a:t>
            </a:r>
            <a:r>
              <a:rPr lang="en-US" sz="1000" b="0" u="none" strike="noStrike">
                <a:solidFill>
                  <a:srgbClr val="93A1B3"/>
                </a:solidFill>
                <a:effectLst/>
                <a:uFillTx/>
                <a:latin typeface="Calibri"/>
              </a:rPr>
              <a:t>today   </a:t>
            </a:r>
            <a:r>
              <a:rPr lang="en-US" sz="1000" b="0" u="none" strike="noStrike">
                <a:solidFill>
                  <a:srgbClr val="F5C451"/>
                </a:solidFill>
                <a:effectLst/>
                <a:uFillTx/>
                <a:latin typeface="Calibri"/>
              </a:rPr>
              <a:t>● </a:t>
            </a:r>
            <a:r>
              <a:rPr lang="en-US" sz="1000" b="0" u="none" strike="noStrike">
                <a:solidFill>
                  <a:srgbClr val="93A1B3"/>
                </a:solidFill>
                <a:effectLst/>
                <a:uFillTx/>
                <a:latin typeface="Calibri"/>
              </a:rPr>
              <a:t>partial / limit   </a:t>
            </a:r>
            <a:r>
              <a:rPr lang="en-US" sz="1000" b="0" u="none" strike="noStrike">
                <a:solidFill>
                  <a:srgbClr val="5AB4F0"/>
                </a:solidFill>
                <a:effectLst/>
                <a:uFillTx/>
                <a:latin typeface="Calibri"/>
              </a:rPr>
              <a:t>● </a:t>
            </a:r>
            <a:r>
              <a:rPr lang="en-US" sz="1000" b="0" u="none" strike="noStrike">
                <a:solidFill>
                  <a:srgbClr val="93A1B3"/>
                </a:solidFill>
                <a:effectLst/>
                <a:uFillTx/>
                <a:latin typeface="Calibri"/>
              </a:rPr>
              <a:t>fact</a:t>
            </a:r>
            <a:endParaRPr lang="en-US" sz="1000" b="0" u="none" strike="noStrike">
              <a:solidFill>
                <a:srgbClr val="FFFFFF"/>
              </a:solidFill>
              <a:effectLst/>
              <a:uFillTx/>
              <a:latin typeface="Arial"/>
            </a:endParaRPr>
          </a:p>
        </p:txBody>
      </p:sp>
      <p:sp>
        <p:nvSpPr>
          <p:cNvPr id="150" name="AI mission brain run frame"/>
          <p:cNvSpPr/>
          <p:nvPr/>
        </p:nvSpPr>
        <p:spPr>
          <a:xfrm>
            <a:off x="530280" y="1353240"/>
            <a:ext cx="6802920" cy="3131640"/>
          </a:xfrm>
          <a:prstGeom prst="roundRect">
            <a:avLst>
              <a:gd name="adj" fmla="val 2336"/>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151" name="AI mission brain run" descr="AI mission brain run"/>
          <p:cNvPicPr/>
          <p:nvPr/>
        </p:nvPicPr>
        <p:blipFill>
          <a:blip r:embed="rId1"/>
          <a:stretch/>
        </p:blipFill>
        <p:spPr>
          <a:xfrm>
            <a:off x="594360" y="1417320"/>
            <a:ext cx="6674760" cy="3003480"/>
          </a:xfrm>
          <a:prstGeom prst="rect">
            <a:avLst/>
          </a:prstGeom>
          <a:noFill/>
          <a:ln w="0">
            <a:noFill/>
          </a:ln>
        </p:spPr>
      </p:pic>
      <p:sp>
        <p:nvSpPr>
          <p:cNvPr id="152" name="caption"/>
          <p:cNvSpPr/>
          <p:nvPr/>
        </p:nvSpPr>
        <p:spPr>
          <a:xfrm>
            <a:off x="548640" y="4604040"/>
            <a:ext cx="676620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i="1" u="none" strike="noStrike">
                <a:solidFill>
                  <a:srgbClr val="93A1B3"/>
                </a:solidFill>
                <a:effectLst/>
                <a:uFillTx/>
                <a:latin typeface="Calibri"/>
              </a:rPr>
              <a:t>Shown: offline rule-based mode. Claude mode uses the same tools and safety checks.</a:t>
            </a:r>
            <a:endParaRPr lang="en-US" sz="1100" b="0" u="none" strike="noStrike">
              <a:solidFill>
                <a:srgbClr val="FFFFFF"/>
              </a:solidFill>
              <a:effectLst/>
              <a:uFillTx/>
              <a:latin typeface="Arial"/>
            </a:endParaRPr>
          </a:p>
        </p:txBody>
      </p:sp>
      <p:sp>
        <p:nvSpPr>
          <p:cNvPr id="153" name="icon circle AI decides what"/>
          <p:cNvSpPr/>
          <p:nvPr/>
        </p:nvSpPr>
        <p:spPr>
          <a:xfrm>
            <a:off x="7680960" y="1463040"/>
            <a:ext cx="548280" cy="548280"/>
          </a:xfrm>
          <a:prstGeom prst="ellipse">
            <a:avLst/>
          </a:prstGeom>
          <a:solidFill>
            <a:srgbClr val="1E3246"/>
          </a:solidFill>
          <a:ln w="19050">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54" name="Image 1" descr="AI decides what"/>
          <p:cNvPicPr/>
          <p:nvPr/>
        </p:nvPicPr>
        <p:blipFill>
          <a:blip r:embed="rId2"/>
          <a:stretch/>
        </p:blipFill>
        <p:spPr>
          <a:xfrm>
            <a:off x="7818120" y="1600200"/>
            <a:ext cx="273960" cy="273960"/>
          </a:xfrm>
          <a:prstGeom prst="rect">
            <a:avLst/>
          </a:prstGeom>
          <a:noFill/>
          <a:ln w="0">
            <a:noFill/>
          </a:ln>
        </p:spPr>
      </p:pic>
      <p:sp>
        <p:nvSpPr>
          <p:cNvPr id="155" name="row AI decides what"/>
          <p:cNvSpPr/>
          <p:nvPr/>
        </p:nvSpPr>
        <p:spPr>
          <a:xfrm>
            <a:off x="8412480" y="1417320"/>
            <a:ext cx="324576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rgbClr val="FFFFFF"/>
                </a:solidFill>
                <a:effectLst/>
                <a:uFillTx/>
                <a:latin typeface="Calibri"/>
              </a:rPr>
              <a:t>AI decides what</a:t>
            </a:r>
            <a:endParaRPr lang="en-US" sz="15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E8EDF2"/>
                </a:solidFill>
                <a:effectLst/>
                <a:uFillTx/>
                <a:latin typeface="Calibri"/>
              </a:rPr>
              <a:t>Assess, measure, plan — explains each decision in plain language</a:t>
            </a:r>
            <a:endParaRPr lang="en-US" sz="1300" b="0" u="none" strike="noStrike">
              <a:solidFill>
                <a:srgbClr val="FFFFFF"/>
              </a:solidFill>
              <a:effectLst/>
              <a:uFillTx/>
              <a:latin typeface="Arial"/>
            </a:endParaRPr>
          </a:p>
        </p:txBody>
      </p:sp>
      <p:sp>
        <p:nvSpPr>
          <p:cNvPr id="156" name="icon circle Tested code decides how"/>
          <p:cNvSpPr/>
          <p:nvPr/>
        </p:nvSpPr>
        <p:spPr>
          <a:xfrm>
            <a:off x="7680960" y="2514600"/>
            <a:ext cx="548280" cy="548280"/>
          </a:xfrm>
          <a:prstGeom prst="ellipse">
            <a:avLst/>
          </a:prstGeom>
          <a:solidFill>
            <a:srgbClr val="1E3246"/>
          </a:solidFill>
          <a:ln w="19050">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57" name="Image 2" descr="Tested code decides how"/>
          <p:cNvPicPr/>
          <p:nvPr/>
        </p:nvPicPr>
        <p:blipFill>
          <a:blip r:embed="rId3"/>
          <a:stretch/>
        </p:blipFill>
        <p:spPr>
          <a:xfrm>
            <a:off x="7818120" y="2651760"/>
            <a:ext cx="273960" cy="273960"/>
          </a:xfrm>
          <a:prstGeom prst="rect">
            <a:avLst/>
          </a:prstGeom>
          <a:noFill/>
          <a:ln w="0">
            <a:noFill/>
          </a:ln>
        </p:spPr>
      </p:pic>
      <p:sp>
        <p:nvSpPr>
          <p:cNvPr id="158" name="row Tested code decides how"/>
          <p:cNvSpPr/>
          <p:nvPr/>
        </p:nvSpPr>
        <p:spPr>
          <a:xfrm>
            <a:off x="8412480" y="2468880"/>
            <a:ext cx="324576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rgbClr val="FFFFFF"/>
                </a:solidFill>
                <a:effectLst/>
                <a:uFillTx/>
                <a:latin typeface="Calibri"/>
              </a:rPr>
              <a:t>Tested code decides how</a:t>
            </a:r>
            <a:endParaRPr lang="en-US" sz="15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E8EDF2"/>
                </a:solidFill>
                <a:effectLst/>
                <a:uFillTx/>
                <a:latin typeface="Calibri"/>
              </a:rPr>
              <a:t>4 safe tools: measure, plan route, fly, broadcast</a:t>
            </a:r>
            <a:endParaRPr lang="en-US" sz="1300" b="0" u="none" strike="noStrike">
              <a:solidFill>
                <a:srgbClr val="FFFFFF"/>
              </a:solidFill>
              <a:effectLst/>
              <a:uFillTx/>
              <a:latin typeface="Arial"/>
            </a:endParaRPr>
          </a:p>
        </p:txBody>
      </p:sp>
      <p:sp>
        <p:nvSpPr>
          <p:cNvPr id="159" name="icon circle Safety check on every action"/>
          <p:cNvSpPr/>
          <p:nvPr/>
        </p:nvSpPr>
        <p:spPr>
          <a:xfrm>
            <a:off x="7680960" y="3566160"/>
            <a:ext cx="548280" cy="548280"/>
          </a:xfrm>
          <a:prstGeom prst="ellipse">
            <a:avLst/>
          </a:prstGeom>
          <a:solidFill>
            <a:srgbClr val="1E3246"/>
          </a:solidFill>
          <a:ln w="19050">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60" name="Image 3" descr="Safety check on every action"/>
          <p:cNvPicPr/>
          <p:nvPr/>
        </p:nvPicPr>
        <p:blipFill>
          <a:blip r:embed="rId4"/>
          <a:stretch/>
        </p:blipFill>
        <p:spPr>
          <a:xfrm>
            <a:off x="7818120" y="3703320"/>
            <a:ext cx="273960" cy="273960"/>
          </a:xfrm>
          <a:prstGeom prst="rect">
            <a:avLst/>
          </a:prstGeom>
          <a:noFill/>
          <a:ln w="0">
            <a:noFill/>
          </a:ln>
        </p:spPr>
      </p:pic>
      <p:sp>
        <p:nvSpPr>
          <p:cNvPr id="161" name="row Safety check on every action"/>
          <p:cNvSpPr/>
          <p:nvPr/>
        </p:nvSpPr>
        <p:spPr>
          <a:xfrm>
            <a:off x="8412480" y="3520440"/>
            <a:ext cx="324576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rgbClr val="FFFFFF"/>
                </a:solidFill>
                <a:effectLst/>
                <a:uFillTx/>
                <a:latin typeface="Calibri"/>
              </a:rPr>
              <a:t>Safety check on every action</a:t>
            </a:r>
            <a:endParaRPr lang="en-US" sz="15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E8EDF2"/>
                </a:solidFill>
                <a:effectLst/>
                <a:uFillTx/>
                <a:latin typeface="Calibri"/>
              </a:rPr>
              <a:t>Battery reserve and limits — the AI never flies the drone</a:t>
            </a:r>
            <a:endParaRPr lang="en-US" sz="1300" b="0" u="none" strike="noStrike">
              <a:solidFill>
                <a:srgbClr val="FFFFFF"/>
              </a:solidFill>
              <a:effectLst/>
              <a:uFillTx/>
              <a:latin typeface="Arial"/>
            </a:endParaRPr>
          </a:p>
        </p:txBody>
      </p:sp>
      <p:sp>
        <p:nvSpPr>
          <p:cNvPr id="162" name="stat card aborted"/>
          <p:cNvSpPr/>
          <p:nvPr/>
        </p:nvSpPr>
        <p:spPr>
          <a:xfrm>
            <a:off x="7680960" y="4754880"/>
            <a:ext cx="1874160" cy="1051200"/>
          </a:xfrm>
          <a:prstGeom prst="roundRect">
            <a:avLst>
              <a:gd name="adj" fmla="val 8696"/>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63" name="stat value aborted"/>
          <p:cNvSpPr/>
          <p:nvPr/>
        </p:nvSpPr>
        <p:spPr>
          <a:xfrm>
            <a:off x="7818120" y="4827960"/>
            <a:ext cx="1599840" cy="57816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200" b="1" u="none" strike="noStrike">
                <a:solidFill>
                  <a:srgbClr val="FF5A5F"/>
                </a:solidFill>
                <a:effectLst/>
                <a:uFillTx/>
                <a:latin typeface="Calibri"/>
              </a:rPr>
              <a:t>aborted</a:t>
            </a:r>
            <a:endParaRPr lang="en-US" sz="2200" b="0" u="none" strike="noStrike">
              <a:solidFill>
                <a:srgbClr val="FFFFFF"/>
              </a:solidFill>
              <a:effectLst/>
              <a:uFillTx/>
              <a:latin typeface="Arial"/>
            </a:endParaRPr>
          </a:p>
        </p:txBody>
      </p:sp>
      <p:sp>
        <p:nvSpPr>
          <p:cNvPr id="164" name="stat label aborted"/>
          <p:cNvSpPr/>
          <p:nvPr/>
        </p:nvSpPr>
        <p:spPr>
          <a:xfrm>
            <a:off x="7818120" y="5424840"/>
            <a:ext cx="159984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today: GPS lost → flies home</a:t>
            </a:r>
            <a:endParaRPr lang="en-US" sz="1200" b="0" u="none" strike="noStrike">
              <a:solidFill>
                <a:srgbClr val="FFFFFF"/>
              </a:solidFill>
              <a:effectLst/>
              <a:uFillTx/>
              <a:latin typeface="Arial"/>
            </a:endParaRPr>
          </a:p>
        </p:txBody>
      </p:sp>
      <p:sp>
        <p:nvSpPr>
          <p:cNvPr id="165" name="stat card 8 m"/>
          <p:cNvSpPr/>
          <p:nvPr/>
        </p:nvSpPr>
        <p:spPr>
          <a:xfrm>
            <a:off x="9692640" y="4754880"/>
            <a:ext cx="1965600" cy="1051200"/>
          </a:xfrm>
          <a:prstGeom prst="roundRect">
            <a:avLst>
              <a:gd name="adj" fmla="val 8696"/>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66" name="stat value 8 m"/>
          <p:cNvSpPr/>
          <p:nvPr/>
        </p:nvSpPr>
        <p:spPr>
          <a:xfrm>
            <a:off x="9829800" y="4827960"/>
            <a:ext cx="1691280" cy="57816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200" b="1" u="none" strike="noStrike">
                <a:solidFill>
                  <a:srgbClr val="34C77B"/>
                </a:solidFill>
                <a:effectLst/>
                <a:uFillTx/>
                <a:latin typeface="Calibri"/>
              </a:rPr>
              <a:t>8 m</a:t>
            </a:r>
            <a:endParaRPr lang="en-US" sz="2200" b="0" u="none" strike="noStrike">
              <a:solidFill>
                <a:srgbClr val="FFFFFF"/>
              </a:solidFill>
              <a:effectLst/>
              <a:uFillTx/>
              <a:latin typeface="Arial"/>
            </a:endParaRPr>
          </a:p>
        </p:txBody>
      </p:sp>
      <p:sp>
        <p:nvSpPr>
          <p:cNvPr id="167" name="stat label 8 m"/>
          <p:cNvSpPr/>
          <p:nvPr/>
        </p:nvSpPr>
        <p:spPr>
          <a:xfrm>
            <a:off x="9829800" y="5424840"/>
            <a:ext cx="169128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from target: mission completed</a:t>
            </a:r>
            <a:endParaRPr lang="en-US" sz="1200" b="0" u="none" strike="noStrike">
              <a:solidFill>
                <a:srgbClr val="FFFFFF"/>
              </a:solidFill>
              <a:effectLst/>
              <a:uFillTx/>
              <a:latin typeface="Arial"/>
            </a:endParaRPr>
          </a:p>
        </p:txBody>
      </p:sp>
      <p:sp>
        <p:nvSpPr>
          <p:cNvPr id="168" name="PlaceHolder 2"/>
          <p:cNvSpPr>
            <a:spLocks noGrp="1"/>
          </p:cNvSpPr>
          <p:nvPr>
            <p:ph type="sldNum" idx="9"/>
          </p:nvPr>
        </p:nvSpPr>
        <p:spPr>
          <a:xfrm>
            <a:off x="11247120" y="6446520"/>
            <a:ext cx="41112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93A1B3"/>
                </a:solidFill>
                <a:effectLst/>
                <a:uFillTx/>
                <a:latin typeface="Calibri"/>
              </a:defRPr>
            </a:lvl1pPr>
          </a:lstStyle>
          <a:p>
            <a:pPr indent="0" algn="r" defTabSz="914400">
              <a:lnSpc>
                <a:spcPct val="100000"/>
              </a:lnSpc>
              <a:buNone/>
            </a:pPr>
            <a:fld id="{9BE22045-2B08-42E2-938D-602BDDE3C29A}" type="slidenum">
              <a:rPr lang="en-US" sz="1000" b="0" u="none" strike="noStrike">
                <a:solidFill>
                  <a:srgbClr val="93A1B3"/>
                </a:solidFill>
                <a:effectLst/>
                <a:uFillTx/>
                <a:latin typeface="Calibri"/>
              </a:rPr>
              <a:t>6</a:t>
            </a:fld>
            <a:endParaRPr lang="en-US" sz="10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548640" y="347400"/>
            <a:ext cx="9143640" cy="7768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800" b="1" u="none" strike="noStrike">
                <a:solidFill>
                  <a:srgbClr val="FFFFFF"/>
                </a:solidFill>
                <a:effectLst/>
                <a:uFillTx/>
                <a:latin typeface="Arial"/>
              </a:rPr>
              <a:t>Target inside the zone? The swarm is its own GPS</a:t>
            </a:r>
            <a:endParaRPr lang="en-US" sz="2800" b="0" u="none" strike="noStrike">
              <a:solidFill>
                <a:schemeClr val="dk1"/>
              </a:solidFill>
              <a:effectLst/>
              <a:uFillTx/>
              <a:latin typeface="Calibri"/>
            </a:endParaRPr>
          </a:p>
        </p:txBody>
      </p:sp>
      <p:sp>
        <p:nvSpPr>
          <p:cNvPr id="170" name="criterion tag"/>
          <p:cNvSpPr/>
          <p:nvPr/>
        </p:nvSpPr>
        <p:spPr>
          <a:xfrm>
            <a:off x="9921240" y="502920"/>
            <a:ext cx="1737000" cy="383760"/>
          </a:xfrm>
          <a:prstGeom prst="roundRect">
            <a:avLst>
              <a:gd name="adj" fmla="val 50000"/>
            </a:avLst>
          </a:prstGeom>
          <a:solidFill>
            <a:srgbClr val="1E3246"/>
          </a:solidFill>
          <a:ln w="15875">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71" name="criterion tag text"/>
          <p:cNvSpPr/>
          <p:nvPr/>
        </p:nvSpPr>
        <p:spPr>
          <a:xfrm>
            <a:off x="9921240" y="502920"/>
            <a:ext cx="173700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pc="201" strike="noStrike">
                <a:solidFill>
                  <a:srgbClr val="F26B1D"/>
                </a:solidFill>
                <a:effectLst/>
                <a:uFillTx/>
                <a:latin typeface="Calibri"/>
              </a:rPr>
              <a:t>INNOVATION</a:t>
            </a:r>
            <a:endParaRPr lang="en-US" sz="1100" b="0" u="none" strike="noStrike">
              <a:solidFill>
                <a:srgbClr val="FFFFFF"/>
              </a:solidFill>
              <a:effectLst/>
              <a:uFillTx/>
              <a:latin typeface="Arial"/>
            </a:endParaRPr>
          </a:p>
        </p:txBody>
      </p:sp>
      <p:sp>
        <p:nvSpPr>
          <p:cNvPr id="172" name="colour key"/>
          <p:cNvSpPr/>
          <p:nvPr/>
        </p:nvSpPr>
        <p:spPr>
          <a:xfrm>
            <a:off x="7223760" y="6446520"/>
            <a:ext cx="393156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34C77B"/>
                </a:solidFill>
                <a:effectLst/>
                <a:uFillTx/>
                <a:latin typeface="Calibri"/>
              </a:rPr>
              <a:t>● </a:t>
            </a:r>
            <a:r>
              <a:rPr lang="en-US" sz="1000" b="0" u="none" strike="noStrike">
                <a:solidFill>
                  <a:srgbClr val="93A1B3"/>
                </a:solidFill>
                <a:effectLst/>
                <a:uFillTx/>
                <a:latin typeface="Calibri"/>
              </a:rPr>
              <a:t>our result   </a:t>
            </a:r>
            <a:r>
              <a:rPr lang="en-US" sz="1000" b="0" u="none" strike="noStrike">
                <a:solidFill>
                  <a:srgbClr val="FF5A5F"/>
                </a:solidFill>
                <a:effectLst/>
                <a:uFillTx/>
                <a:latin typeface="Calibri"/>
              </a:rPr>
              <a:t>● </a:t>
            </a:r>
            <a:r>
              <a:rPr lang="en-US" sz="1000" b="0" u="none" strike="noStrike">
                <a:solidFill>
                  <a:srgbClr val="93A1B3"/>
                </a:solidFill>
                <a:effectLst/>
                <a:uFillTx/>
                <a:latin typeface="Calibri"/>
              </a:rPr>
              <a:t>today   </a:t>
            </a:r>
            <a:r>
              <a:rPr lang="en-US" sz="1000" b="0" u="none" strike="noStrike">
                <a:solidFill>
                  <a:srgbClr val="F5C451"/>
                </a:solidFill>
                <a:effectLst/>
                <a:uFillTx/>
                <a:latin typeface="Calibri"/>
              </a:rPr>
              <a:t>● </a:t>
            </a:r>
            <a:r>
              <a:rPr lang="en-US" sz="1000" b="0" u="none" strike="noStrike">
                <a:solidFill>
                  <a:srgbClr val="93A1B3"/>
                </a:solidFill>
                <a:effectLst/>
                <a:uFillTx/>
                <a:latin typeface="Calibri"/>
              </a:rPr>
              <a:t>partial / limit   </a:t>
            </a:r>
            <a:r>
              <a:rPr lang="en-US" sz="1000" b="0" u="none" strike="noStrike">
                <a:solidFill>
                  <a:srgbClr val="5AB4F0"/>
                </a:solidFill>
                <a:effectLst/>
                <a:uFillTx/>
                <a:latin typeface="Calibri"/>
              </a:rPr>
              <a:t>● </a:t>
            </a:r>
            <a:r>
              <a:rPr lang="en-US" sz="1000" b="0" u="none" strike="noStrike">
                <a:solidFill>
                  <a:srgbClr val="93A1B3"/>
                </a:solidFill>
                <a:effectLst/>
                <a:uFillTx/>
                <a:latin typeface="Calibri"/>
              </a:rPr>
              <a:t>fact</a:t>
            </a:r>
            <a:endParaRPr lang="en-US" sz="1000" b="0" u="none" strike="noStrike">
              <a:solidFill>
                <a:srgbClr val="FFFFFF"/>
              </a:solidFill>
              <a:effectLst/>
              <a:uFillTx/>
              <a:latin typeface="Arial"/>
            </a:endParaRPr>
          </a:p>
        </p:txBody>
      </p:sp>
      <p:sp>
        <p:nvSpPr>
          <p:cNvPr id="173" name="Text 4"/>
          <p:cNvSpPr/>
          <p:nvPr/>
        </p:nvSpPr>
        <p:spPr>
          <a:xfrm>
            <a:off x="548640" y="1325880"/>
            <a:ext cx="54860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F26B1D"/>
                </a:solidFill>
                <a:effectLst/>
                <a:uFillTx/>
                <a:latin typeface="Calibri"/>
              </a:rPr>
              <a:t>SWARM GPS  ·  edge drones keep GPS and range the drone inside</a:t>
            </a:r>
            <a:endParaRPr lang="en-US" sz="1400" b="0" u="none" strike="noStrike">
              <a:solidFill>
                <a:srgbClr val="FFFFFF"/>
              </a:solidFill>
              <a:effectLst/>
              <a:uFillTx/>
              <a:latin typeface="Arial"/>
            </a:endParaRPr>
          </a:p>
        </p:txBody>
      </p:sp>
      <p:sp>
        <p:nvSpPr>
          <p:cNvPr id="174" name="Swarm GPS inside the jammed zone frame"/>
          <p:cNvSpPr/>
          <p:nvPr/>
        </p:nvSpPr>
        <p:spPr>
          <a:xfrm>
            <a:off x="530280" y="1719000"/>
            <a:ext cx="5522760" cy="2399040"/>
          </a:xfrm>
          <a:prstGeom prst="roundRect">
            <a:avLst>
              <a:gd name="adj" fmla="val 3049"/>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175" name="Swarm GPS inside the jammed zone" descr="Swarm GPS inside the jammed zone"/>
          <p:cNvPicPr/>
          <p:nvPr/>
        </p:nvPicPr>
        <p:blipFill>
          <a:blip r:embed="rId1"/>
          <a:stretch/>
        </p:blipFill>
        <p:spPr>
          <a:xfrm>
            <a:off x="594360" y="1783080"/>
            <a:ext cx="5394600" cy="2271240"/>
          </a:xfrm>
          <a:prstGeom prst="rect">
            <a:avLst/>
          </a:prstGeom>
          <a:noFill/>
          <a:ln w="0">
            <a:noFill/>
          </a:ln>
        </p:spPr>
      </p:pic>
      <p:sp>
        <p:nvSpPr>
          <p:cNvPr id="176" name="stat card 59 m → 1 m"/>
          <p:cNvSpPr/>
          <p:nvPr/>
        </p:nvSpPr>
        <p:spPr>
          <a:xfrm>
            <a:off x="548640" y="4329000"/>
            <a:ext cx="2651400" cy="1051200"/>
          </a:xfrm>
          <a:prstGeom prst="roundRect">
            <a:avLst>
              <a:gd name="adj" fmla="val 8696"/>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77" name="stat value 59 m → 1 m"/>
          <p:cNvSpPr/>
          <p:nvPr/>
        </p:nvSpPr>
        <p:spPr>
          <a:xfrm>
            <a:off x="685800" y="4402080"/>
            <a:ext cx="2377080" cy="57816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400" b="1" u="none" strike="noStrike">
                <a:solidFill>
                  <a:srgbClr val="34C77B"/>
                </a:solidFill>
                <a:effectLst/>
                <a:uFillTx/>
                <a:latin typeface="Calibri"/>
              </a:rPr>
              <a:t>59 m → 1 m</a:t>
            </a:r>
            <a:endParaRPr lang="en-US" sz="2400" b="0" u="none" strike="noStrike">
              <a:solidFill>
                <a:srgbClr val="FFFFFF"/>
              </a:solidFill>
              <a:effectLst/>
              <a:uFillTx/>
              <a:latin typeface="Arial"/>
            </a:endParaRPr>
          </a:p>
        </p:txBody>
      </p:sp>
      <p:sp>
        <p:nvSpPr>
          <p:cNvPr id="178" name="stat label 59 m → 1 m"/>
          <p:cNvSpPr/>
          <p:nvPr/>
        </p:nvSpPr>
        <p:spPr>
          <a:xfrm>
            <a:off x="685800" y="4998600"/>
            <a:ext cx="237708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error while observing the target (20 runs)</a:t>
            </a:r>
            <a:endParaRPr lang="en-US" sz="1200" b="0" u="none" strike="noStrike">
              <a:solidFill>
                <a:srgbClr val="FFFFFF"/>
              </a:solidFill>
              <a:effectLst/>
              <a:uFillTx/>
              <a:latin typeface="Arial"/>
            </a:endParaRPr>
          </a:p>
        </p:txBody>
      </p:sp>
      <p:sp>
        <p:nvSpPr>
          <p:cNvPr id="179" name="stat card 2 m"/>
          <p:cNvSpPr/>
          <p:nvPr/>
        </p:nvSpPr>
        <p:spPr>
          <a:xfrm>
            <a:off x="3337560" y="4329000"/>
            <a:ext cx="2697120" cy="1051200"/>
          </a:xfrm>
          <a:prstGeom prst="roundRect">
            <a:avLst>
              <a:gd name="adj" fmla="val 8696"/>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80" name="stat value 2 m"/>
          <p:cNvSpPr/>
          <p:nvPr/>
        </p:nvSpPr>
        <p:spPr>
          <a:xfrm>
            <a:off x="3474720" y="4402080"/>
            <a:ext cx="2422800" cy="57816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400" b="1" u="none" strike="noStrike">
                <a:solidFill>
                  <a:srgbClr val="34C77B"/>
                </a:solidFill>
                <a:effectLst/>
                <a:uFillTx/>
                <a:latin typeface="Calibri"/>
              </a:rPr>
              <a:t>2 m</a:t>
            </a:r>
            <a:endParaRPr lang="en-US" sz="2400" b="0" u="none" strike="noStrike">
              <a:solidFill>
                <a:srgbClr val="FFFFFF"/>
              </a:solidFill>
              <a:effectLst/>
              <a:uFillTx/>
              <a:latin typeface="Arial"/>
            </a:endParaRPr>
          </a:p>
        </p:txBody>
      </p:sp>
      <p:sp>
        <p:nvSpPr>
          <p:cNvPr id="181" name="stat label 2 m"/>
          <p:cNvSpPr/>
          <p:nvPr/>
        </p:nvSpPr>
        <p:spPr>
          <a:xfrm>
            <a:off x="3474720" y="4998600"/>
            <a:ext cx="242280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still, if one edge drone is lost</a:t>
            </a:r>
            <a:endParaRPr lang="en-US" sz="1200" b="0" u="none" strike="noStrike">
              <a:solidFill>
                <a:srgbClr val="FFFFFF"/>
              </a:solidFill>
              <a:effectLst/>
              <a:uFillTx/>
              <a:latin typeface="Arial"/>
            </a:endParaRPr>
          </a:p>
        </p:txBody>
      </p:sp>
      <p:sp>
        <p:nvSpPr>
          <p:cNvPr id="182" name="caption"/>
          <p:cNvSpPr/>
          <p:nvPr/>
        </p:nvSpPr>
        <p:spPr>
          <a:xfrm>
            <a:off x="548640" y="5472000"/>
            <a:ext cx="548604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i="1" u="none" strike="noStrike">
                <a:solidFill>
                  <a:srgbClr val="93A1B3"/>
                </a:solidFill>
                <a:effectLst/>
                <a:uFillTx/>
                <a:latin typeface="Calibri"/>
              </a:rPr>
              <a:t>Radio ranging on the drones' own link — not the band a GPS jammer hits.</a:t>
            </a:r>
            <a:endParaRPr lang="en-US" sz="1100" b="0" u="none" strike="noStrike">
              <a:solidFill>
                <a:srgbClr val="FFFFFF"/>
              </a:solidFill>
              <a:effectLst/>
              <a:uFillTx/>
              <a:latin typeface="Arial"/>
            </a:endParaRPr>
          </a:p>
        </p:txBody>
      </p:sp>
      <p:sp>
        <p:nvSpPr>
          <p:cNvPr id="183" name="Text 13"/>
          <p:cNvSpPr/>
          <p:nvPr/>
        </p:nvSpPr>
        <p:spPr>
          <a:xfrm>
            <a:off x="6263640" y="1325880"/>
            <a:ext cx="53946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F26B1D"/>
                </a:solidFill>
                <a:effectLst/>
                <a:uFillTx/>
                <a:latin typeface="Calibri"/>
              </a:rPr>
              <a:t>MAGNAV  ·  the Earth's magnetic map can't be jammed</a:t>
            </a:r>
            <a:endParaRPr lang="en-US" sz="1400" b="0" u="none" strike="noStrike">
              <a:solidFill>
                <a:srgbClr val="FFFFFF"/>
              </a:solidFill>
              <a:effectLst/>
              <a:uFillTx/>
              <a:latin typeface="Arial"/>
            </a:endParaRPr>
          </a:p>
        </p:txBody>
      </p:sp>
      <p:sp>
        <p:nvSpPr>
          <p:cNvPr id="184" name="MagNav over land and sea frame"/>
          <p:cNvSpPr/>
          <p:nvPr/>
        </p:nvSpPr>
        <p:spPr>
          <a:xfrm>
            <a:off x="6245280" y="1719000"/>
            <a:ext cx="5431320" cy="2219760"/>
          </a:xfrm>
          <a:prstGeom prst="roundRect">
            <a:avLst>
              <a:gd name="adj" fmla="val 3295"/>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185" name="MagNav over land and sea" descr="MagNav over land and sea"/>
          <p:cNvPicPr/>
          <p:nvPr/>
        </p:nvPicPr>
        <p:blipFill>
          <a:blip r:embed="rId2"/>
          <a:stretch/>
        </p:blipFill>
        <p:spPr>
          <a:xfrm>
            <a:off x="6309360" y="1783080"/>
            <a:ext cx="5303160" cy="2091960"/>
          </a:xfrm>
          <a:prstGeom prst="rect">
            <a:avLst/>
          </a:prstGeom>
          <a:noFill/>
          <a:ln w="0">
            <a:noFill/>
          </a:ln>
        </p:spPr>
      </p:pic>
      <p:sp>
        <p:nvSpPr>
          <p:cNvPr id="186" name="stat card 202 m"/>
          <p:cNvSpPr/>
          <p:nvPr/>
        </p:nvSpPr>
        <p:spPr>
          <a:xfrm>
            <a:off x="6263640" y="4149720"/>
            <a:ext cx="2605680" cy="1051200"/>
          </a:xfrm>
          <a:prstGeom prst="roundRect">
            <a:avLst>
              <a:gd name="adj" fmla="val 8696"/>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87" name="stat value 202 m"/>
          <p:cNvSpPr/>
          <p:nvPr/>
        </p:nvSpPr>
        <p:spPr>
          <a:xfrm>
            <a:off x="6400800" y="4222800"/>
            <a:ext cx="2331360" cy="57816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400" b="1" u="none" strike="noStrike">
                <a:solidFill>
                  <a:srgbClr val="F5C451"/>
                </a:solidFill>
                <a:effectLst/>
                <a:uFillTx/>
                <a:latin typeface="Calibri"/>
              </a:rPr>
              <a:t>202 m</a:t>
            </a:r>
            <a:endParaRPr lang="en-US" sz="2400" b="0" u="none" strike="noStrike">
              <a:solidFill>
                <a:srgbClr val="FFFFFF"/>
              </a:solidFill>
              <a:effectLst/>
              <a:uFillTx/>
              <a:latin typeface="Arial"/>
            </a:endParaRPr>
          </a:p>
        </p:txBody>
      </p:sp>
      <p:sp>
        <p:nvSpPr>
          <p:cNvPr id="188" name="stat label 202 m"/>
          <p:cNvSpPr/>
          <p:nvPr/>
        </p:nvSpPr>
        <p:spPr>
          <a:xfrm>
            <a:off x="6400800" y="4819320"/>
            <a:ext cx="233136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terrain matching — blind over the sea</a:t>
            </a:r>
            <a:endParaRPr lang="en-US" sz="1200" b="0" u="none" strike="noStrike">
              <a:solidFill>
                <a:srgbClr val="FFFFFF"/>
              </a:solidFill>
              <a:effectLst/>
              <a:uFillTx/>
              <a:latin typeface="Arial"/>
            </a:endParaRPr>
          </a:p>
        </p:txBody>
      </p:sp>
      <p:sp>
        <p:nvSpPr>
          <p:cNvPr id="189" name="stat card 38 m"/>
          <p:cNvSpPr/>
          <p:nvPr/>
        </p:nvSpPr>
        <p:spPr>
          <a:xfrm>
            <a:off x="9052560" y="4149720"/>
            <a:ext cx="2605680" cy="1051200"/>
          </a:xfrm>
          <a:prstGeom prst="roundRect">
            <a:avLst>
              <a:gd name="adj" fmla="val 8696"/>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90" name="stat value 38 m"/>
          <p:cNvSpPr/>
          <p:nvPr/>
        </p:nvSpPr>
        <p:spPr>
          <a:xfrm>
            <a:off x="9189720" y="4222800"/>
            <a:ext cx="2331360" cy="57816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400" b="1" u="none" strike="noStrike">
                <a:solidFill>
                  <a:srgbClr val="34C77B"/>
                </a:solidFill>
                <a:effectLst/>
                <a:uFillTx/>
                <a:latin typeface="Calibri"/>
              </a:rPr>
              <a:t>38 m</a:t>
            </a:r>
            <a:endParaRPr lang="en-US" sz="2400" b="0" u="none" strike="noStrike">
              <a:solidFill>
                <a:srgbClr val="FFFFFF"/>
              </a:solidFill>
              <a:effectLst/>
              <a:uFillTx/>
              <a:latin typeface="Arial"/>
            </a:endParaRPr>
          </a:p>
        </p:txBody>
      </p:sp>
      <p:sp>
        <p:nvSpPr>
          <p:cNvPr id="191" name="stat label 38 m"/>
          <p:cNvSpPr/>
          <p:nvPr/>
        </p:nvSpPr>
        <p:spPr>
          <a:xfrm>
            <a:off x="9189720" y="4819320"/>
            <a:ext cx="233136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terrain + MagNav (typical, 20 km)</a:t>
            </a:r>
            <a:endParaRPr lang="en-US" sz="1200" b="0" u="none" strike="noStrike">
              <a:solidFill>
                <a:srgbClr val="FFFFFF"/>
              </a:solidFill>
              <a:effectLst/>
              <a:uFillTx/>
              <a:latin typeface="Arial"/>
            </a:endParaRPr>
          </a:p>
        </p:txBody>
      </p:sp>
      <p:sp>
        <p:nvSpPr>
          <p:cNvPr id="192" name="caption"/>
          <p:cNvSpPr/>
          <p:nvPr/>
        </p:nvSpPr>
        <p:spPr>
          <a:xfrm>
            <a:off x="6263640" y="5292720"/>
            <a:ext cx="539460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i="1" u="none" strike="noStrike">
                <a:solidFill>
                  <a:srgbClr val="93A1B3"/>
                </a:solidFill>
                <a:effectLst/>
                <a:uFillTx/>
                <a:latin typeface="Calibri"/>
              </a:rPr>
              <a:t>It only listens — nothing to jam or spoof. Works over the Baltic, at night, in snow.</a:t>
            </a:r>
            <a:endParaRPr lang="en-US" sz="1100" b="0" u="none" strike="noStrike">
              <a:solidFill>
                <a:srgbClr val="FFFFFF"/>
              </a:solidFill>
              <a:effectLst/>
              <a:uFillTx/>
              <a:latin typeface="Arial"/>
            </a:endParaRPr>
          </a:p>
        </p:txBody>
      </p:sp>
      <p:sp>
        <p:nvSpPr>
          <p:cNvPr id="193" name="PlaceHolder 2"/>
          <p:cNvSpPr>
            <a:spLocks noGrp="1"/>
          </p:cNvSpPr>
          <p:nvPr>
            <p:ph type="sldNum" idx="10"/>
          </p:nvPr>
        </p:nvSpPr>
        <p:spPr>
          <a:xfrm>
            <a:off x="11247120" y="6446520"/>
            <a:ext cx="41112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93A1B3"/>
                </a:solidFill>
                <a:effectLst/>
                <a:uFillTx/>
                <a:latin typeface="Calibri"/>
              </a:defRPr>
            </a:lvl1pPr>
          </a:lstStyle>
          <a:p>
            <a:pPr indent="0" algn="r" defTabSz="914400">
              <a:lnSpc>
                <a:spcPct val="100000"/>
              </a:lnSpc>
              <a:buNone/>
            </a:pPr>
            <a:fld id="{05CEA690-B3AD-4AF8-A702-820F0FFA1386}" type="slidenum">
              <a:rPr lang="en-US" sz="1000" b="0" u="none" strike="noStrike">
                <a:solidFill>
                  <a:srgbClr val="93A1B3"/>
                </a:solidFill>
                <a:effectLst/>
                <a:uFillTx/>
                <a:latin typeface="Calibri"/>
              </a:rPr>
              <a:t>7</a:t>
            </a:fld>
            <a:endParaRPr lang="en-US" sz="10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548640" y="347400"/>
            <a:ext cx="9143640" cy="7768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800" b="1" u="none" strike="noStrike">
                <a:solidFill>
                  <a:srgbClr val="FFFFFF"/>
                </a:solidFill>
                <a:effectLst/>
                <a:uFillTx/>
                <a:latin typeface="Arial"/>
              </a:rPr>
              <a:t>Real terrain: 25 missions over Bråviken, Norrköping</a:t>
            </a:r>
            <a:endParaRPr lang="en-US" sz="2800" b="0" u="none" strike="noStrike">
              <a:solidFill>
                <a:schemeClr val="dk1"/>
              </a:solidFill>
              <a:effectLst/>
              <a:uFillTx/>
              <a:latin typeface="Calibri"/>
            </a:endParaRPr>
          </a:p>
        </p:txBody>
      </p:sp>
      <p:sp>
        <p:nvSpPr>
          <p:cNvPr id="195" name="criterion tag"/>
          <p:cNvSpPr/>
          <p:nvPr/>
        </p:nvSpPr>
        <p:spPr>
          <a:xfrm>
            <a:off x="9921240" y="502920"/>
            <a:ext cx="1737000" cy="383760"/>
          </a:xfrm>
          <a:prstGeom prst="roundRect">
            <a:avLst>
              <a:gd name="adj" fmla="val 50000"/>
            </a:avLst>
          </a:prstGeom>
          <a:solidFill>
            <a:srgbClr val="1E3246"/>
          </a:solidFill>
          <a:ln w="15875">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96" name="criterion tag text"/>
          <p:cNvSpPr/>
          <p:nvPr/>
        </p:nvSpPr>
        <p:spPr>
          <a:xfrm>
            <a:off x="9921240" y="502920"/>
            <a:ext cx="173700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pc="201" strike="noStrike">
                <a:solidFill>
                  <a:srgbClr val="F26B1D"/>
                </a:solidFill>
                <a:effectLst/>
                <a:uFillTx/>
                <a:latin typeface="Calibri"/>
              </a:rPr>
              <a:t>PROGRESS</a:t>
            </a:r>
            <a:endParaRPr lang="en-US" sz="1100" b="0" u="none" strike="noStrike">
              <a:solidFill>
                <a:srgbClr val="FFFFFF"/>
              </a:solidFill>
              <a:effectLst/>
              <a:uFillTx/>
              <a:latin typeface="Arial"/>
            </a:endParaRPr>
          </a:p>
        </p:txBody>
      </p:sp>
      <p:sp>
        <p:nvSpPr>
          <p:cNvPr id="197" name="colour key"/>
          <p:cNvSpPr/>
          <p:nvPr/>
        </p:nvSpPr>
        <p:spPr>
          <a:xfrm>
            <a:off x="7223760" y="6446520"/>
            <a:ext cx="393156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34C77B"/>
                </a:solidFill>
                <a:effectLst/>
                <a:uFillTx/>
                <a:latin typeface="Calibri"/>
              </a:rPr>
              <a:t>● </a:t>
            </a:r>
            <a:r>
              <a:rPr lang="en-US" sz="1000" b="0" u="none" strike="noStrike">
                <a:solidFill>
                  <a:srgbClr val="93A1B3"/>
                </a:solidFill>
                <a:effectLst/>
                <a:uFillTx/>
                <a:latin typeface="Calibri"/>
              </a:rPr>
              <a:t>our result   </a:t>
            </a:r>
            <a:r>
              <a:rPr lang="en-US" sz="1000" b="0" u="none" strike="noStrike">
                <a:solidFill>
                  <a:srgbClr val="FF5A5F"/>
                </a:solidFill>
                <a:effectLst/>
                <a:uFillTx/>
                <a:latin typeface="Calibri"/>
              </a:rPr>
              <a:t>● </a:t>
            </a:r>
            <a:r>
              <a:rPr lang="en-US" sz="1000" b="0" u="none" strike="noStrike">
                <a:solidFill>
                  <a:srgbClr val="93A1B3"/>
                </a:solidFill>
                <a:effectLst/>
                <a:uFillTx/>
                <a:latin typeface="Calibri"/>
              </a:rPr>
              <a:t>today   </a:t>
            </a:r>
            <a:r>
              <a:rPr lang="en-US" sz="1000" b="0" u="none" strike="noStrike">
                <a:solidFill>
                  <a:srgbClr val="F5C451"/>
                </a:solidFill>
                <a:effectLst/>
                <a:uFillTx/>
                <a:latin typeface="Calibri"/>
              </a:rPr>
              <a:t>● </a:t>
            </a:r>
            <a:r>
              <a:rPr lang="en-US" sz="1000" b="0" u="none" strike="noStrike">
                <a:solidFill>
                  <a:srgbClr val="93A1B3"/>
                </a:solidFill>
                <a:effectLst/>
                <a:uFillTx/>
                <a:latin typeface="Calibri"/>
              </a:rPr>
              <a:t>partial / limit   </a:t>
            </a:r>
            <a:r>
              <a:rPr lang="en-US" sz="1000" b="0" u="none" strike="noStrike">
                <a:solidFill>
                  <a:srgbClr val="5AB4F0"/>
                </a:solidFill>
                <a:effectLst/>
                <a:uFillTx/>
                <a:latin typeface="Calibri"/>
              </a:rPr>
              <a:t>● </a:t>
            </a:r>
            <a:r>
              <a:rPr lang="en-US" sz="1000" b="0" u="none" strike="noStrike">
                <a:solidFill>
                  <a:srgbClr val="93A1B3"/>
                </a:solidFill>
                <a:effectLst/>
                <a:uFillTx/>
                <a:latin typeface="Calibri"/>
              </a:rPr>
              <a:t>fact</a:t>
            </a:r>
            <a:endParaRPr lang="en-US" sz="1000" b="0" u="none" strike="noStrike">
              <a:solidFill>
                <a:srgbClr val="FFFFFF"/>
              </a:solidFill>
              <a:effectLst/>
              <a:uFillTx/>
              <a:latin typeface="Arial"/>
            </a:endParaRPr>
          </a:p>
        </p:txBody>
      </p:sp>
      <p:sp>
        <p:nvSpPr>
          <p:cNvPr id="198" name="Real-map test over Bråviken frame"/>
          <p:cNvSpPr/>
          <p:nvPr/>
        </p:nvSpPr>
        <p:spPr>
          <a:xfrm>
            <a:off x="530280" y="1307520"/>
            <a:ext cx="7808760" cy="3391920"/>
          </a:xfrm>
          <a:prstGeom prst="roundRect">
            <a:avLst>
              <a:gd name="adj" fmla="val 2156"/>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199" name="Real-map test over Bråviken" descr="Real-map test over Bråviken"/>
          <p:cNvPicPr/>
          <p:nvPr/>
        </p:nvPicPr>
        <p:blipFill>
          <a:blip r:embed="rId1"/>
          <a:stretch/>
        </p:blipFill>
        <p:spPr>
          <a:xfrm>
            <a:off x="594360" y="1371600"/>
            <a:ext cx="7680600" cy="3264120"/>
          </a:xfrm>
          <a:prstGeom prst="rect">
            <a:avLst/>
          </a:prstGeom>
          <a:noFill/>
          <a:ln w="0">
            <a:noFill/>
          </a:ln>
        </p:spPr>
      </p:pic>
      <p:sp>
        <p:nvSpPr>
          <p:cNvPr id="200" name="caption"/>
          <p:cNvSpPr/>
          <p:nvPr/>
        </p:nvSpPr>
        <p:spPr>
          <a:xfrm>
            <a:off x="548640" y="4773240"/>
            <a:ext cx="777204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i="1" u="none" strike="noStrike">
                <a:solidFill>
                  <a:srgbClr val="93A1B3"/>
                </a:solidFill>
                <a:effectLst/>
                <a:uFillTx/>
                <a:latin typeface="Calibri"/>
              </a:rPr>
              <a:t>Built by Guled · navigation/real_map/ · heights real (NASA SRTM via AWS Terrain Tiles), magnetic map simulated</a:t>
            </a:r>
            <a:endParaRPr lang="en-US" sz="1100" b="0" u="none" strike="noStrike">
              <a:solidFill>
                <a:srgbClr val="FFFFFF"/>
              </a:solidFill>
              <a:effectLst/>
              <a:uFillTx/>
              <a:latin typeface="Arial"/>
            </a:endParaRPr>
          </a:p>
        </p:txBody>
      </p:sp>
      <p:sp>
        <p:nvSpPr>
          <p:cNvPr id="201" name="Text 6"/>
          <p:cNvSpPr/>
          <p:nvPr/>
        </p:nvSpPr>
        <p:spPr>
          <a:xfrm>
            <a:off x="548640" y="5184720"/>
            <a:ext cx="7772040" cy="100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rgbClr val="F5C451"/>
                </a:solidFill>
                <a:effectLst/>
                <a:uFillTx/>
                <a:latin typeface="Calibri"/>
              </a:rPr>
              <a:t>Honest finding: </a:t>
            </a:r>
            <a:r>
              <a:rPr lang="en-US" sz="1300" b="0" u="none" strike="noStrike">
                <a:solidFill>
                  <a:srgbClr val="E8EDF2"/>
                </a:solidFill>
                <a:effectLst/>
                <a:uFillTx/>
                <a:latin typeface="Calibri"/>
              </a:rPr>
              <a:t>real ground is flatter than our simulated hills, and ~21 % of each route is over water. With the drones' radio link jammed too, terrain matching often has nothing to recognise — MagNav halves the error, but it is not a full fix yet.</a:t>
            </a:r>
            <a:endParaRPr lang="en-US" sz="1300" b="0" u="none" strike="noStrike">
              <a:solidFill>
                <a:srgbClr val="FFFFFF"/>
              </a:solidFill>
              <a:effectLst/>
              <a:uFillTx/>
              <a:latin typeface="Arial"/>
            </a:endParaRPr>
          </a:p>
        </p:txBody>
      </p:sp>
      <p:sp>
        <p:nvSpPr>
          <p:cNvPr id="202" name="stat card 25 / 25"/>
          <p:cNvSpPr/>
          <p:nvPr/>
        </p:nvSpPr>
        <p:spPr>
          <a:xfrm>
            <a:off x="8641080" y="1371600"/>
            <a:ext cx="3017160" cy="1096920"/>
          </a:xfrm>
          <a:prstGeom prst="roundRect">
            <a:avLst>
              <a:gd name="adj" fmla="val 8333"/>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03" name="stat value 25 / 25"/>
          <p:cNvSpPr/>
          <p:nvPr/>
        </p:nvSpPr>
        <p:spPr>
          <a:xfrm>
            <a:off x="8778240" y="1444680"/>
            <a:ext cx="2742840" cy="60300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600" b="1" u="none" strike="noStrike">
                <a:solidFill>
                  <a:srgbClr val="34C77B"/>
                </a:solidFill>
                <a:effectLst/>
                <a:uFillTx/>
                <a:latin typeface="Calibri"/>
              </a:rPr>
              <a:t>25 / 25</a:t>
            </a:r>
            <a:endParaRPr lang="en-US" sz="2600" b="0" u="none" strike="noStrike">
              <a:solidFill>
                <a:srgbClr val="FFFFFF"/>
              </a:solidFill>
              <a:effectLst/>
              <a:uFillTx/>
              <a:latin typeface="Arial"/>
            </a:endParaRPr>
          </a:p>
        </p:txBody>
      </p:sp>
      <p:sp>
        <p:nvSpPr>
          <p:cNvPr id="204" name="stat label 25 / 25"/>
          <p:cNvSpPr/>
          <p:nvPr/>
        </p:nvSpPr>
        <p:spPr>
          <a:xfrm>
            <a:off x="8778240" y="2066400"/>
            <a:ext cx="274284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within 50 m, radio link working (~4 m typical)</a:t>
            </a:r>
            <a:endParaRPr lang="en-US" sz="1200" b="0" u="none" strike="noStrike">
              <a:solidFill>
                <a:srgbClr val="FFFFFF"/>
              </a:solidFill>
              <a:effectLst/>
              <a:uFillTx/>
              <a:latin typeface="Arial"/>
            </a:endParaRPr>
          </a:p>
        </p:txBody>
      </p:sp>
      <p:sp>
        <p:nvSpPr>
          <p:cNvPr id="205" name="stat card 0 / 25"/>
          <p:cNvSpPr/>
          <p:nvPr/>
        </p:nvSpPr>
        <p:spPr>
          <a:xfrm>
            <a:off x="8641080" y="2651760"/>
            <a:ext cx="3017160" cy="1096920"/>
          </a:xfrm>
          <a:prstGeom prst="roundRect">
            <a:avLst>
              <a:gd name="adj" fmla="val 8333"/>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06" name="stat value 0 / 25"/>
          <p:cNvSpPr/>
          <p:nvPr/>
        </p:nvSpPr>
        <p:spPr>
          <a:xfrm>
            <a:off x="8778240" y="2724840"/>
            <a:ext cx="2742840" cy="60300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600" b="1" u="none" strike="noStrike">
                <a:solidFill>
                  <a:srgbClr val="FF5A5F"/>
                </a:solidFill>
                <a:effectLst/>
                <a:uFillTx/>
                <a:latin typeface="Calibri"/>
              </a:rPr>
              <a:t>0 / 25</a:t>
            </a:r>
            <a:endParaRPr lang="en-US" sz="2600" b="0" u="none" strike="noStrike">
              <a:solidFill>
                <a:srgbClr val="FFFFFF"/>
              </a:solidFill>
              <a:effectLst/>
              <a:uFillTx/>
              <a:latin typeface="Arial"/>
            </a:endParaRPr>
          </a:p>
        </p:txBody>
      </p:sp>
      <p:sp>
        <p:nvSpPr>
          <p:cNvPr id="207" name="stat label 0 / 25"/>
          <p:cNvSpPr/>
          <p:nvPr/>
        </p:nvSpPr>
        <p:spPr>
          <a:xfrm>
            <a:off x="8778240" y="3346560"/>
            <a:ext cx="274284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IMU only (~700 m typical)</a:t>
            </a:r>
            <a:endParaRPr lang="en-US" sz="1200" b="0" u="none" strike="noStrike">
              <a:solidFill>
                <a:srgbClr val="FFFFFF"/>
              </a:solidFill>
              <a:effectLst/>
              <a:uFillTx/>
              <a:latin typeface="Arial"/>
            </a:endParaRPr>
          </a:p>
        </p:txBody>
      </p:sp>
      <p:sp>
        <p:nvSpPr>
          <p:cNvPr id="208" name="stat card 180 → 71 m"/>
          <p:cNvSpPr/>
          <p:nvPr/>
        </p:nvSpPr>
        <p:spPr>
          <a:xfrm>
            <a:off x="8641080" y="3931920"/>
            <a:ext cx="3017160" cy="1096920"/>
          </a:xfrm>
          <a:prstGeom prst="roundRect">
            <a:avLst>
              <a:gd name="adj" fmla="val 8333"/>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09" name="stat value 180 → 71 m"/>
          <p:cNvSpPr/>
          <p:nvPr/>
        </p:nvSpPr>
        <p:spPr>
          <a:xfrm>
            <a:off x="8778240" y="4005000"/>
            <a:ext cx="2742840" cy="60300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600" b="1" u="none" strike="noStrike">
                <a:solidFill>
                  <a:srgbClr val="F5C451"/>
                </a:solidFill>
                <a:effectLst/>
                <a:uFillTx/>
                <a:latin typeface="Calibri"/>
              </a:rPr>
              <a:t>180 → 71 m</a:t>
            </a:r>
            <a:endParaRPr lang="en-US" sz="2600" b="0" u="none" strike="noStrike">
              <a:solidFill>
                <a:srgbClr val="FFFFFF"/>
              </a:solidFill>
              <a:effectLst/>
              <a:uFillTx/>
              <a:latin typeface="Arial"/>
            </a:endParaRPr>
          </a:p>
        </p:txBody>
      </p:sp>
      <p:sp>
        <p:nvSpPr>
          <p:cNvPr id="210" name="stat label 180 → 71 m"/>
          <p:cNvSpPr/>
          <p:nvPr/>
        </p:nvSpPr>
        <p:spPr>
          <a:xfrm>
            <a:off x="8778240" y="4626720"/>
            <a:ext cx="274284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radio jammed too: terrain only vs + MagNav (typical)</a:t>
            </a:r>
            <a:endParaRPr lang="en-US" sz="1200" b="0" u="none" strike="noStrike">
              <a:solidFill>
                <a:srgbClr val="FFFFFF"/>
              </a:solidFill>
              <a:effectLst/>
              <a:uFillTx/>
              <a:latin typeface="Arial"/>
            </a:endParaRPr>
          </a:p>
        </p:txBody>
      </p:sp>
      <p:sp>
        <p:nvSpPr>
          <p:cNvPr id="211" name="stat card 6 → 8 / 25"/>
          <p:cNvSpPr/>
          <p:nvPr/>
        </p:nvSpPr>
        <p:spPr>
          <a:xfrm>
            <a:off x="8641080" y="5212080"/>
            <a:ext cx="3017160" cy="914040"/>
          </a:xfrm>
          <a:prstGeom prst="roundRect">
            <a:avLst>
              <a:gd name="adj" fmla="val 10000"/>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12" name="stat value 6 → 8 / 25"/>
          <p:cNvSpPr/>
          <p:nvPr/>
        </p:nvSpPr>
        <p:spPr>
          <a:xfrm>
            <a:off x="8778240" y="5285160"/>
            <a:ext cx="2742840" cy="50256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200" b="1" u="none" strike="noStrike">
                <a:solidFill>
                  <a:srgbClr val="F5C451"/>
                </a:solidFill>
                <a:effectLst/>
                <a:uFillTx/>
                <a:latin typeface="Calibri"/>
              </a:rPr>
              <a:t>6 → 8 / 25</a:t>
            </a:r>
            <a:endParaRPr lang="en-US" sz="2200" b="0" u="none" strike="noStrike">
              <a:solidFill>
                <a:srgbClr val="FFFFFF"/>
              </a:solidFill>
              <a:effectLst/>
              <a:uFillTx/>
              <a:latin typeface="Arial"/>
            </a:endParaRPr>
          </a:p>
        </p:txBody>
      </p:sp>
      <p:sp>
        <p:nvSpPr>
          <p:cNvPr id="213" name="stat label 6 → 8 / 25"/>
          <p:cNvSpPr/>
          <p:nvPr/>
        </p:nvSpPr>
        <p:spPr>
          <a:xfrm>
            <a:off x="8778240" y="5806440"/>
            <a:ext cx="27428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radio jammed too: success</a:t>
            </a:r>
            <a:endParaRPr lang="en-US" sz="1200" b="0" u="none" strike="noStrike">
              <a:solidFill>
                <a:srgbClr val="FFFFFF"/>
              </a:solidFill>
              <a:effectLst/>
              <a:uFillTx/>
              <a:latin typeface="Arial"/>
            </a:endParaRPr>
          </a:p>
        </p:txBody>
      </p:sp>
      <p:sp>
        <p:nvSpPr>
          <p:cNvPr id="214" name="PlaceHolder 2"/>
          <p:cNvSpPr>
            <a:spLocks noGrp="1"/>
          </p:cNvSpPr>
          <p:nvPr>
            <p:ph type="sldNum" idx="11"/>
          </p:nvPr>
        </p:nvSpPr>
        <p:spPr>
          <a:xfrm>
            <a:off x="11247120" y="6446520"/>
            <a:ext cx="41112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93A1B3"/>
                </a:solidFill>
                <a:effectLst/>
                <a:uFillTx/>
                <a:latin typeface="Calibri"/>
              </a:defRPr>
            </a:lvl1pPr>
          </a:lstStyle>
          <a:p>
            <a:pPr indent="0" algn="r" defTabSz="914400">
              <a:lnSpc>
                <a:spcPct val="100000"/>
              </a:lnSpc>
              <a:buNone/>
            </a:pPr>
            <a:fld id="{D1DD6B62-D73F-419D-9955-715BCCA7E8B4}" type="slidenum">
              <a:rPr lang="en-US" sz="1000" b="0" u="none" strike="noStrike">
                <a:solidFill>
                  <a:srgbClr val="93A1B3"/>
                </a:solidFill>
                <a:effectLst/>
                <a:uFillTx/>
                <a:latin typeface="Calibri"/>
              </a:rPr>
              <a:t>&lt;number&gt;</a:t>
            </a:fld>
            <a:endParaRPr lang="en-US" sz="10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title" hasCustomPrompt="1"/>
          </p:nvPr>
        </p:nvSpPr>
        <p:spPr>
          <a:xfrm>
            <a:off x="548640" y="347400"/>
            <a:ext cx="9143640" cy="7768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800" b="1" u="none" strike="noStrike">
                <a:solidFill>
                  <a:srgbClr val="FFFFFF"/>
                </a:solidFill>
                <a:effectLst/>
                <a:uFillTx/>
                <a:latin typeface="Arial"/>
              </a:rPr>
              <a:t>Live: 3 real PX4 autopilots fly the mission in Gazebo</a:t>
            </a:r>
            <a:endParaRPr lang="en-US" sz="2800" b="0" u="none" strike="noStrike">
              <a:solidFill>
                <a:schemeClr val="dk1"/>
              </a:solidFill>
              <a:effectLst/>
              <a:uFillTx/>
              <a:latin typeface="Calibri"/>
            </a:endParaRPr>
          </a:p>
        </p:txBody>
      </p:sp>
      <p:sp>
        <p:nvSpPr>
          <p:cNvPr id="216" name="criterion tag"/>
          <p:cNvSpPr/>
          <p:nvPr/>
        </p:nvSpPr>
        <p:spPr>
          <a:xfrm>
            <a:off x="9921240" y="502920"/>
            <a:ext cx="1737000" cy="383760"/>
          </a:xfrm>
          <a:prstGeom prst="roundRect">
            <a:avLst>
              <a:gd name="adj" fmla="val 50000"/>
            </a:avLst>
          </a:prstGeom>
          <a:solidFill>
            <a:srgbClr val="1E3246"/>
          </a:solidFill>
          <a:ln w="15875">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17" name="criterion tag text"/>
          <p:cNvSpPr/>
          <p:nvPr/>
        </p:nvSpPr>
        <p:spPr>
          <a:xfrm>
            <a:off x="9921240" y="502920"/>
            <a:ext cx="173700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pc="201" strike="noStrike">
                <a:solidFill>
                  <a:srgbClr val="F26B1D"/>
                </a:solidFill>
                <a:effectLst/>
                <a:uFillTx/>
                <a:latin typeface="Calibri"/>
              </a:rPr>
              <a:t>PROGRESS</a:t>
            </a:r>
            <a:endParaRPr lang="en-US" sz="1100" b="0" u="none" strike="noStrike">
              <a:solidFill>
                <a:srgbClr val="FFFFFF"/>
              </a:solidFill>
              <a:effectLst/>
              <a:uFillTx/>
              <a:latin typeface="Arial"/>
            </a:endParaRPr>
          </a:p>
        </p:txBody>
      </p:sp>
      <p:sp>
        <p:nvSpPr>
          <p:cNvPr id="218" name="colour key"/>
          <p:cNvSpPr/>
          <p:nvPr/>
        </p:nvSpPr>
        <p:spPr>
          <a:xfrm>
            <a:off x="7223760" y="6446520"/>
            <a:ext cx="393156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34C77B"/>
                </a:solidFill>
                <a:effectLst/>
                <a:uFillTx/>
                <a:latin typeface="Calibri"/>
              </a:rPr>
              <a:t>● </a:t>
            </a:r>
            <a:r>
              <a:rPr lang="en-US" sz="1000" b="0" u="none" strike="noStrike">
                <a:solidFill>
                  <a:srgbClr val="93A1B3"/>
                </a:solidFill>
                <a:effectLst/>
                <a:uFillTx/>
                <a:latin typeface="Calibri"/>
              </a:rPr>
              <a:t>our result   </a:t>
            </a:r>
            <a:r>
              <a:rPr lang="en-US" sz="1000" b="0" u="none" strike="noStrike">
                <a:solidFill>
                  <a:srgbClr val="FF5A5F"/>
                </a:solidFill>
                <a:effectLst/>
                <a:uFillTx/>
                <a:latin typeface="Calibri"/>
              </a:rPr>
              <a:t>● </a:t>
            </a:r>
            <a:r>
              <a:rPr lang="en-US" sz="1000" b="0" u="none" strike="noStrike">
                <a:solidFill>
                  <a:srgbClr val="93A1B3"/>
                </a:solidFill>
                <a:effectLst/>
                <a:uFillTx/>
                <a:latin typeface="Calibri"/>
              </a:rPr>
              <a:t>today   </a:t>
            </a:r>
            <a:r>
              <a:rPr lang="en-US" sz="1000" b="0" u="none" strike="noStrike">
                <a:solidFill>
                  <a:srgbClr val="F5C451"/>
                </a:solidFill>
                <a:effectLst/>
                <a:uFillTx/>
                <a:latin typeface="Calibri"/>
              </a:rPr>
              <a:t>● </a:t>
            </a:r>
            <a:r>
              <a:rPr lang="en-US" sz="1000" b="0" u="none" strike="noStrike">
                <a:solidFill>
                  <a:srgbClr val="93A1B3"/>
                </a:solidFill>
                <a:effectLst/>
                <a:uFillTx/>
                <a:latin typeface="Calibri"/>
              </a:rPr>
              <a:t>partial / limit   </a:t>
            </a:r>
            <a:r>
              <a:rPr lang="en-US" sz="1000" b="0" u="none" strike="noStrike">
                <a:solidFill>
                  <a:srgbClr val="5AB4F0"/>
                </a:solidFill>
                <a:effectLst/>
                <a:uFillTx/>
                <a:latin typeface="Calibri"/>
              </a:rPr>
              <a:t>● </a:t>
            </a:r>
            <a:r>
              <a:rPr lang="en-US" sz="1000" b="0" u="none" strike="noStrike">
                <a:solidFill>
                  <a:srgbClr val="93A1B3"/>
                </a:solidFill>
                <a:effectLst/>
                <a:uFillTx/>
                <a:latin typeface="Calibri"/>
              </a:rPr>
              <a:t>fact</a:t>
            </a:r>
            <a:endParaRPr lang="en-US" sz="1000" b="0" u="none" strike="noStrike">
              <a:solidFill>
                <a:srgbClr val="FFFFFF"/>
              </a:solidFill>
              <a:effectLst/>
              <a:uFillTx/>
              <a:latin typeface="Arial"/>
            </a:endParaRPr>
          </a:p>
        </p:txBody>
      </p:sp>
      <p:sp>
        <p:nvSpPr>
          <p:cNvPr id="219" name="Live PX4 mission: Gazebo view and our mission app frame"/>
          <p:cNvSpPr/>
          <p:nvPr/>
        </p:nvSpPr>
        <p:spPr>
          <a:xfrm>
            <a:off x="530280" y="1261800"/>
            <a:ext cx="8448840" cy="4808160"/>
          </a:xfrm>
          <a:prstGeom prst="roundRect">
            <a:avLst>
              <a:gd name="adj" fmla="val 1521"/>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220" name="Live PX4 mission: Gazebo view and our mission app" descr="Live PX4 mission: Gazebo view and our mission app"/>
          <p:cNvPicPr/>
          <p:nvPr/>
        </p:nvPicPr>
        <p:blipFill>
          <a:blip r:embed="rId1"/>
          <a:stretch/>
        </p:blipFill>
        <p:spPr>
          <a:xfrm>
            <a:off x="594360" y="1325880"/>
            <a:ext cx="8320680" cy="4680360"/>
          </a:xfrm>
          <a:prstGeom prst="rect">
            <a:avLst/>
          </a:prstGeom>
          <a:noFill/>
          <a:ln w="0">
            <a:noFill/>
          </a:ln>
        </p:spPr>
      </p:pic>
      <p:sp>
        <p:nvSpPr>
          <p:cNvPr id="221" name="caption"/>
          <p:cNvSpPr/>
          <p:nvPr/>
        </p:nvSpPr>
        <p:spPr>
          <a:xfrm>
            <a:off x="548640" y="6116040"/>
            <a:ext cx="841212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i="1" u="none" strike="noStrike">
                <a:solidFill>
                  <a:srgbClr val="93A1B3"/>
                </a:solidFill>
                <a:effectLst/>
                <a:uFillTx/>
                <a:latin typeface="Calibri"/>
              </a:rPr>
              <a:t>Recorded live, sped up (~×3). Left: Gazebo 3D view · right: our mission app. Full video: media/gazebo_mission.mp4</a:t>
            </a:r>
            <a:endParaRPr lang="en-US" sz="1100" b="0" u="none" strike="noStrike">
              <a:solidFill>
                <a:srgbClr val="FFFFFF"/>
              </a:solidFill>
              <a:effectLst/>
              <a:uFillTx/>
              <a:latin typeface="Arial"/>
            </a:endParaRPr>
          </a:p>
        </p:txBody>
      </p:sp>
      <p:sp>
        <p:nvSpPr>
          <p:cNvPr id="222" name="stat card 1.0 s"/>
          <p:cNvSpPr/>
          <p:nvPr/>
        </p:nvSpPr>
        <p:spPr>
          <a:xfrm>
            <a:off x="9189720" y="1325880"/>
            <a:ext cx="2468520" cy="1051200"/>
          </a:xfrm>
          <a:prstGeom prst="roundRect">
            <a:avLst>
              <a:gd name="adj" fmla="val 8696"/>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23" name="stat value 1.0 s"/>
          <p:cNvSpPr/>
          <p:nvPr/>
        </p:nvSpPr>
        <p:spPr>
          <a:xfrm>
            <a:off x="9326880" y="1398960"/>
            <a:ext cx="2194200" cy="57816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400" b="1" u="none" strike="noStrike">
                <a:solidFill>
                  <a:srgbClr val="34C77B"/>
                </a:solidFill>
                <a:effectLst/>
                <a:uFillTx/>
                <a:latin typeface="Calibri"/>
              </a:rPr>
              <a:t>1.0 s</a:t>
            </a:r>
            <a:endParaRPr lang="en-US" sz="2400" b="0" u="none" strike="noStrike">
              <a:solidFill>
                <a:srgbClr val="FFFFFF"/>
              </a:solidFill>
              <a:effectLst/>
              <a:uFillTx/>
              <a:latin typeface="Arial"/>
            </a:endParaRPr>
          </a:p>
        </p:txBody>
      </p:sp>
      <p:sp>
        <p:nvSpPr>
          <p:cNvPr id="224" name="stat label 1.0 s"/>
          <p:cNvSpPr/>
          <p:nvPr/>
        </p:nvSpPr>
        <p:spPr>
          <a:xfrm>
            <a:off x="9326880" y="1995840"/>
            <a:ext cx="219420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our alarm after GPS loss (live)</a:t>
            </a:r>
            <a:endParaRPr lang="en-US" sz="1200" b="0" u="none" strike="noStrike">
              <a:solidFill>
                <a:srgbClr val="FFFFFF"/>
              </a:solidFill>
              <a:effectLst/>
              <a:uFillTx/>
              <a:latin typeface="Arial"/>
            </a:endParaRPr>
          </a:p>
        </p:txBody>
      </p:sp>
      <p:sp>
        <p:nvSpPr>
          <p:cNvPr id="225" name="stat card 1 / 3"/>
          <p:cNvSpPr/>
          <p:nvPr/>
        </p:nvSpPr>
        <p:spPr>
          <a:xfrm>
            <a:off x="9189720" y="2514600"/>
            <a:ext cx="2468520" cy="1051200"/>
          </a:xfrm>
          <a:prstGeom prst="roundRect">
            <a:avLst>
              <a:gd name="adj" fmla="val 8696"/>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26" name="stat value 1 / 3"/>
          <p:cNvSpPr/>
          <p:nvPr/>
        </p:nvSpPr>
        <p:spPr>
          <a:xfrm>
            <a:off x="9326880" y="2587680"/>
            <a:ext cx="2194200" cy="57816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400" b="1" u="none" strike="noStrike">
                <a:solidFill>
                  <a:srgbClr val="F5C451"/>
                </a:solidFill>
                <a:effectLst/>
                <a:uFillTx/>
                <a:latin typeface="Calibri"/>
              </a:rPr>
              <a:t>1 / 3</a:t>
            </a:r>
            <a:endParaRPr lang="en-US" sz="2400" b="0" u="none" strike="noStrike">
              <a:solidFill>
                <a:srgbClr val="FFFFFF"/>
              </a:solidFill>
              <a:effectLst/>
              <a:uFillTx/>
              <a:latin typeface="Arial"/>
            </a:endParaRPr>
          </a:p>
        </p:txBody>
      </p:sp>
      <p:sp>
        <p:nvSpPr>
          <p:cNvPr id="227" name="stat label 1 / 3"/>
          <p:cNvSpPr/>
          <p:nvPr/>
        </p:nvSpPr>
        <p:spPr>
          <a:xfrm>
            <a:off x="9326880" y="3184560"/>
            <a:ext cx="219420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drones ever jammed (the scout)</a:t>
            </a:r>
            <a:endParaRPr lang="en-US" sz="1200" b="0" u="none" strike="noStrike">
              <a:solidFill>
                <a:srgbClr val="FFFFFF"/>
              </a:solidFill>
              <a:effectLst/>
              <a:uFillTx/>
              <a:latin typeface="Arial"/>
            </a:endParaRPr>
          </a:p>
        </p:txBody>
      </p:sp>
      <p:sp>
        <p:nvSpPr>
          <p:cNvPr id="228" name="stat card 3 / 3"/>
          <p:cNvSpPr/>
          <p:nvPr/>
        </p:nvSpPr>
        <p:spPr>
          <a:xfrm>
            <a:off x="9189720" y="3703320"/>
            <a:ext cx="2468520" cy="1051200"/>
          </a:xfrm>
          <a:prstGeom prst="roundRect">
            <a:avLst>
              <a:gd name="adj" fmla="val 8696"/>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29" name="stat value 3 / 3"/>
          <p:cNvSpPr/>
          <p:nvPr/>
        </p:nvSpPr>
        <p:spPr>
          <a:xfrm>
            <a:off x="9326880" y="3776400"/>
            <a:ext cx="2194200" cy="57816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400" b="1" u="none" strike="noStrike">
                <a:solidFill>
                  <a:srgbClr val="34C77B"/>
                </a:solidFill>
                <a:effectLst/>
                <a:uFillTx/>
                <a:latin typeface="Calibri"/>
              </a:rPr>
              <a:t>3 / 3</a:t>
            </a:r>
            <a:endParaRPr lang="en-US" sz="2400" b="0" u="none" strike="noStrike">
              <a:solidFill>
                <a:srgbClr val="FFFFFF"/>
              </a:solidFill>
              <a:effectLst/>
              <a:uFillTx/>
              <a:latin typeface="Arial"/>
            </a:endParaRPr>
          </a:p>
        </p:txBody>
      </p:sp>
      <p:sp>
        <p:nvSpPr>
          <p:cNvPr id="230" name="stat label 3 / 3"/>
          <p:cNvSpPr/>
          <p:nvPr/>
        </p:nvSpPr>
        <p:spPr>
          <a:xfrm>
            <a:off x="9326880" y="4373280"/>
            <a:ext cx="219420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on station at the target</a:t>
            </a:r>
            <a:endParaRPr lang="en-US" sz="1200" b="0" u="none" strike="noStrike">
              <a:solidFill>
                <a:srgbClr val="FFFFFF"/>
              </a:solidFill>
              <a:effectLst/>
              <a:uFillTx/>
              <a:latin typeface="Arial"/>
            </a:endParaRPr>
          </a:p>
        </p:txBody>
      </p:sp>
      <p:sp>
        <p:nvSpPr>
          <p:cNvPr id="231" name="stat card 7"/>
          <p:cNvSpPr/>
          <p:nvPr/>
        </p:nvSpPr>
        <p:spPr>
          <a:xfrm>
            <a:off x="9189720" y="4892040"/>
            <a:ext cx="2468520" cy="1051200"/>
          </a:xfrm>
          <a:prstGeom prst="roundRect">
            <a:avLst>
              <a:gd name="adj" fmla="val 8696"/>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32" name="stat value 7"/>
          <p:cNvSpPr/>
          <p:nvPr/>
        </p:nvSpPr>
        <p:spPr>
          <a:xfrm>
            <a:off x="9326880" y="4965120"/>
            <a:ext cx="2194200" cy="57816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400" b="1" u="none" strike="noStrike">
                <a:solidFill>
                  <a:srgbClr val="5AB4F0"/>
                </a:solidFill>
                <a:effectLst/>
                <a:uFillTx/>
                <a:latin typeface="Calibri"/>
              </a:rPr>
              <a:t>7</a:t>
            </a:r>
            <a:endParaRPr lang="en-US" sz="2400" b="0" u="none" strike="noStrike">
              <a:solidFill>
                <a:srgbClr val="FFFFFF"/>
              </a:solidFill>
              <a:effectLst/>
              <a:uFillTx/>
              <a:latin typeface="Arial"/>
            </a:endParaRPr>
          </a:p>
        </p:txBody>
      </p:sp>
      <p:sp>
        <p:nvSpPr>
          <p:cNvPr id="233" name="stat label 7"/>
          <p:cNvSpPr/>
          <p:nvPr/>
        </p:nvSpPr>
        <p:spPr>
          <a:xfrm>
            <a:off x="9326880" y="5562000"/>
            <a:ext cx="219420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live test runs to get it working</a:t>
            </a:r>
            <a:endParaRPr lang="en-US" sz="1200" b="0" u="none" strike="noStrike">
              <a:solidFill>
                <a:srgbClr val="FFFFFF"/>
              </a:solidFill>
              <a:effectLst/>
              <a:uFillTx/>
              <a:latin typeface="Arial"/>
            </a:endParaRPr>
          </a:p>
        </p:txBody>
      </p:sp>
      <p:sp>
        <p:nvSpPr>
          <p:cNvPr id="234" name="PlaceHolder 2"/>
          <p:cNvSpPr>
            <a:spLocks noGrp="1"/>
          </p:cNvSpPr>
          <p:nvPr>
            <p:ph type="sldNum" idx="12"/>
          </p:nvPr>
        </p:nvSpPr>
        <p:spPr>
          <a:xfrm>
            <a:off x="11247120" y="6446520"/>
            <a:ext cx="41112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93A1B3"/>
                </a:solidFill>
                <a:effectLst/>
                <a:uFillTx/>
                <a:latin typeface="Calibri"/>
              </a:defRPr>
            </a:lvl1pPr>
          </a:lstStyle>
          <a:p>
            <a:pPr indent="0" algn="r" defTabSz="914400">
              <a:lnSpc>
                <a:spcPct val="100000"/>
              </a:lnSpc>
              <a:buNone/>
            </a:pPr>
            <a:fld id="{26308FCB-B230-4363-A419-7FE5EBD21077}" type="slidenum">
              <a:rPr lang="en-US" sz="1000" b="0" u="none" strike="noStrike">
                <a:solidFill>
                  <a:srgbClr val="93A1B3"/>
                </a:solidFill>
                <a:effectLst/>
                <a:uFillTx/>
                <a:latin typeface="Calibri"/>
              </a:rPr>
              <a:t>&lt;number&gt;</a:t>
            </a:fld>
            <a:endParaRPr lang="en-US" sz="10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title" hasCustomPrompt="1"/>
          </p:nvPr>
        </p:nvSpPr>
        <p:spPr>
          <a:xfrm>
            <a:off x="548640" y="347400"/>
            <a:ext cx="9143640" cy="7768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800" b="1" u="none" strike="noStrike">
                <a:solidFill>
                  <a:srgbClr val="FFFFFF"/>
                </a:solidFill>
                <a:effectLst/>
                <a:uFillTx/>
                <a:latin typeface="Arial"/>
              </a:rPr>
              <a:t>We attacked our own system: fake warnings</a:t>
            </a:r>
            <a:endParaRPr lang="en-US" sz="2800" b="0" u="none" strike="noStrike">
              <a:solidFill>
                <a:schemeClr val="dk1"/>
              </a:solidFill>
              <a:effectLst/>
              <a:uFillTx/>
              <a:latin typeface="Calibri"/>
            </a:endParaRPr>
          </a:p>
        </p:txBody>
      </p:sp>
      <p:sp>
        <p:nvSpPr>
          <p:cNvPr id="236" name="criterion tag"/>
          <p:cNvSpPr/>
          <p:nvPr/>
        </p:nvSpPr>
        <p:spPr>
          <a:xfrm>
            <a:off x="9921240" y="502920"/>
            <a:ext cx="1737000" cy="383760"/>
          </a:xfrm>
          <a:prstGeom prst="roundRect">
            <a:avLst>
              <a:gd name="adj" fmla="val 50000"/>
            </a:avLst>
          </a:prstGeom>
          <a:solidFill>
            <a:srgbClr val="1E3246"/>
          </a:solidFill>
          <a:ln w="15875">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37" name="criterion tag text"/>
          <p:cNvSpPr/>
          <p:nvPr/>
        </p:nvSpPr>
        <p:spPr>
          <a:xfrm>
            <a:off x="9921240" y="502920"/>
            <a:ext cx="173700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pc="201" strike="noStrike">
                <a:solidFill>
                  <a:srgbClr val="F26B1D"/>
                </a:solidFill>
                <a:effectLst/>
                <a:uFillTx/>
                <a:latin typeface="Calibri"/>
              </a:rPr>
              <a:t>INNOVATION</a:t>
            </a:r>
            <a:endParaRPr lang="en-US" sz="1100" b="0" u="none" strike="noStrike">
              <a:solidFill>
                <a:srgbClr val="FFFFFF"/>
              </a:solidFill>
              <a:effectLst/>
              <a:uFillTx/>
              <a:latin typeface="Arial"/>
            </a:endParaRPr>
          </a:p>
        </p:txBody>
      </p:sp>
      <p:sp>
        <p:nvSpPr>
          <p:cNvPr id="238" name="colour key"/>
          <p:cNvSpPr/>
          <p:nvPr/>
        </p:nvSpPr>
        <p:spPr>
          <a:xfrm>
            <a:off x="7223760" y="6446520"/>
            <a:ext cx="393156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34C77B"/>
                </a:solidFill>
                <a:effectLst/>
                <a:uFillTx/>
                <a:latin typeface="Calibri"/>
              </a:rPr>
              <a:t>● </a:t>
            </a:r>
            <a:r>
              <a:rPr lang="en-US" sz="1000" b="0" u="none" strike="noStrike">
                <a:solidFill>
                  <a:srgbClr val="93A1B3"/>
                </a:solidFill>
                <a:effectLst/>
                <a:uFillTx/>
                <a:latin typeface="Calibri"/>
              </a:rPr>
              <a:t>our result   </a:t>
            </a:r>
            <a:r>
              <a:rPr lang="en-US" sz="1000" b="0" u="none" strike="noStrike">
                <a:solidFill>
                  <a:srgbClr val="FF5A5F"/>
                </a:solidFill>
                <a:effectLst/>
                <a:uFillTx/>
                <a:latin typeface="Calibri"/>
              </a:rPr>
              <a:t>● </a:t>
            </a:r>
            <a:r>
              <a:rPr lang="en-US" sz="1000" b="0" u="none" strike="noStrike">
                <a:solidFill>
                  <a:srgbClr val="93A1B3"/>
                </a:solidFill>
                <a:effectLst/>
                <a:uFillTx/>
                <a:latin typeface="Calibri"/>
              </a:rPr>
              <a:t>today   </a:t>
            </a:r>
            <a:r>
              <a:rPr lang="en-US" sz="1000" b="0" u="none" strike="noStrike">
                <a:solidFill>
                  <a:srgbClr val="F5C451"/>
                </a:solidFill>
                <a:effectLst/>
                <a:uFillTx/>
                <a:latin typeface="Calibri"/>
              </a:rPr>
              <a:t>● </a:t>
            </a:r>
            <a:r>
              <a:rPr lang="en-US" sz="1000" b="0" u="none" strike="noStrike">
                <a:solidFill>
                  <a:srgbClr val="93A1B3"/>
                </a:solidFill>
                <a:effectLst/>
                <a:uFillTx/>
                <a:latin typeface="Calibri"/>
              </a:rPr>
              <a:t>partial / limit   </a:t>
            </a:r>
            <a:r>
              <a:rPr lang="en-US" sz="1000" b="0" u="none" strike="noStrike">
                <a:solidFill>
                  <a:srgbClr val="5AB4F0"/>
                </a:solidFill>
                <a:effectLst/>
                <a:uFillTx/>
                <a:latin typeface="Calibri"/>
              </a:rPr>
              <a:t>● </a:t>
            </a:r>
            <a:r>
              <a:rPr lang="en-US" sz="1000" b="0" u="none" strike="noStrike">
                <a:solidFill>
                  <a:srgbClr val="93A1B3"/>
                </a:solidFill>
                <a:effectLst/>
                <a:uFillTx/>
                <a:latin typeface="Calibri"/>
              </a:rPr>
              <a:t>fact</a:t>
            </a:r>
            <a:endParaRPr lang="en-US" sz="1000" b="0" u="none" strike="noStrike">
              <a:solidFill>
                <a:srgbClr val="FFFFFF"/>
              </a:solidFill>
              <a:effectLst/>
              <a:uFillTx/>
              <a:latin typeface="Arial"/>
            </a:endParaRPr>
          </a:p>
        </p:txBody>
      </p:sp>
      <p:sp>
        <p:nvSpPr>
          <p:cNvPr id="239" name="Fake-report attack and defence frame"/>
          <p:cNvSpPr/>
          <p:nvPr/>
        </p:nvSpPr>
        <p:spPr>
          <a:xfrm>
            <a:off x="530280" y="1353240"/>
            <a:ext cx="8128800" cy="2946960"/>
          </a:xfrm>
          <a:prstGeom prst="roundRect">
            <a:avLst>
              <a:gd name="adj" fmla="val 2482"/>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240" name="Fake-report attack and defence" descr="Fake-report attack and defence"/>
          <p:cNvPicPr/>
          <p:nvPr/>
        </p:nvPicPr>
        <p:blipFill>
          <a:blip r:embed="rId1"/>
          <a:stretch/>
        </p:blipFill>
        <p:spPr>
          <a:xfrm>
            <a:off x="594360" y="1417320"/>
            <a:ext cx="8000640" cy="2819160"/>
          </a:xfrm>
          <a:prstGeom prst="rect">
            <a:avLst/>
          </a:prstGeom>
          <a:noFill/>
          <a:ln w="0">
            <a:noFill/>
          </a:ln>
        </p:spPr>
      </p:pic>
      <p:sp>
        <p:nvSpPr>
          <p:cNvPr id="241" name="Text 5"/>
          <p:cNvSpPr/>
          <p:nvPr/>
        </p:nvSpPr>
        <p:spPr>
          <a:xfrm>
            <a:off x="548640" y="4556880"/>
            <a:ext cx="804636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00" b="1" i="1" u="none" strike="noStrike">
                <a:solidFill>
                  <a:srgbClr val="F26B1D"/>
                </a:solidFill>
                <a:effectLst/>
                <a:uFillTx/>
                <a:latin typeface="Calibri"/>
              </a:rPr>
              <a:t>“A warning is cheap to believe.</a:t>
            </a:r>
            <a:endParaRPr lang="en-US" sz="2200" b="0" u="none" strike="noStrike">
              <a:solidFill>
                <a:srgbClr val="FFFFFF"/>
              </a:solidFill>
              <a:effectLst/>
              <a:uFillTx/>
              <a:latin typeface="Arial"/>
            </a:endParaRPr>
          </a:p>
          <a:p>
            <a:pPr defTabSz="914400">
              <a:lnSpc>
                <a:spcPct val="100000"/>
              </a:lnSpc>
              <a:tabLst>
                <a:tab pos="0" algn="l"/>
              </a:tabLst>
            </a:pPr>
            <a:r>
              <a:rPr lang="en-US" sz="2200" b="1" i="1" u="none" strike="noStrike">
                <a:solidFill>
                  <a:srgbClr val="F26B1D"/>
                </a:solidFill>
                <a:effectLst/>
                <a:uFillTx/>
                <a:latin typeface="Calibri"/>
              </a:rPr>
              <a:t>An all-clear must be proven.”</a:t>
            </a:r>
            <a:endParaRPr lang="en-US" sz="2200" b="0" u="none" strike="noStrike">
              <a:solidFill>
                <a:srgbClr val="FFFFFF"/>
              </a:solidFill>
              <a:effectLst/>
              <a:uFillTx/>
              <a:latin typeface="Arial"/>
            </a:endParaRPr>
          </a:p>
        </p:txBody>
      </p:sp>
      <p:sp>
        <p:nvSpPr>
          <p:cNvPr id="242" name="Text 6"/>
          <p:cNvSpPr/>
          <p:nvPr/>
        </p:nvSpPr>
        <p:spPr>
          <a:xfrm>
            <a:off x="548640" y="5517000"/>
            <a:ext cx="804636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E8EDF2"/>
                </a:solidFill>
                <a:effectLst/>
                <a:uFillTx/>
                <a:latin typeface="Calibri"/>
              </a:rPr>
              <a:t>Share measurements, never commands · check every report against physics and real GPS-loss evidence</a:t>
            </a:r>
            <a:endParaRPr lang="en-US" sz="1300" b="0" u="none" strike="noStrike">
              <a:solidFill>
                <a:srgbClr val="FFFFFF"/>
              </a:solidFill>
              <a:effectLst/>
              <a:uFillTx/>
              <a:latin typeface="Arial"/>
            </a:endParaRPr>
          </a:p>
        </p:txBody>
      </p:sp>
      <p:sp>
        <p:nvSpPr>
          <p:cNvPr id="243" name="stat card 9 → 1"/>
          <p:cNvSpPr/>
          <p:nvPr/>
        </p:nvSpPr>
        <p:spPr>
          <a:xfrm>
            <a:off x="9006840" y="1417320"/>
            <a:ext cx="2651400" cy="1142640"/>
          </a:xfrm>
          <a:prstGeom prst="roundRect">
            <a:avLst>
              <a:gd name="adj" fmla="val 8000"/>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44" name="stat value 9 → 1"/>
          <p:cNvSpPr/>
          <p:nvPr/>
        </p:nvSpPr>
        <p:spPr>
          <a:xfrm>
            <a:off x="9144000" y="1490400"/>
            <a:ext cx="2377080" cy="62820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800" b="1" u="none" strike="noStrike">
                <a:solidFill>
                  <a:srgbClr val="34C77B"/>
                </a:solidFill>
                <a:effectLst/>
                <a:uFillTx/>
                <a:latin typeface="Calibri"/>
              </a:rPr>
              <a:t>9 → 1</a:t>
            </a:r>
            <a:endParaRPr lang="en-US" sz="2800" b="0" u="none" strike="noStrike">
              <a:solidFill>
                <a:srgbClr val="FFFFFF"/>
              </a:solidFill>
              <a:effectLst/>
              <a:uFillTx/>
              <a:latin typeface="Arial"/>
            </a:endParaRPr>
          </a:p>
        </p:txBody>
      </p:sp>
      <p:sp>
        <p:nvSpPr>
          <p:cNvPr id="245" name="stat label 9 → 1"/>
          <p:cNvSpPr/>
          <p:nvPr/>
        </p:nvSpPr>
        <p:spPr>
          <a:xfrm>
            <a:off x="9144000" y="2137320"/>
            <a:ext cx="237708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drones lured into the jammer: no defence vs ours (6 runs)</a:t>
            </a:r>
            <a:endParaRPr lang="en-US" sz="1200" b="0" u="none" strike="noStrike">
              <a:solidFill>
                <a:srgbClr val="FFFFFF"/>
              </a:solidFill>
              <a:effectLst/>
              <a:uFillTx/>
              <a:latin typeface="Arial"/>
            </a:endParaRPr>
          </a:p>
        </p:txBody>
      </p:sp>
      <p:sp>
        <p:nvSpPr>
          <p:cNvPr id="246" name="stat card 6 / 6"/>
          <p:cNvSpPr/>
          <p:nvPr/>
        </p:nvSpPr>
        <p:spPr>
          <a:xfrm>
            <a:off x="9006840" y="2743200"/>
            <a:ext cx="2651400" cy="1142640"/>
          </a:xfrm>
          <a:prstGeom prst="roundRect">
            <a:avLst>
              <a:gd name="adj" fmla="val 8000"/>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47" name="stat value 6 / 6"/>
          <p:cNvSpPr/>
          <p:nvPr/>
        </p:nvSpPr>
        <p:spPr>
          <a:xfrm>
            <a:off x="9144000" y="2816280"/>
            <a:ext cx="2377080" cy="62820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800" b="1" u="none" strike="noStrike">
                <a:solidFill>
                  <a:srgbClr val="34C77B"/>
                </a:solidFill>
                <a:effectLst/>
                <a:uFillTx/>
                <a:latin typeface="Calibri"/>
              </a:rPr>
              <a:t>6 / 6</a:t>
            </a:r>
            <a:endParaRPr lang="en-US" sz="2800" b="0" u="none" strike="noStrike">
              <a:solidFill>
                <a:srgbClr val="FFFFFF"/>
              </a:solidFill>
              <a:effectLst/>
              <a:uFillTx/>
              <a:latin typeface="Arial"/>
            </a:endParaRPr>
          </a:p>
        </p:txBody>
      </p:sp>
      <p:sp>
        <p:nvSpPr>
          <p:cNvPr id="248" name="stat label 6 / 6"/>
          <p:cNvSpPr/>
          <p:nvPr/>
        </p:nvSpPr>
        <p:spPr>
          <a:xfrm>
            <a:off x="9144000" y="3463200"/>
            <a:ext cx="237708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times the liar was caught</a:t>
            </a:r>
            <a:endParaRPr lang="en-US" sz="1200" b="0" u="none" strike="noStrike">
              <a:solidFill>
                <a:srgbClr val="FFFFFF"/>
              </a:solidFill>
              <a:effectLst/>
              <a:uFillTx/>
              <a:latin typeface="Arial"/>
            </a:endParaRPr>
          </a:p>
        </p:txBody>
      </p:sp>
      <p:sp>
        <p:nvSpPr>
          <p:cNvPr id="249" name="stat card 0"/>
          <p:cNvSpPr/>
          <p:nvPr/>
        </p:nvSpPr>
        <p:spPr>
          <a:xfrm>
            <a:off x="9006840" y="4069080"/>
            <a:ext cx="2651400" cy="1142640"/>
          </a:xfrm>
          <a:prstGeom prst="roundRect">
            <a:avLst>
              <a:gd name="adj" fmla="val 8000"/>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50" name="stat value 0"/>
          <p:cNvSpPr/>
          <p:nvPr/>
        </p:nvSpPr>
        <p:spPr>
          <a:xfrm>
            <a:off x="9144000" y="4142160"/>
            <a:ext cx="2377080" cy="62820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800" b="1" u="none" strike="noStrike">
                <a:solidFill>
                  <a:srgbClr val="34C77B"/>
                </a:solidFill>
                <a:effectLst/>
                <a:uFillTx/>
                <a:latin typeface="Calibri"/>
              </a:rPr>
              <a:t>0</a:t>
            </a:r>
            <a:endParaRPr lang="en-US" sz="2800" b="0" u="none" strike="noStrike">
              <a:solidFill>
                <a:srgbClr val="FFFFFF"/>
              </a:solidFill>
              <a:effectLst/>
              <a:uFillTx/>
              <a:latin typeface="Arial"/>
            </a:endParaRPr>
          </a:p>
        </p:txBody>
      </p:sp>
      <p:sp>
        <p:nvSpPr>
          <p:cNvPr id="251" name="stat label 0"/>
          <p:cNvSpPr/>
          <p:nvPr/>
        </p:nvSpPr>
        <p:spPr>
          <a:xfrm>
            <a:off x="9144000" y="4789080"/>
            <a:ext cx="237708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honest drones wrongly rejected</a:t>
            </a:r>
            <a:endParaRPr lang="en-US" sz="1200" b="0" u="none" strike="noStrike">
              <a:solidFill>
                <a:srgbClr val="FFFFFF"/>
              </a:solidFill>
              <a:effectLst/>
              <a:uFillTx/>
              <a:latin typeface="Arial"/>
            </a:endParaRPr>
          </a:p>
        </p:txBody>
      </p:sp>
      <p:sp>
        <p:nvSpPr>
          <p:cNvPr id="252" name="PlaceHolder 2"/>
          <p:cNvSpPr>
            <a:spLocks noGrp="1"/>
          </p:cNvSpPr>
          <p:nvPr>
            <p:ph type="sldNum" idx="13"/>
          </p:nvPr>
        </p:nvSpPr>
        <p:spPr>
          <a:xfrm>
            <a:off x="11247120" y="6446520"/>
            <a:ext cx="41112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93A1B3"/>
                </a:solidFill>
                <a:effectLst/>
                <a:uFillTx/>
                <a:latin typeface="Calibri"/>
              </a:defRPr>
            </a:lvl1pPr>
          </a:lstStyle>
          <a:p>
            <a:pPr indent="0" algn="r" defTabSz="914400">
              <a:lnSpc>
                <a:spcPct val="100000"/>
              </a:lnSpc>
              <a:buNone/>
            </a:pPr>
            <a:fld id="{1D6E2DC8-A672-4C61-B09F-A94FBC59AB77}" type="slidenum">
              <a:rPr lang="en-US" sz="1000" b="0" u="none" strike="noStrike">
                <a:solidFill>
                  <a:srgbClr val="93A1B3"/>
                </a:solidFill>
                <a:effectLst/>
                <a:uFillTx/>
                <a:latin typeface="Calibri"/>
              </a:rPr>
              <a:t>&lt;number&gt;</a:t>
            </a:fld>
            <a:endParaRPr lang="en-US" sz="10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title" hasCustomPrompt="1"/>
          </p:nvPr>
        </p:nvSpPr>
        <p:spPr>
          <a:xfrm>
            <a:off x="548640" y="347400"/>
            <a:ext cx="9143640" cy="7768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800" b="1" u="none" strike="noStrike">
                <a:solidFill>
                  <a:srgbClr val="FFFFFF"/>
                </a:solidFill>
                <a:effectLst/>
                <a:uFillTx/>
                <a:latin typeface="Arial"/>
              </a:rPr>
              <a:t>48 hours of progress — and what's next</a:t>
            </a:r>
            <a:endParaRPr lang="en-US" sz="2800" b="0" u="none" strike="noStrike">
              <a:solidFill>
                <a:schemeClr val="dk1"/>
              </a:solidFill>
              <a:effectLst/>
              <a:uFillTx/>
              <a:latin typeface="Calibri"/>
            </a:endParaRPr>
          </a:p>
        </p:txBody>
      </p:sp>
      <p:sp>
        <p:nvSpPr>
          <p:cNvPr id="254" name="criterion tag"/>
          <p:cNvSpPr/>
          <p:nvPr/>
        </p:nvSpPr>
        <p:spPr>
          <a:xfrm>
            <a:off x="9921240" y="502920"/>
            <a:ext cx="1737000" cy="383760"/>
          </a:xfrm>
          <a:prstGeom prst="roundRect">
            <a:avLst>
              <a:gd name="adj" fmla="val 50000"/>
            </a:avLst>
          </a:prstGeom>
          <a:solidFill>
            <a:srgbClr val="1E3246"/>
          </a:solidFill>
          <a:ln w="15875">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55" name="criterion tag text"/>
          <p:cNvSpPr/>
          <p:nvPr/>
        </p:nvSpPr>
        <p:spPr>
          <a:xfrm>
            <a:off x="9921240" y="502920"/>
            <a:ext cx="173700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pc="201" strike="noStrike">
                <a:solidFill>
                  <a:srgbClr val="F26B1D"/>
                </a:solidFill>
                <a:effectLst/>
                <a:uFillTx/>
                <a:latin typeface="Calibri"/>
              </a:rPr>
              <a:t>PROGRESS</a:t>
            </a:r>
            <a:endParaRPr lang="en-US" sz="1100" b="0" u="none" strike="noStrike">
              <a:solidFill>
                <a:srgbClr val="FFFFFF"/>
              </a:solidFill>
              <a:effectLst/>
              <a:uFillTx/>
              <a:latin typeface="Arial"/>
            </a:endParaRPr>
          </a:p>
        </p:txBody>
      </p:sp>
      <p:sp>
        <p:nvSpPr>
          <p:cNvPr id="256" name="colour key"/>
          <p:cNvSpPr/>
          <p:nvPr/>
        </p:nvSpPr>
        <p:spPr>
          <a:xfrm>
            <a:off x="7223760" y="6446520"/>
            <a:ext cx="393156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34C77B"/>
                </a:solidFill>
                <a:effectLst/>
                <a:uFillTx/>
                <a:latin typeface="Calibri"/>
              </a:rPr>
              <a:t>● </a:t>
            </a:r>
            <a:r>
              <a:rPr lang="en-US" sz="1000" b="0" u="none" strike="noStrike">
                <a:solidFill>
                  <a:srgbClr val="93A1B3"/>
                </a:solidFill>
                <a:effectLst/>
                <a:uFillTx/>
                <a:latin typeface="Calibri"/>
              </a:rPr>
              <a:t>our result   </a:t>
            </a:r>
            <a:r>
              <a:rPr lang="en-US" sz="1000" b="0" u="none" strike="noStrike">
                <a:solidFill>
                  <a:srgbClr val="FF5A5F"/>
                </a:solidFill>
                <a:effectLst/>
                <a:uFillTx/>
                <a:latin typeface="Calibri"/>
              </a:rPr>
              <a:t>● </a:t>
            </a:r>
            <a:r>
              <a:rPr lang="en-US" sz="1000" b="0" u="none" strike="noStrike">
                <a:solidFill>
                  <a:srgbClr val="93A1B3"/>
                </a:solidFill>
                <a:effectLst/>
                <a:uFillTx/>
                <a:latin typeface="Calibri"/>
              </a:rPr>
              <a:t>today   </a:t>
            </a:r>
            <a:r>
              <a:rPr lang="en-US" sz="1000" b="0" u="none" strike="noStrike">
                <a:solidFill>
                  <a:srgbClr val="F5C451"/>
                </a:solidFill>
                <a:effectLst/>
                <a:uFillTx/>
                <a:latin typeface="Calibri"/>
              </a:rPr>
              <a:t>● </a:t>
            </a:r>
            <a:r>
              <a:rPr lang="en-US" sz="1000" b="0" u="none" strike="noStrike">
                <a:solidFill>
                  <a:srgbClr val="93A1B3"/>
                </a:solidFill>
                <a:effectLst/>
                <a:uFillTx/>
                <a:latin typeface="Calibri"/>
              </a:rPr>
              <a:t>partial / limit   </a:t>
            </a:r>
            <a:r>
              <a:rPr lang="en-US" sz="1000" b="0" u="none" strike="noStrike">
                <a:solidFill>
                  <a:srgbClr val="5AB4F0"/>
                </a:solidFill>
                <a:effectLst/>
                <a:uFillTx/>
                <a:latin typeface="Calibri"/>
              </a:rPr>
              <a:t>● </a:t>
            </a:r>
            <a:r>
              <a:rPr lang="en-US" sz="1000" b="0" u="none" strike="noStrike">
                <a:solidFill>
                  <a:srgbClr val="93A1B3"/>
                </a:solidFill>
                <a:effectLst/>
                <a:uFillTx/>
                <a:latin typeface="Calibri"/>
              </a:rPr>
              <a:t>fact</a:t>
            </a:r>
            <a:endParaRPr lang="en-US" sz="1000" b="0" u="none" strike="noStrike">
              <a:solidFill>
                <a:srgbClr val="FFFFFF"/>
              </a:solidFill>
              <a:effectLst/>
              <a:uFillTx/>
              <a:latin typeface="Arial"/>
            </a:endParaRPr>
          </a:p>
        </p:txBody>
      </p:sp>
      <p:sp>
        <p:nvSpPr>
          <p:cNvPr id="257" name="stat card 4"/>
          <p:cNvSpPr/>
          <p:nvPr/>
        </p:nvSpPr>
        <p:spPr>
          <a:xfrm>
            <a:off x="548640" y="1371600"/>
            <a:ext cx="1737000" cy="959760"/>
          </a:xfrm>
          <a:prstGeom prst="roundRect">
            <a:avLst>
              <a:gd name="adj" fmla="val 9524"/>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58" name="stat value 4"/>
          <p:cNvSpPr/>
          <p:nvPr/>
        </p:nvSpPr>
        <p:spPr>
          <a:xfrm>
            <a:off x="685800" y="1444680"/>
            <a:ext cx="1462680" cy="52776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600" b="1" u="none" strike="noStrike">
                <a:solidFill>
                  <a:srgbClr val="5AB4F0"/>
                </a:solidFill>
                <a:effectLst/>
                <a:uFillTx/>
                <a:latin typeface="Calibri"/>
              </a:rPr>
              <a:t>4</a:t>
            </a:r>
            <a:endParaRPr lang="en-US" sz="2600" b="0" u="none" strike="noStrike">
              <a:solidFill>
                <a:srgbClr val="FFFFFF"/>
              </a:solidFill>
              <a:effectLst/>
              <a:uFillTx/>
              <a:latin typeface="Arial"/>
            </a:endParaRPr>
          </a:p>
        </p:txBody>
      </p:sp>
      <p:sp>
        <p:nvSpPr>
          <p:cNvPr id="259" name="stat label 4"/>
          <p:cNvSpPr/>
          <p:nvPr/>
        </p:nvSpPr>
        <p:spPr>
          <a:xfrm>
            <a:off x="685800" y="1991160"/>
            <a:ext cx="146268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expert inputs</a:t>
            </a:r>
            <a:endParaRPr lang="en-US" sz="1200" b="0" u="none" strike="noStrike">
              <a:solidFill>
                <a:srgbClr val="FFFFFF"/>
              </a:solidFill>
              <a:effectLst/>
              <a:uFillTx/>
              <a:latin typeface="Arial"/>
            </a:endParaRPr>
          </a:p>
        </p:txBody>
      </p:sp>
      <p:sp>
        <p:nvSpPr>
          <p:cNvPr id="260" name="stat card 17"/>
          <p:cNvSpPr/>
          <p:nvPr/>
        </p:nvSpPr>
        <p:spPr>
          <a:xfrm>
            <a:off x="2423160" y="1371600"/>
            <a:ext cx="1737000" cy="959760"/>
          </a:xfrm>
          <a:prstGeom prst="roundRect">
            <a:avLst>
              <a:gd name="adj" fmla="val 9524"/>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61" name="stat value 17"/>
          <p:cNvSpPr/>
          <p:nvPr/>
        </p:nvSpPr>
        <p:spPr>
          <a:xfrm>
            <a:off x="2560320" y="1444680"/>
            <a:ext cx="1462680" cy="52776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600" b="1" u="none" strike="noStrike">
                <a:solidFill>
                  <a:srgbClr val="5AB4F0"/>
                </a:solidFill>
                <a:effectLst/>
                <a:uFillTx/>
                <a:latin typeface="Calibri"/>
              </a:rPr>
              <a:t>17</a:t>
            </a:r>
            <a:endParaRPr lang="en-US" sz="2600" b="0" u="none" strike="noStrike">
              <a:solidFill>
                <a:srgbClr val="FFFFFF"/>
              </a:solidFill>
              <a:effectLst/>
              <a:uFillTx/>
              <a:latin typeface="Arial"/>
            </a:endParaRPr>
          </a:p>
        </p:txBody>
      </p:sp>
      <p:sp>
        <p:nvSpPr>
          <p:cNvPr id="262" name="stat label 17"/>
          <p:cNvSpPr/>
          <p:nvPr/>
        </p:nvSpPr>
        <p:spPr>
          <a:xfrm>
            <a:off x="2560320" y="1991160"/>
            <a:ext cx="146268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logged iterations</a:t>
            </a:r>
            <a:endParaRPr lang="en-US" sz="1200" b="0" u="none" strike="noStrike">
              <a:solidFill>
                <a:srgbClr val="FFFFFF"/>
              </a:solidFill>
              <a:effectLst/>
              <a:uFillTx/>
              <a:latin typeface="Arial"/>
            </a:endParaRPr>
          </a:p>
        </p:txBody>
      </p:sp>
      <p:sp>
        <p:nvSpPr>
          <p:cNvPr id="263" name="stat card 31"/>
          <p:cNvSpPr/>
          <p:nvPr/>
        </p:nvSpPr>
        <p:spPr>
          <a:xfrm>
            <a:off x="4297680" y="1371600"/>
            <a:ext cx="1737000" cy="959760"/>
          </a:xfrm>
          <a:prstGeom prst="roundRect">
            <a:avLst>
              <a:gd name="adj" fmla="val 9524"/>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64" name="stat value 31"/>
          <p:cNvSpPr/>
          <p:nvPr/>
        </p:nvSpPr>
        <p:spPr>
          <a:xfrm>
            <a:off x="4434840" y="1444680"/>
            <a:ext cx="1462680" cy="527760"/>
          </a:xfrm>
          <a:prstGeom prst="rect">
            <a:avLst/>
          </a:prstGeom>
          <a:noFill/>
          <a:ln w="0">
            <a:noFill/>
          </a:ln>
        </p:spPr>
        <p:style>
          <a:lnRef idx="0"/>
          <a:fillRef idx="0"/>
          <a:effectRef idx="0"/>
          <a:fontRef idx="minor"/>
        </p:style>
        <p:txBody>
          <a:bodyPr lIns="0" tIns="0" rIns="0" bIns="0" anchor="b">
            <a:normAutofit/>
          </a:bodyPr>
          <a:p>
            <a:pPr defTabSz="914400">
              <a:lnSpc>
                <a:spcPct val="100000"/>
              </a:lnSpc>
              <a:tabLst>
                <a:tab pos="0" algn="l"/>
              </a:tabLst>
            </a:pPr>
            <a:r>
              <a:rPr lang="en-US" sz="2600" b="1" u="none" strike="noStrike">
                <a:solidFill>
                  <a:srgbClr val="5AB4F0"/>
                </a:solidFill>
                <a:effectLst/>
                <a:uFillTx/>
                <a:latin typeface="Calibri"/>
              </a:rPr>
              <a:t>31</a:t>
            </a:r>
            <a:endParaRPr lang="en-US" sz="2600" b="0" u="none" strike="noStrike">
              <a:solidFill>
                <a:srgbClr val="FFFFFF"/>
              </a:solidFill>
              <a:effectLst/>
              <a:uFillTx/>
              <a:latin typeface="Arial"/>
            </a:endParaRPr>
          </a:p>
        </p:txBody>
      </p:sp>
      <p:sp>
        <p:nvSpPr>
          <p:cNvPr id="265" name="stat label 31"/>
          <p:cNvSpPr/>
          <p:nvPr/>
        </p:nvSpPr>
        <p:spPr>
          <a:xfrm>
            <a:off x="4434840" y="1991160"/>
            <a:ext cx="146268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E8EDF2"/>
                </a:solidFill>
                <a:effectLst/>
                <a:uFillTx/>
                <a:latin typeface="Calibri"/>
              </a:rPr>
              <a:t>commits on GitHub</a:t>
            </a:r>
            <a:endParaRPr lang="en-US" sz="1200" b="0" u="none" strike="noStrike">
              <a:solidFill>
                <a:srgbClr val="FFFFFF"/>
              </a:solidFill>
              <a:effectLst/>
              <a:uFillTx/>
              <a:latin typeface="Arial"/>
            </a:endParaRPr>
          </a:p>
        </p:txBody>
      </p:sp>
      <p:sp>
        <p:nvSpPr>
          <p:cNvPr id="266" name="Text 13"/>
          <p:cNvSpPr/>
          <p:nvPr/>
        </p:nvSpPr>
        <p:spPr>
          <a:xfrm>
            <a:off x="548640" y="2514600"/>
            <a:ext cx="54860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01" strike="noStrike">
                <a:solidFill>
                  <a:srgbClr val="F26B1D"/>
                </a:solidFill>
                <a:effectLst/>
                <a:uFillTx/>
                <a:latin typeface="Calibri"/>
              </a:rPr>
              <a:t>WHY IT GETS ADOPTED</a:t>
            </a:r>
            <a:endParaRPr lang="en-US" sz="1400" b="0" u="none" strike="noStrike">
              <a:solidFill>
                <a:srgbClr val="FFFFFF"/>
              </a:solidFill>
              <a:effectLst/>
              <a:uFillTx/>
              <a:latin typeface="Arial"/>
            </a:endParaRPr>
          </a:p>
        </p:txBody>
      </p:sp>
      <p:sp>
        <p:nvSpPr>
          <p:cNvPr id="267" name="Text 14"/>
          <p:cNvSpPr/>
          <p:nvPr/>
        </p:nvSpPr>
        <p:spPr>
          <a:xfrm>
            <a:off x="548640" y="2926080"/>
            <a:ext cx="5486040" cy="191988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601"/>
              </a:spcAft>
              <a:tabLst>
                <a:tab pos="0" algn="l"/>
              </a:tabLst>
            </a:pPr>
            <a:r>
              <a:rPr lang="en-US" sz="1400" b="1" u="none" strike="noStrike">
                <a:solidFill>
                  <a:srgbClr val="FFFFFF"/>
                </a:solidFill>
                <a:effectLst/>
                <a:uFillTx/>
                <a:latin typeface="Calibri"/>
              </a:rPr>
              <a:t>Software only: </a:t>
            </a:r>
            <a:r>
              <a:rPr lang="en-US" sz="1400" b="0" u="none" strike="noStrike">
                <a:solidFill>
                  <a:srgbClr val="E8EDF2"/>
                </a:solidFill>
                <a:effectLst/>
                <a:uFillTx/>
                <a:latin typeface="Calibri"/>
              </a:rPr>
              <a:t>runs on drones that already fly PX4 — no new hardware to buy</a:t>
            </a:r>
            <a:endParaRPr lang="en-US" sz="1400" b="0" u="none" strike="noStrike">
              <a:solidFill>
                <a:srgbClr val="FFFFFF"/>
              </a:solidFill>
              <a:effectLst/>
              <a:uFillTx/>
              <a:latin typeface="Arial"/>
            </a:endParaRPr>
          </a:p>
          <a:p>
            <a:pPr defTabSz="914400">
              <a:lnSpc>
                <a:spcPct val="100000"/>
              </a:lnSpc>
              <a:spcAft>
                <a:spcPts val="601"/>
              </a:spcAft>
              <a:tabLst>
                <a:tab pos="0" algn="l"/>
              </a:tabLst>
            </a:pPr>
            <a:r>
              <a:rPr lang="en-US" sz="1400" b="1" u="none" strike="noStrike">
                <a:solidFill>
                  <a:srgbClr val="FFFFFF"/>
                </a:solidFill>
                <a:effectLst/>
                <a:uFillTx/>
                <a:latin typeface="Calibri"/>
              </a:rPr>
              <a:t>Users: </a:t>
            </a:r>
            <a:r>
              <a:rPr lang="en-US" sz="1400" b="0" u="none" strike="noStrike">
                <a:solidFill>
                  <a:srgbClr val="E8EDF2"/>
                </a:solidFill>
                <a:effectLst/>
                <a:uFillTx/>
                <a:latin typeface="Calibri"/>
              </a:rPr>
              <a:t>armed forces and drone makers building on PX4; procurement via FMV</a:t>
            </a:r>
            <a:endParaRPr lang="en-US" sz="1400" b="0" u="none" strike="noStrike">
              <a:solidFill>
                <a:srgbClr val="FFFFFF"/>
              </a:solidFill>
              <a:effectLst/>
              <a:uFillTx/>
              <a:latin typeface="Arial"/>
            </a:endParaRPr>
          </a:p>
          <a:p>
            <a:pPr defTabSz="914400">
              <a:lnSpc>
                <a:spcPct val="100000"/>
              </a:lnSpc>
              <a:spcAft>
                <a:spcPts val="601"/>
              </a:spcAft>
              <a:tabLst>
                <a:tab pos="0" algn="l"/>
              </a:tabLst>
            </a:pPr>
            <a:r>
              <a:rPr lang="en-US" sz="1400" b="1" u="none" strike="noStrike">
                <a:solidFill>
                  <a:srgbClr val="FFFFFF"/>
                </a:solidFill>
                <a:effectLst/>
                <a:uFillTx/>
                <a:latin typeface="Calibri"/>
              </a:rPr>
              <a:t>Dual use: </a:t>
            </a:r>
            <a:r>
              <a:rPr lang="en-US" sz="1400" b="0" u="none" strike="noStrike">
                <a:solidFill>
                  <a:srgbClr val="E8EDF2"/>
                </a:solidFill>
                <a:effectLst/>
                <a:uFillTx/>
                <a:latin typeface="Calibri"/>
              </a:rPr>
              <a:t>civil drones and aviation in the jammed Baltic</a:t>
            </a:r>
            <a:endParaRPr lang="en-US" sz="1400" b="0" u="none" strike="noStrike">
              <a:solidFill>
                <a:srgbClr val="FFFFFF"/>
              </a:solidFill>
              <a:effectLst/>
              <a:uFillTx/>
              <a:latin typeface="Arial"/>
            </a:endParaRPr>
          </a:p>
          <a:p>
            <a:pPr defTabSz="914400">
              <a:lnSpc>
                <a:spcPct val="100000"/>
              </a:lnSpc>
              <a:spcAft>
                <a:spcPts val="601"/>
              </a:spcAft>
              <a:tabLst>
                <a:tab pos="0" algn="l"/>
              </a:tabLst>
            </a:pPr>
            <a:r>
              <a:rPr lang="en-US" sz="1400" b="1" u="none" strike="noStrike">
                <a:solidFill>
                  <a:srgbClr val="FFFFFF"/>
                </a:solidFill>
                <a:effectLst/>
                <a:uFillTx/>
                <a:latin typeface="Calibri"/>
              </a:rPr>
              <a:t>Path: </a:t>
            </a:r>
            <a:r>
              <a:rPr lang="en-US" sz="1400" b="0" u="none" strike="noStrike">
                <a:solidFill>
                  <a:srgbClr val="E8EDF2"/>
                </a:solidFill>
                <a:effectLst/>
                <a:uFillTx/>
                <a:latin typeface="Calibri"/>
              </a:rPr>
              <a:t>simulation → Terra lab → field test → PX4 plug-in</a:t>
            </a:r>
            <a:endParaRPr lang="en-US" sz="1400" b="0" u="none" strike="noStrike">
              <a:solidFill>
                <a:srgbClr val="FFFFFF"/>
              </a:solidFill>
              <a:effectLst/>
              <a:uFillTx/>
              <a:latin typeface="Arial"/>
            </a:endParaRPr>
          </a:p>
        </p:txBody>
      </p:sp>
      <p:sp>
        <p:nvSpPr>
          <p:cNvPr id="268" name="honest limits card"/>
          <p:cNvSpPr/>
          <p:nvPr/>
        </p:nvSpPr>
        <p:spPr>
          <a:xfrm>
            <a:off x="548640" y="4983480"/>
            <a:ext cx="5486040" cy="1051200"/>
          </a:xfrm>
          <a:prstGeom prst="roundRect">
            <a:avLst>
              <a:gd name="adj" fmla="val 8696"/>
            </a:avLst>
          </a:prstGeom>
          <a:solidFill>
            <a:srgbClr val="1E3246"/>
          </a:solidFill>
          <a:ln w="9525">
            <a:solidFill>
              <a:srgbClr val="93A1B3"/>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69" name="Text 16"/>
          <p:cNvSpPr/>
          <p:nvPr/>
        </p:nvSpPr>
        <p:spPr>
          <a:xfrm>
            <a:off x="731520" y="5074920"/>
            <a:ext cx="512028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rgbClr val="F5C451"/>
                </a:solidFill>
                <a:effectLst/>
                <a:uFillTx/>
                <a:latin typeface="Calibri"/>
              </a:rPr>
              <a:t>Honest limits</a:t>
            </a:r>
            <a:endParaRPr lang="en-US" sz="13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E8EDF2"/>
                </a:solidFill>
                <a:effectLst/>
                <a:uFillTx/>
                <a:latin typeface="Calibri"/>
              </a:rPr>
              <a:t>Simulation so far (navigation re-tested on real Bråviken terrain) · jammer model is free-space · the swarm assumes its radio link survives · very slow spoofs (&lt; 0.1 m/s) are not caught</a:t>
            </a:r>
            <a:endParaRPr lang="en-US" sz="1300" b="0" u="none" strike="noStrike">
              <a:solidFill>
                <a:srgbClr val="FFFFFF"/>
              </a:solidFill>
              <a:effectLst/>
              <a:uFillTx/>
              <a:latin typeface="Arial"/>
            </a:endParaRPr>
          </a:p>
        </p:txBody>
      </p:sp>
      <p:sp>
        <p:nvSpPr>
          <p:cNvPr id="270" name="Text 17"/>
          <p:cNvSpPr/>
          <p:nvPr/>
        </p:nvSpPr>
        <p:spPr>
          <a:xfrm>
            <a:off x="6400800" y="1371600"/>
            <a:ext cx="52117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01" strike="noStrike">
                <a:solidFill>
                  <a:srgbClr val="F26B1D"/>
                </a:solidFill>
                <a:effectLst/>
                <a:uFillTx/>
                <a:latin typeface="Calibri"/>
              </a:rPr>
              <a:t>NEXT</a:t>
            </a:r>
            <a:endParaRPr lang="en-US" sz="1400" b="0" u="none" strike="noStrike">
              <a:solidFill>
                <a:srgbClr val="FFFFFF"/>
              </a:solidFill>
              <a:effectLst/>
              <a:uFillTx/>
              <a:latin typeface="Arial"/>
            </a:endParaRPr>
          </a:p>
        </p:txBody>
      </p:sp>
      <p:sp>
        <p:nvSpPr>
          <p:cNvPr id="271" name="icon circle Real drones in Terra lab"/>
          <p:cNvSpPr/>
          <p:nvPr/>
        </p:nvSpPr>
        <p:spPr>
          <a:xfrm>
            <a:off x="6400800" y="1874520"/>
            <a:ext cx="548280" cy="548280"/>
          </a:xfrm>
          <a:prstGeom prst="ellipse">
            <a:avLst/>
          </a:prstGeom>
          <a:solidFill>
            <a:srgbClr val="1E3246"/>
          </a:solidFill>
          <a:ln w="19050">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72" name="Image 0" descr="Real drones in Terra lab"/>
          <p:cNvPicPr/>
          <p:nvPr/>
        </p:nvPicPr>
        <p:blipFill>
          <a:blip r:embed="rId1"/>
          <a:stretch/>
        </p:blipFill>
        <p:spPr>
          <a:xfrm>
            <a:off x="6537960" y="2011680"/>
            <a:ext cx="273960" cy="273960"/>
          </a:xfrm>
          <a:prstGeom prst="rect">
            <a:avLst/>
          </a:prstGeom>
          <a:noFill/>
          <a:ln w="0">
            <a:noFill/>
          </a:ln>
        </p:spPr>
      </p:pic>
      <p:sp>
        <p:nvSpPr>
          <p:cNvPr id="273" name="row Real drones in Terra lab"/>
          <p:cNvSpPr/>
          <p:nvPr/>
        </p:nvSpPr>
        <p:spPr>
          <a:xfrm>
            <a:off x="7132320" y="1828800"/>
            <a:ext cx="452592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rgbClr val="FFFFFF"/>
                </a:solidFill>
                <a:effectLst/>
                <a:uFillTx/>
                <a:latin typeface="Calibri"/>
              </a:rPr>
              <a:t>Real drones in Terra lab</a:t>
            </a:r>
            <a:endParaRPr lang="en-US" sz="15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E8EDF2"/>
                </a:solidFill>
                <a:effectLst/>
                <a:uFillTx/>
                <a:latin typeface="Calibri"/>
              </a:rPr>
              <a:t>Holybro PX4 drones + Vicon ground truth at LiU</a:t>
            </a:r>
            <a:endParaRPr lang="en-US" sz="1300" b="0" u="none" strike="noStrike">
              <a:solidFill>
                <a:srgbClr val="FFFFFF"/>
              </a:solidFill>
              <a:effectLst/>
              <a:uFillTx/>
              <a:latin typeface="Arial"/>
            </a:endParaRPr>
          </a:p>
        </p:txBody>
      </p:sp>
      <p:sp>
        <p:nvSpPr>
          <p:cNvPr id="274" name="icon circle Real jamming indicators"/>
          <p:cNvSpPr/>
          <p:nvPr/>
        </p:nvSpPr>
        <p:spPr>
          <a:xfrm>
            <a:off x="6400800" y="2834640"/>
            <a:ext cx="548280" cy="548280"/>
          </a:xfrm>
          <a:prstGeom prst="ellipse">
            <a:avLst/>
          </a:prstGeom>
          <a:solidFill>
            <a:srgbClr val="1E3246"/>
          </a:solidFill>
          <a:ln w="19050">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75" name="Image 1" descr="Real jamming indicators"/>
          <p:cNvPicPr/>
          <p:nvPr/>
        </p:nvPicPr>
        <p:blipFill>
          <a:blip r:embed="rId2"/>
          <a:stretch/>
        </p:blipFill>
        <p:spPr>
          <a:xfrm>
            <a:off x="6537960" y="2971800"/>
            <a:ext cx="273960" cy="273960"/>
          </a:xfrm>
          <a:prstGeom prst="rect">
            <a:avLst/>
          </a:prstGeom>
          <a:noFill/>
          <a:ln w="0">
            <a:noFill/>
          </a:ln>
        </p:spPr>
      </p:pic>
      <p:sp>
        <p:nvSpPr>
          <p:cNvPr id="276" name="row Real jamming indicators"/>
          <p:cNvSpPr/>
          <p:nvPr/>
        </p:nvSpPr>
        <p:spPr>
          <a:xfrm>
            <a:off x="7132320" y="2788920"/>
            <a:ext cx="452592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rgbClr val="FFFFFF"/>
                </a:solidFill>
                <a:effectLst/>
                <a:uFillTx/>
                <a:latin typeface="Calibri"/>
              </a:rPr>
              <a:t>Real jamming indicators</a:t>
            </a:r>
            <a:endParaRPr lang="en-US" sz="15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E8EDF2"/>
                </a:solidFill>
                <a:effectLst/>
                <a:uFillTx/>
                <a:latin typeface="Calibri"/>
              </a:rPr>
              <a:t>u-blox receivers already report interference to PX4</a:t>
            </a:r>
            <a:endParaRPr lang="en-US" sz="1300" b="0" u="none" strike="noStrike">
              <a:solidFill>
                <a:srgbClr val="FFFFFF"/>
              </a:solidFill>
              <a:effectLst/>
              <a:uFillTx/>
              <a:latin typeface="Arial"/>
            </a:endParaRPr>
          </a:p>
        </p:txBody>
      </p:sp>
      <p:sp>
        <p:nvSpPr>
          <p:cNvPr id="277" name="icon circle AquaGuard Technologies"/>
          <p:cNvSpPr/>
          <p:nvPr/>
        </p:nvSpPr>
        <p:spPr>
          <a:xfrm>
            <a:off x="6400800" y="3794760"/>
            <a:ext cx="548280" cy="548280"/>
          </a:xfrm>
          <a:prstGeom prst="ellipse">
            <a:avLst/>
          </a:prstGeom>
          <a:solidFill>
            <a:srgbClr val="1E3246"/>
          </a:solidFill>
          <a:ln w="19050">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78" name="Image 2" descr="AquaGuard Technologies"/>
          <p:cNvPicPr/>
          <p:nvPr/>
        </p:nvPicPr>
        <p:blipFill>
          <a:blip r:embed="rId3"/>
          <a:stretch/>
        </p:blipFill>
        <p:spPr>
          <a:xfrm>
            <a:off x="6537960" y="3931920"/>
            <a:ext cx="273960" cy="273960"/>
          </a:xfrm>
          <a:prstGeom prst="rect">
            <a:avLst/>
          </a:prstGeom>
          <a:noFill/>
          <a:ln w="0">
            <a:noFill/>
          </a:ln>
        </p:spPr>
      </p:pic>
      <p:sp>
        <p:nvSpPr>
          <p:cNvPr id="279" name="row AquaGuard Technologies"/>
          <p:cNvSpPr/>
          <p:nvPr/>
        </p:nvSpPr>
        <p:spPr>
          <a:xfrm>
            <a:off x="7132320" y="3749040"/>
            <a:ext cx="452592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rgbClr val="FFFFFF"/>
                </a:solidFill>
                <a:effectLst/>
                <a:uFillTx/>
                <a:latin typeface="Calibri"/>
              </a:rPr>
              <a:t>AquaGuard Technologies</a:t>
            </a:r>
            <a:endParaRPr lang="en-US" sz="15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E8EDF2"/>
                </a:solidFill>
                <a:effectLst/>
                <a:uFillTx/>
                <a:latin typeface="Calibri"/>
              </a:rPr>
              <a:t>Satellite/SAR imagery as backup map; our jammer reports as their data feed</a:t>
            </a:r>
            <a:endParaRPr lang="en-US" sz="1300" b="0" u="none" strike="noStrike">
              <a:solidFill>
                <a:srgbClr val="FFFFFF"/>
              </a:solidFill>
              <a:effectLst/>
              <a:uFillTx/>
              <a:latin typeface="Arial"/>
            </a:endParaRPr>
          </a:p>
        </p:txBody>
      </p:sp>
      <p:sp>
        <p:nvSpPr>
          <p:cNvPr id="280" name="icon circle Operator in the loop"/>
          <p:cNvSpPr/>
          <p:nvPr/>
        </p:nvSpPr>
        <p:spPr>
          <a:xfrm>
            <a:off x="6400800" y="4754880"/>
            <a:ext cx="548280" cy="548280"/>
          </a:xfrm>
          <a:prstGeom prst="ellipse">
            <a:avLst/>
          </a:prstGeom>
          <a:solidFill>
            <a:srgbClr val="1E3246"/>
          </a:solidFill>
          <a:ln w="19050">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81" name="Image 3" descr="Operator in the loop"/>
          <p:cNvPicPr/>
          <p:nvPr/>
        </p:nvPicPr>
        <p:blipFill>
          <a:blip r:embed="rId4"/>
          <a:stretch/>
        </p:blipFill>
        <p:spPr>
          <a:xfrm>
            <a:off x="6537960" y="4892040"/>
            <a:ext cx="273960" cy="273960"/>
          </a:xfrm>
          <a:prstGeom prst="rect">
            <a:avLst/>
          </a:prstGeom>
          <a:noFill/>
          <a:ln w="0">
            <a:noFill/>
          </a:ln>
        </p:spPr>
      </p:pic>
      <p:sp>
        <p:nvSpPr>
          <p:cNvPr id="282" name="row Operator in the loop"/>
          <p:cNvSpPr/>
          <p:nvPr/>
        </p:nvSpPr>
        <p:spPr>
          <a:xfrm>
            <a:off x="7132320" y="4709160"/>
            <a:ext cx="452592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rgbClr val="FFFFFF"/>
                </a:solidFill>
                <a:effectLst/>
                <a:uFillTx/>
                <a:latin typeface="Calibri"/>
              </a:rPr>
              <a:t>Operator in the loop</a:t>
            </a:r>
            <a:endParaRPr lang="en-US" sz="15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E8EDF2"/>
                </a:solidFill>
                <a:effectLst/>
                <a:uFillTx/>
                <a:latin typeface="Calibri"/>
              </a:rPr>
              <a:t>Secure drone-to-drone link, human approval for reroutes</a:t>
            </a:r>
            <a:endParaRPr lang="en-US" sz="1300" b="0" u="none" strike="noStrike">
              <a:solidFill>
                <a:srgbClr val="FFFFFF"/>
              </a:solidFill>
              <a:effectLst/>
              <a:uFillTx/>
              <a:latin typeface="Arial"/>
            </a:endParaRPr>
          </a:p>
        </p:txBody>
      </p:sp>
      <p:sp>
        <p:nvSpPr>
          <p:cNvPr id="283" name="PlaceHolder 2"/>
          <p:cNvSpPr>
            <a:spLocks noGrp="1"/>
          </p:cNvSpPr>
          <p:nvPr>
            <p:ph type="sldNum" idx="14"/>
          </p:nvPr>
        </p:nvSpPr>
        <p:spPr>
          <a:xfrm>
            <a:off x="11247120" y="6446520"/>
            <a:ext cx="41112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93A1B3"/>
                </a:solidFill>
                <a:effectLst/>
                <a:uFillTx/>
                <a:latin typeface="Calibri"/>
              </a:defRPr>
            </a:lvl1pPr>
          </a:lstStyle>
          <a:p>
            <a:pPr indent="0" algn="r" defTabSz="914400">
              <a:lnSpc>
                <a:spcPct val="100000"/>
              </a:lnSpc>
              <a:buNone/>
            </a:pPr>
            <a:fld id="{2DF69BA6-4401-42B2-92FF-9F1A171CB4AE}" type="slidenum">
              <a:rPr lang="en-US" sz="1000" b="0" u="none" strike="noStrike">
                <a:solidFill>
                  <a:srgbClr val="93A1B3"/>
                </a:solidFill>
                <a:effectLst/>
                <a:uFillTx/>
                <a:latin typeface="Calibri"/>
              </a:rPr>
              <a:t>&lt;number&gt;</a:t>
            </a:fld>
            <a:endParaRPr lang="en-US" sz="10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title" hasCustomPrompt="1"/>
          </p:nvPr>
        </p:nvSpPr>
        <p:spPr>
          <a:xfrm>
            <a:off x="548640" y="347400"/>
            <a:ext cx="9143640" cy="7768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800" b="1" u="none" strike="noStrike">
                <a:solidFill>
                  <a:srgbClr val="FFFFFF"/>
                </a:solidFill>
                <a:effectLst/>
                <a:uFillTx/>
                <a:latin typeface="Arial"/>
              </a:rPr>
              <a:t>Team</a:t>
            </a:r>
            <a:endParaRPr lang="en-US" sz="2800" b="0" u="none" strike="noStrike">
              <a:solidFill>
                <a:schemeClr val="dk1"/>
              </a:solidFill>
              <a:effectLst/>
              <a:uFillTx/>
              <a:latin typeface="Calibri"/>
            </a:endParaRPr>
          </a:p>
        </p:txBody>
      </p:sp>
      <p:sp>
        <p:nvSpPr>
          <p:cNvPr id="285" name="criterion tag"/>
          <p:cNvSpPr/>
          <p:nvPr/>
        </p:nvSpPr>
        <p:spPr>
          <a:xfrm>
            <a:off x="9921240" y="502920"/>
            <a:ext cx="1737000" cy="383760"/>
          </a:xfrm>
          <a:prstGeom prst="roundRect">
            <a:avLst>
              <a:gd name="adj" fmla="val 50000"/>
            </a:avLst>
          </a:prstGeom>
          <a:solidFill>
            <a:srgbClr val="1E3246"/>
          </a:solidFill>
          <a:ln w="15875">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86" name="criterion tag text"/>
          <p:cNvSpPr/>
          <p:nvPr/>
        </p:nvSpPr>
        <p:spPr>
          <a:xfrm>
            <a:off x="9921240" y="502920"/>
            <a:ext cx="173700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pc="201" strike="noStrike">
                <a:solidFill>
                  <a:srgbClr val="F26B1D"/>
                </a:solidFill>
                <a:effectLst/>
                <a:uFillTx/>
                <a:latin typeface="Calibri"/>
              </a:rPr>
              <a:t>TEAM</a:t>
            </a:r>
            <a:endParaRPr lang="en-US" sz="1100" b="0" u="none" strike="noStrike">
              <a:solidFill>
                <a:srgbClr val="FFFFFF"/>
              </a:solidFill>
              <a:effectLst/>
              <a:uFillTx/>
              <a:latin typeface="Arial"/>
            </a:endParaRPr>
          </a:p>
        </p:txBody>
      </p:sp>
      <p:sp>
        <p:nvSpPr>
          <p:cNvPr id="287" name="colour key"/>
          <p:cNvSpPr/>
          <p:nvPr/>
        </p:nvSpPr>
        <p:spPr>
          <a:xfrm>
            <a:off x="7223760" y="6446520"/>
            <a:ext cx="393156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34C77B"/>
                </a:solidFill>
                <a:effectLst/>
                <a:uFillTx/>
                <a:latin typeface="Calibri"/>
              </a:rPr>
              <a:t>● </a:t>
            </a:r>
            <a:r>
              <a:rPr lang="en-US" sz="1000" b="0" u="none" strike="noStrike">
                <a:solidFill>
                  <a:srgbClr val="93A1B3"/>
                </a:solidFill>
                <a:effectLst/>
                <a:uFillTx/>
                <a:latin typeface="Calibri"/>
              </a:rPr>
              <a:t>our result   </a:t>
            </a:r>
            <a:r>
              <a:rPr lang="en-US" sz="1000" b="0" u="none" strike="noStrike">
                <a:solidFill>
                  <a:srgbClr val="FF5A5F"/>
                </a:solidFill>
                <a:effectLst/>
                <a:uFillTx/>
                <a:latin typeface="Calibri"/>
              </a:rPr>
              <a:t>● </a:t>
            </a:r>
            <a:r>
              <a:rPr lang="en-US" sz="1000" b="0" u="none" strike="noStrike">
                <a:solidFill>
                  <a:srgbClr val="93A1B3"/>
                </a:solidFill>
                <a:effectLst/>
                <a:uFillTx/>
                <a:latin typeface="Calibri"/>
              </a:rPr>
              <a:t>today   </a:t>
            </a:r>
            <a:r>
              <a:rPr lang="en-US" sz="1000" b="0" u="none" strike="noStrike">
                <a:solidFill>
                  <a:srgbClr val="F5C451"/>
                </a:solidFill>
                <a:effectLst/>
                <a:uFillTx/>
                <a:latin typeface="Calibri"/>
              </a:rPr>
              <a:t>● </a:t>
            </a:r>
            <a:r>
              <a:rPr lang="en-US" sz="1000" b="0" u="none" strike="noStrike">
                <a:solidFill>
                  <a:srgbClr val="93A1B3"/>
                </a:solidFill>
                <a:effectLst/>
                <a:uFillTx/>
                <a:latin typeface="Calibri"/>
              </a:rPr>
              <a:t>partial / limit   </a:t>
            </a:r>
            <a:r>
              <a:rPr lang="en-US" sz="1000" b="0" u="none" strike="noStrike">
                <a:solidFill>
                  <a:srgbClr val="5AB4F0"/>
                </a:solidFill>
                <a:effectLst/>
                <a:uFillTx/>
                <a:latin typeface="Calibri"/>
              </a:rPr>
              <a:t>● </a:t>
            </a:r>
            <a:r>
              <a:rPr lang="en-US" sz="1000" b="0" u="none" strike="noStrike">
                <a:solidFill>
                  <a:srgbClr val="93A1B3"/>
                </a:solidFill>
                <a:effectLst/>
                <a:uFillTx/>
                <a:latin typeface="Calibri"/>
              </a:rPr>
              <a:t>fact</a:t>
            </a:r>
            <a:endParaRPr lang="en-US" sz="1000" b="0" u="none" strike="noStrike">
              <a:solidFill>
                <a:srgbClr val="FFFFFF"/>
              </a:solidFill>
              <a:effectLst/>
              <a:uFillTx/>
              <a:latin typeface="Arial"/>
            </a:endParaRPr>
          </a:p>
        </p:txBody>
      </p:sp>
      <p:sp>
        <p:nvSpPr>
          <p:cNvPr id="288" name="person card Den"/>
          <p:cNvSpPr/>
          <p:nvPr/>
        </p:nvSpPr>
        <p:spPr>
          <a:xfrm>
            <a:off x="548640" y="1371600"/>
            <a:ext cx="5486040" cy="1737000"/>
          </a:xfrm>
          <a:prstGeom prst="roundRect">
            <a:avLst>
              <a:gd name="adj" fmla="val 6316"/>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89" name="person icon circle Den"/>
          <p:cNvSpPr/>
          <p:nvPr/>
        </p:nvSpPr>
        <p:spPr>
          <a:xfrm>
            <a:off x="822960" y="1691640"/>
            <a:ext cx="1005480" cy="1005480"/>
          </a:xfrm>
          <a:prstGeom prst="ellipse">
            <a:avLst/>
          </a:prstGeom>
          <a:solidFill>
            <a:srgbClr val="F26B1D"/>
          </a:solidFill>
          <a:ln w="12700">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90" name="Image 0" descr="Den"/>
          <p:cNvPicPr/>
          <p:nvPr/>
        </p:nvPicPr>
        <p:blipFill>
          <a:blip r:embed="rId1"/>
          <a:stretch/>
        </p:blipFill>
        <p:spPr>
          <a:xfrm>
            <a:off x="1097280" y="1965960"/>
            <a:ext cx="456840" cy="456840"/>
          </a:xfrm>
          <a:prstGeom prst="rect">
            <a:avLst/>
          </a:prstGeom>
          <a:noFill/>
          <a:ln w="0">
            <a:noFill/>
          </a:ln>
        </p:spPr>
      </p:pic>
      <p:sp>
        <p:nvSpPr>
          <p:cNvPr id="291" name="Text 6"/>
          <p:cNvSpPr/>
          <p:nvPr/>
        </p:nvSpPr>
        <p:spPr>
          <a:xfrm>
            <a:off x="2057400" y="1508760"/>
            <a:ext cx="3794400" cy="1462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rPr>
              <a:t>Den</a:t>
            </a:r>
            <a:endParaRPr lang="en-US" sz="2200" b="0" u="none" strike="noStrike">
              <a:solidFill>
                <a:srgbClr val="FFFFFF"/>
              </a:solidFill>
              <a:effectLst/>
              <a:uFillTx/>
              <a:latin typeface="Arial"/>
            </a:endParaRPr>
          </a:p>
          <a:p>
            <a:pPr defTabSz="914400">
              <a:lnSpc>
                <a:spcPct val="100000"/>
              </a:lnSpc>
              <a:tabLst>
                <a:tab pos="0" algn="l"/>
              </a:tabLst>
            </a:pPr>
            <a:r>
              <a:rPr lang="en-US" sz="1400" b="0" u="none" strike="noStrike">
                <a:solidFill>
                  <a:srgbClr val="F26B1D"/>
                </a:solidFill>
                <a:effectLst/>
                <a:uFillTx/>
                <a:latin typeface="Calibri"/>
              </a:rPr>
              <a:t>Cyber security student</a:t>
            </a:r>
            <a:endParaRPr lang="en-US" sz="14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E8EDF2"/>
                </a:solidFill>
                <a:effectLst/>
                <a:uFillTx/>
                <a:latin typeface="Calibri"/>
              </a:rPr>
              <a:t>Detection · swarm sharing · attack defence · live PX4 mission</a:t>
            </a:r>
            <a:endParaRPr lang="en-US" sz="1300" b="0" u="none" strike="noStrike">
              <a:solidFill>
                <a:srgbClr val="FFFFFF"/>
              </a:solidFill>
              <a:effectLst/>
              <a:uFillTx/>
              <a:latin typeface="Arial"/>
            </a:endParaRPr>
          </a:p>
        </p:txBody>
      </p:sp>
      <p:sp>
        <p:nvSpPr>
          <p:cNvPr id="292" name="person card Guled"/>
          <p:cNvSpPr/>
          <p:nvPr/>
        </p:nvSpPr>
        <p:spPr>
          <a:xfrm>
            <a:off x="6172200" y="1371600"/>
            <a:ext cx="5486040" cy="1737000"/>
          </a:xfrm>
          <a:prstGeom prst="roundRect">
            <a:avLst>
              <a:gd name="adj" fmla="val 6316"/>
            </a:avLst>
          </a:prstGeom>
          <a:solidFill>
            <a:srgbClr val="1E3246"/>
          </a:solidFill>
          <a:ln w="12700">
            <a:solidFill>
              <a:srgbClr val="1E3246"/>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93" name="person icon circle Guled"/>
          <p:cNvSpPr/>
          <p:nvPr/>
        </p:nvSpPr>
        <p:spPr>
          <a:xfrm>
            <a:off x="6446520" y="1691640"/>
            <a:ext cx="1005480" cy="1005480"/>
          </a:xfrm>
          <a:prstGeom prst="ellipse">
            <a:avLst/>
          </a:prstGeom>
          <a:solidFill>
            <a:srgbClr val="F26B1D"/>
          </a:solidFill>
          <a:ln w="12700">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94" name="Image 1" descr="Guled"/>
          <p:cNvPicPr/>
          <p:nvPr/>
        </p:nvPicPr>
        <p:blipFill>
          <a:blip r:embed="rId2"/>
          <a:stretch/>
        </p:blipFill>
        <p:spPr>
          <a:xfrm>
            <a:off x="6720840" y="1965960"/>
            <a:ext cx="456840" cy="456840"/>
          </a:xfrm>
          <a:prstGeom prst="rect">
            <a:avLst/>
          </a:prstGeom>
          <a:noFill/>
          <a:ln w="0">
            <a:noFill/>
          </a:ln>
        </p:spPr>
      </p:pic>
      <p:sp>
        <p:nvSpPr>
          <p:cNvPr id="295" name="Text 9"/>
          <p:cNvSpPr/>
          <p:nvPr/>
        </p:nvSpPr>
        <p:spPr>
          <a:xfrm>
            <a:off x="7680960" y="1508760"/>
            <a:ext cx="3794400" cy="1462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rPr>
              <a:t>Guled</a:t>
            </a:r>
            <a:endParaRPr lang="en-US" sz="2200" b="0" u="none" strike="noStrike">
              <a:solidFill>
                <a:srgbClr val="FFFFFF"/>
              </a:solidFill>
              <a:effectLst/>
              <a:uFillTx/>
              <a:latin typeface="Arial"/>
            </a:endParaRPr>
          </a:p>
          <a:p>
            <a:pPr defTabSz="914400">
              <a:lnSpc>
                <a:spcPct val="100000"/>
              </a:lnSpc>
              <a:tabLst>
                <a:tab pos="0" algn="l"/>
              </a:tabLst>
            </a:pPr>
            <a:r>
              <a:rPr lang="en-US" sz="1400" b="0" u="none" strike="noStrike">
                <a:solidFill>
                  <a:srgbClr val="F26B1D"/>
                </a:solidFill>
                <a:effectLst/>
                <a:uFillTx/>
                <a:latin typeface="Calibri"/>
              </a:rPr>
              <a:t>Computer engineering student</a:t>
            </a:r>
            <a:endParaRPr lang="en-US" sz="14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E8EDF2"/>
                </a:solidFill>
                <a:effectLst/>
                <a:uFillTx/>
                <a:latin typeface="Calibri"/>
              </a:rPr>
              <a:t>GPS-free navigation · jammer hunter · AI mission brain · slides</a:t>
            </a:r>
            <a:endParaRPr lang="en-US" sz="1300" b="0" u="none" strike="noStrike">
              <a:solidFill>
                <a:srgbClr val="FFFFFF"/>
              </a:solidFill>
              <a:effectLst/>
              <a:uFillTx/>
              <a:latin typeface="Arial"/>
            </a:endParaRPr>
          </a:p>
        </p:txBody>
      </p:sp>
      <p:sp>
        <p:nvSpPr>
          <p:cNvPr id="296" name="Text 10"/>
          <p:cNvSpPr/>
          <p:nvPr/>
        </p:nvSpPr>
        <p:spPr>
          <a:xfrm>
            <a:off x="548640" y="3383280"/>
            <a:ext cx="111096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FFFFFF"/>
                </a:solidFill>
                <a:effectLst/>
                <a:uFillTx/>
                <a:latin typeface="Calibri"/>
              </a:rPr>
              <a:t>Shaped by: </a:t>
            </a:r>
            <a:r>
              <a:rPr lang="en-US" sz="1400" b="0" u="none" strike="noStrike">
                <a:solidFill>
                  <a:srgbClr val="E8EDF2"/>
                </a:solidFill>
                <a:effectLst/>
                <a:uFillTx/>
                <a:latin typeface="Calibri"/>
              </a:rPr>
              <a:t>Swedish Air Force Helicopter Wing · military end-users · drone expert Isabella · a satellite company · fellow participants</a:t>
            </a:r>
            <a:endParaRPr lang="en-US" sz="1400" b="0" u="none" strike="noStrike">
              <a:solidFill>
                <a:srgbClr val="FFFFFF"/>
              </a:solidFill>
              <a:effectLst/>
              <a:uFillTx/>
              <a:latin typeface="Arial"/>
            </a:endParaRPr>
          </a:p>
        </p:txBody>
      </p:sp>
      <p:sp>
        <p:nvSpPr>
          <p:cNvPr id="297" name="closing card"/>
          <p:cNvSpPr/>
          <p:nvPr/>
        </p:nvSpPr>
        <p:spPr>
          <a:xfrm>
            <a:off x="548640" y="4206240"/>
            <a:ext cx="11109600" cy="1828440"/>
          </a:xfrm>
          <a:prstGeom prst="roundRect">
            <a:avLst>
              <a:gd name="adj" fmla="val 7000"/>
            </a:avLst>
          </a:prstGeom>
          <a:solidFill>
            <a:srgbClr val="F26B1D"/>
          </a:solidFill>
          <a:ln w="12700">
            <a:solidFill>
              <a:srgbClr val="F26B1D"/>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98" name="Text 12"/>
          <p:cNvSpPr/>
          <p:nvPr/>
        </p:nvSpPr>
        <p:spPr>
          <a:xfrm>
            <a:off x="868680" y="4297680"/>
            <a:ext cx="10515240" cy="1645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FFFFFF"/>
                </a:solidFill>
                <a:effectLst/>
                <a:uFillTx/>
                <a:latin typeface="Calibri"/>
              </a:rPr>
              <a:t>One drone gets jammed — the whole swarm learns.</a:t>
            </a:r>
            <a:endParaRPr lang="en-US" sz="2600" b="0" u="none" strike="noStrike">
              <a:solidFill>
                <a:srgbClr val="FFFFFF"/>
              </a:solidFill>
              <a:effectLst/>
              <a:uFillTx/>
              <a:latin typeface="Arial"/>
            </a:endParaRPr>
          </a:p>
          <a:p>
            <a:pPr defTabSz="914400">
              <a:lnSpc>
                <a:spcPct val="100000"/>
              </a:lnSpc>
              <a:tabLst>
                <a:tab pos="0" algn="l"/>
              </a:tabLst>
            </a:pPr>
            <a:r>
              <a:rPr lang="en-US" sz="2600" b="1" u="none" strike="noStrike">
                <a:solidFill>
                  <a:srgbClr val="FFFFFF"/>
                </a:solidFill>
                <a:effectLst/>
                <a:uFillTx/>
                <a:latin typeface="Calibri"/>
              </a:rPr>
              <a:t>If the enemy fakes the warnings, physics exposes the liar.</a:t>
            </a:r>
            <a:endParaRPr lang="en-US" sz="2600" b="0" u="none" strike="noStrike">
              <a:solidFill>
                <a:srgbClr val="FFFFFF"/>
              </a:solidFill>
              <a:effectLst/>
              <a:uFillTx/>
              <a:latin typeface="Arial"/>
            </a:endParaRPr>
          </a:p>
        </p:txBody>
      </p:sp>
      <p:sp>
        <p:nvSpPr>
          <p:cNvPr id="299" name="PlaceHolder 2"/>
          <p:cNvSpPr>
            <a:spLocks noGrp="1"/>
          </p:cNvSpPr>
          <p:nvPr>
            <p:ph type="sldNum" idx="15"/>
          </p:nvPr>
        </p:nvSpPr>
        <p:spPr>
          <a:xfrm>
            <a:off x="11247120" y="6446520"/>
            <a:ext cx="41112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93A1B3"/>
                </a:solidFill>
                <a:effectLst/>
                <a:uFillTx/>
                <a:latin typeface="Calibri"/>
              </a:defRPr>
            </a:lvl1pPr>
          </a:lstStyle>
          <a:p>
            <a:pPr indent="0" algn="r" defTabSz="914400">
              <a:lnSpc>
                <a:spcPct val="100000"/>
              </a:lnSpc>
              <a:buNone/>
            </a:pPr>
            <a:fld id="{4A3656E0-5165-435E-BC57-5EB5239BF811}" type="slidenum">
              <a:rPr lang="en-US" sz="1000" b="0" u="none" strike="noStrike">
                <a:solidFill>
                  <a:srgbClr val="93A1B3"/>
                </a:solidFill>
                <a:effectLst/>
                <a:uFillTx/>
                <a:latin typeface="Calibri"/>
              </a:rPr>
              <a:t>&lt;number&gt;</a:t>
            </a:fld>
            <a:endParaRPr lang="en-US" sz="10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itchFamily="0" charset="1"/>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22</TotalTime>
  <Application>LibreOffice/26.8.1.1$Windows_X86_64 LibreOffice_project/bf6ef2662401c7d6dce671ab4deb26ee0af3a7c1</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2026-10-17T08:03:23Z</dcterms:created>
  <dc:creator>Den and Guled</dc:creator>
  <dc:description/>
  <dc:language>en-US</dc:language>
  <cp:lastModifiedBy/>
  <dcterms:modified xsi:type="dcterms:W3CDTF">2026-10-17T10:26:32Z</dcterms:modified>
  <cp:revision>2</cp:revision>
  <dc:subject>Pitch: GNSS-denied navigation, Challenge 1</dc:subject>
  <dc:title>GPS Under Attack - EUDIS Defence Hackathon 2026</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13</vt:i4>
  </property>
  <property fmtid="{D5CDD505-2E9C-101B-9397-08002B2CF9AE}" pid="3" name="PresentationFormat">
    <vt:lpwstr>On-screen Show (16:9)</vt:lpwstr>
  </property>
  <property fmtid="{D5CDD505-2E9C-101B-9397-08002B2CF9AE}" pid="4" name="Slides">
    <vt:i4>13</vt:i4>
  </property>
</Properties>
</file>